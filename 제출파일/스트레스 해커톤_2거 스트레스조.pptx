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71" r:id="rId4"/>
    <p:sldId id="290" r:id="rId5"/>
    <p:sldId id="294" r:id="rId6"/>
    <p:sldId id="258" r:id="rId7"/>
    <p:sldId id="261" r:id="rId8"/>
    <p:sldId id="259" r:id="rId9"/>
    <p:sldId id="293" r:id="rId10"/>
    <p:sldId id="275" r:id="rId11"/>
    <p:sldId id="292" r:id="rId12"/>
    <p:sldId id="291" r:id="rId13"/>
    <p:sldId id="280" r:id="rId14"/>
    <p:sldId id="286" r:id="rId15"/>
    <p:sldId id="272" r:id="rId16"/>
    <p:sldId id="295" r:id="rId17"/>
  </p:sldIdLst>
  <p:sldSz cx="18288000" cy="10287000"/>
  <p:notesSz cx="6858000" cy="9144000"/>
  <p:embeddedFontLst>
    <p:embeddedFont>
      <p:font typeface="맑은 고딕" panose="020B0503020000020004" pitchFamily="34" charset="-127"/>
      <p:regular r:id="rId19"/>
      <p:bold r:id="rId20"/>
    </p:embeddedFont>
    <p:embeddedFont>
      <p:font typeface="Hanken Grotesk ExtraBold" pitchFamily="2" charset="0"/>
      <p:bold r:id="rId21"/>
      <p:italic r:id="rId22"/>
      <p:boldItalic r:id="rId23"/>
    </p:embeddedFont>
    <p:embeddedFont>
      <p:font typeface="Hanken Grotesk SemiBold"/>
      <p:regular r:id="rId24"/>
      <p:bold r:id="rId25"/>
      <p:italic r:id="rId26"/>
      <p:boldItalic r:id="rId27"/>
    </p:embeddedFont>
    <p:embeddedFont>
      <p:font typeface="IBM Plex Sans KR" panose="020B0503050203000203" pitchFamily="34" charset="-127"/>
      <p:regular r:id="rId28"/>
      <p:bold r:id="rId29"/>
    </p:embeddedFont>
    <p:embeddedFont>
      <p:font typeface="IBM Plex Sans KR Medium" panose="020B0503050203000203" pitchFamily="34" charset="-127"/>
      <p:regular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기본 구역" id="{681E6684-7480-48E4-8E61-412635C08F29}">
          <p14:sldIdLst>
            <p14:sldId id="256"/>
            <p14:sldId id="257"/>
            <p14:sldId id="271"/>
            <p14:sldId id="290"/>
            <p14:sldId id="294"/>
            <p14:sldId id="258"/>
            <p14:sldId id="261"/>
            <p14:sldId id="259"/>
            <p14:sldId id="293"/>
            <p14:sldId id="275"/>
            <p14:sldId id="292"/>
            <p14:sldId id="291"/>
            <p14:sldId id="280"/>
            <p14:sldId id="286"/>
            <p14:sldId id="272"/>
            <p14:sldId id="29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F1F1"/>
    <a:srgbClr val="567C75"/>
    <a:srgbClr val="FDF8EE"/>
    <a:srgbClr val="F1F3EC"/>
    <a:srgbClr val="EEF4F2"/>
    <a:srgbClr val="F1F4ED"/>
    <a:srgbClr val="FFC000"/>
    <a:srgbClr val="FDF9F3"/>
    <a:srgbClr val="FDF6EC"/>
    <a:srgbClr val="FDF7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/>
    <p:restoredTop sz="94658"/>
  </p:normalViewPr>
  <p:slideViewPr>
    <p:cSldViewPr snapToGrid="0">
      <p:cViewPr varScale="1">
        <p:scale>
          <a:sx n="80" d="100"/>
          <a:sy n="80" d="100"/>
        </p:scale>
        <p:origin x="856" y="232"/>
      </p:cViewPr>
      <p:guideLst>
        <p:guide orient="horz" pos="16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IBM Plex Sans KR" panose="020B0503050203000203" pitchFamily="34" charset="-127"/>
                <a:ea typeface="IBM Plex Sans KR" panose="020B0503050203000203" pitchFamily="34" charset="-127"/>
                <a:cs typeface="+mn-cs"/>
              </a:defRPr>
            </a:pPr>
            <a:r>
              <a:rPr lang="en-US"/>
              <a:t>MAE </a:t>
            </a:r>
            <a:r>
              <a:rPr lang="ko-KR"/>
              <a:t>변화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IBM Plex Sans KR" panose="020B0503050203000203" pitchFamily="34" charset="-127"/>
              <a:ea typeface="IBM Plex Sans KR" panose="020B0503050203000203" pitchFamily="34" charset="-127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Local MAE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Sheet1!$A$2:$A$16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</c:numCache>
            </c:numRef>
          </c:cat>
          <c:val>
            <c:numRef>
              <c:f>Sheet1!$B$2:$B$15</c:f>
              <c:numCache>
                <c:formatCode>0.00000_ </c:formatCode>
                <c:ptCount val="14"/>
                <c:pt idx="0">
                  <c:v>0.14924299999999999</c:v>
                </c:pt>
                <c:pt idx="1">
                  <c:v>0.17199999999999999</c:v>
                </c:pt>
                <c:pt idx="2">
                  <c:v>0.13500000000000001</c:v>
                </c:pt>
                <c:pt idx="3">
                  <c:v>0.13400000000000001</c:v>
                </c:pt>
                <c:pt idx="4">
                  <c:v>0.14854700000000001</c:v>
                </c:pt>
                <c:pt idx="5">
                  <c:v>0.148813</c:v>
                </c:pt>
                <c:pt idx="6">
                  <c:v>0.13450000000000001</c:v>
                </c:pt>
                <c:pt idx="7">
                  <c:v>0.14907999999999999</c:v>
                </c:pt>
                <c:pt idx="8">
                  <c:v>0.14743400000000001</c:v>
                </c:pt>
                <c:pt idx="9">
                  <c:v>0.146644</c:v>
                </c:pt>
                <c:pt idx="10">
                  <c:v>0.14909600000000001</c:v>
                </c:pt>
                <c:pt idx="11">
                  <c:v>0.14732500000000001</c:v>
                </c:pt>
                <c:pt idx="12">
                  <c:v>0.14419899999999999</c:v>
                </c:pt>
                <c:pt idx="13">
                  <c:v>0.12827766600000001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965-4745-984C-BC36840D571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Public MAE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6.020504082901236E-2"/>
                  <c:y val="8.57463851484560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965-4745-984C-BC36840D571E}"/>
                </c:ext>
              </c:extLst>
            </c:dLbl>
            <c:dLbl>
              <c:idx val="1"/>
              <c:layout>
                <c:manualLayout>
                  <c:x val="6.5222127564763338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965-4745-984C-BC36840D571E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965-4745-984C-BC36840D571E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965-4745-984C-BC36840D571E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965-4745-984C-BC36840D571E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965-4745-984C-BC36840D571E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965-4745-984C-BC36840D571E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965-4745-984C-BC36840D571E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B15-3340-8925-C9113CBA6C56}"/>
                </c:ext>
              </c:extLst>
            </c:dLbl>
            <c:dLbl>
              <c:idx val="9"/>
              <c:layout>
                <c:manualLayout>
                  <c:x val="-1.8814075259066358E-2"/>
                  <c:y val="5.659261419798097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B15-3340-8925-C9113CBA6C56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B15-3340-8925-C9113CBA6C56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B15-3340-8925-C9113CBA6C56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B15-3340-8925-C9113CBA6C56}"/>
                </c:ext>
              </c:extLst>
            </c:dLbl>
            <c:dLbl>
              <c:idx val="13"/>
              <c:layout>
                <c:manualLayout>
                  <c:x val="-5.6442225777199082E-2"/>
                  <c:y val="-0.1063255175840854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B15-3340-8925-C9113CBA6C56}"/>
                </c:ext>
              </c:extLst>
            </c:dLbl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IBM Plex Sans KR" panose="020B0503050203000203" pitchFamily="34" charset="-127"/>
                    <a:ea typeface="IBM Plex Sans KR" panose="020B0503050203000203" pitchFamily="34" charset="-127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Sheet1!$A$2:$A$16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</c:numCache>
            </c:numRef>
          </c:cat>
          <c:val>
            <c:numRef>
              <c:f>Sheet1!$C$2:$C$16</c:f>
              <c:numCache>
                <c:formatCode>0.00000_ </c:formatCode>
                <c:ptCount val="15"/>
                <c:pt idx="0">
                  <c:v>0.12859999999999999</c:v>
                </c:pt>
                <c:pt idx="1">
                  <c:v>0.1686788978</c:v>
                </c:pt>
                <c:pt idx="2">
                  <c:v>0.12877333329999999</c:v>
                </c:pt>
                <c:pt idx="3">
                  <c:v>0.12827766669999999</c:v>
                </c:pt>
                <c:pt idx="4">
                  <c:v>0.1283466667</c:v>
                </c:pt>
                <c:pt idx="5">
                  <c:v>0.12870000000000001</c:v>
                </c:pt>
                <c:pt idx="6">
                  <c:v>0.12846666670000001</c:v>
                </c:pt>
                <c:pt idx="7">
                  <c:v>0.12780858449999999</c:v>
                </c:pt>
                <c:pt idx="8">
                  <c:v>0.128686667</c:v>
                </c:pt>
                <c:pt idx="9">
                  <c:v>0.12723333000000001</c:v>
                </c:pt>
                <c:pt idx="10">
                  <c:v>0.13006000000000001</c:v>
                </c:pt>
                <c:pt idx="11">
                  <c:v>0.12782134610000001</c:v>
                </c:pt>
                <c:pt idx="12">
                  <c:v>0.1346239303</c:v>
                </c:pt>
                <c:pt idx="13">
                  <c:v>0.153406667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965-4745-984C-BC36840D57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89856960"/>
        <c:axId val="1689853824"/>
      </c:lineChart>
      <c:catAx>
        <c:axId val="16898569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IBM Plex Sans KR" panose="020B0503050203000203" pitchFamily="34" charset="-127"/>
                <a:ea typeface="IBM Plex Sans KR" panose="020B0503050203000203" pitchFamily="34" charset="-127"/>
                <a:cs typeface="+mn-cs"/>
              </a:defRPr>
            </a:pPr>
            <a:endParaRPr lang="ko-KR"/>
          </a:p>
        </c:txPr>
        <c:crossAx val="1689853824"/>
        <c:crosses val="autoZero"/>
        <c:auto val="1"/>
        <c:lblAlgn val="ctr"/>
        <c:lblOffset val="100"/>
        <c:noMultiLvlLbl val="0"/>
      </c:catAx>
      <c:valAx>
        <c:axId val="1689853824"/>
        <c:scaling>
          <c:orientation val="minMax"/>
          <c:max val="0.17500000000000002"/>
          <c:min val="0.1200000000000000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0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IBM Plex Sans KR" panose="020B0503050203000203" pitchFamily="34" charset="-127"/>
                <a:ea typeface="IBM Plex Sans KR" panose="020B0503050203000203" pitchFamily="34" charset="-127"/>
                <a:cs typeface="+mn-cs"/>
              </a:defRPr>
            </a:pPr>
            <a:endParaRPr lang="ko-KR"/>
          </a:p>
        </c:txPr>
        <c:crossAx val="1689856960"/>
        <c:crosses val="autoZero"/>
        <c:crossBetween val="between"/>
        <c:majorUnit val="5.000000000000001E-3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IBM Plex Sans KR" panose="020B0503050203000203" pitchFamily="34" charset="-127"/>
              <a:ea typeface="IBM Plex Sans KR" panose="020B0503050203000203" pitchFamily="34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000">
          <a:latin typeface="IBM Plex Sans KR" panose="020B0503050203000203" pitchFamily="34" charset="-127"/>
          <a:ea typeface="IBM Plex Sans KR" panose="020B0503050203000203" pitchFamily="34" charset="-127"/>
        </a:defRPr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IBM Plex Sans KR" panose="020B0503050203000203" pitchFamily="34" charset="-127"/>
                <a:ea typeface="IBM Plex Sans KR" panose="020B0503050203000203" pitchFamily="34" charset="-127"/>
                <a:cs typeface="+mn-cs"/>
              </a:defRPr>
            </a:pPr>
            <a:r>
              <a:rPr lang="ko-KR"/>
              <a:t>핵심 모델 비교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IBM Plex Sans KR" panose="020B0503050203000203" pitchFamily="34" charset="-127"/>
              <a:ea typeface="IBM Plex Sans KR" panose="020B0503050203000203" pitchFamily="34" charset="-127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내부 MAE (CV)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7.3023697438856228E-2"/>
                  <c:y val="0.11670136574474096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1CD-2549-ADFA-3F4010684A83}"/>
                </c:ext>
              </c:extLst>
            </c:dLbl>
            <c:dLbl>
              <c:idx val="1"/>
              <c:layout>
                <c:manualLayout>
                  <c:x val="-6.6752339019167439E-2"/>
                  <c:y val="0.12541042288987087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1CD-2549-ADFA-3F4010684A83}"/>
                </c:ext>
              </c:extLst>
            </c:dLbl>
            <c:dLbl>
              <c:idx val="2"/>
              <c:layout>
                <c:manualLayout>
                  <c:x val="-5.170107881191436E-2"/>
                  <c:y val="0.1201849886027929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1CD-2549-ADFA-3F4010684A8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IBM Plex Sans KR" panose="020B0503050203000203" pitchFamily="34" charset="-127"/>
                    <a:ea typeface="IBM Plex Sans KR" panose="020B0503050203000203" pitchFamily="34" charset="-127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JH_V7</c:v>
                </c:pt>
                <c:pt idx="1">
                  <c:v>BS_V34</c:v>
                </c:pt>
                <c:pt idx="2">
                  <c:v>BS_8/6</c:v>
                </c:pt>
                <c:pt idx="3">
                  <c:v>JH_V6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0.146644</c:v>
                </c:pt>
                <c:pt idx="1">
                  <c:v>0.148033</c:v>
                </c:pt>
                <c:pt idx="2">
                  <c:v>0.14729999999999999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1CD-2549-ADFA-3F4010684A8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Public MAE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7.1769425754918473E-2"/>
                  <c:y val="-7.315608001909147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1CD-2549-ADFA-3F4010684A83}"/>
                </c:ext>
              </c:extLst>
            </c:dLbl>
            <c:dLbl>
              <c:idx val="1"/>
              <c:layout>
                <c:manualLayout>
                  <c:x val="-6.8006610703105153E-2"/>
                  <c:y val="-8.883238288032521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1CD-2549-ADFA-3F4010684A83}"/>
                </c:ext>
              </c:extLst>
            </c:dLbl>
            <c:dLbl>
              <c:idx val="2"/>
              <c:layout>
                <c:manualLayout>
                  <c:x val="-6.5498067335229684E-2"/>
                  <c:y val="-9.231600573837718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1CD-2549-ADFA-3F4010684A83}"/>
                </c:ext>
              </c:extLst>
            </c:dLbl>
            <c:dLbl>
              <c:idx val="3"/>
              <c:layout>
                <c:manualLayout>
                  <c:x val="-5.5463893863727534E-2"/>
                  <c:y val="-8.360694859324725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1CD-2549-ADFA-3F4010684A8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IBM Plex Sans KR" panose="020B0503050203000203" pitchFamily="34" charset="-127"/>
                    <a:ea typeface="IBM Plex Sans KR" panose="020B0503050203000203" pitchFamily="34" charset="-127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JH_V7</c:v>
                </c:pt>
                <c:pt idx="1">
                  <c:v>BS_V34</c:v>
                </c:pt>
                <c:pt idx="2">
                  <c:v>BS_8/6</c:v>
                </c:pt>
                <c:pt idx="3">
                  <c:v>JH_V6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0.12723300000000001</c:v>
                </c:pt>
                <c:pt idx="1">
                  <c:v>0.12718699999999999</c:v>
                </c:pt>
                <c:pt idx="2">
                  <c:v>0.12668699999999999</c:v>
                </c:pt>
                <c:pt idx="3">
                  <c:v>0.1265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1CD-2549-ADFA-3F4010684A8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693988416"/>
        <c:axId val="1693982592"/>
      </c:lineChart>
      <c:catAx>
        <c:axId val="1693988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IBM Plex Sans KR" panose="020B0503050203000203" pitchFamily="34" charset="-127"/>
                <a:ea typeface="IBM Plex Sans KR" panose="020B0503050203000203" pitchFamily="34" charset="-127"/>
                <a:cs typeface="+mn-cs"/>
              </a:defRPr>
            </a:pPr>
            <a:endParaRPr lang="ko-KR"/>
          </a:p>
        </c:txPr>
        <c:crossAx val="1693982592"/>
        <c:crosses val="autoZero"/>
        <c:auto val="1"/>
        <c:lblAlgn val="ctr"/>
        <c:lblOffset val="100"/>
        <c:noMultiLvlLbl val="0"/>
      </c:catAx>
      <c:valAx>
        <c:axId val="1693982592"/>
        <c:scaling>
          <c:orientation val="minMax"/>
          <c:min val="0.1240000000000000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IBM Plex Sans KR" panose="020B0503050203000203" pitchFamily="34" charset="-127"/>
                <a:ea typeface="IBM Plex Sans KR" panose="020B0503050203000203" pitchFamily="34" charset="-127"/>
                <a:cs typeface="+mn-cs"/>
              </a:defRPr>
            </a:pPr>
            <a:endParaRPr lang="ko-KR"/>
          </a:p>
        </c:txPr>
        <c:crossAx val="1693988416"/>
        <c:crosses val="autoZero"/>
        <c:crossBetween val="between"/>
        <c:majorUnit val="2.0000000000000005E-3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IBM Plex Sans KR" panose="020B0503050203000203" pitchFamily="34" charset="-127"/>
              <a:ea typeface="IBM Plex Sans KR" panose="020B0503050203000203" pitchFamily="34" charset="-127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000">
          <a:latin typeface="IBM Plex Sans KR" panose="020B0503050203000203" pitchFamily="34" charset="-127"/>
          <a:ea typeface="IBM Plex Sans KR" panose="020B0503050203000203" pitchFamily="34" charset="-127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B4DC3F-6637-BD40-929D-2C787EA45427}" type="doc">
      <dgm:prSet loTypeId="urn:microsoft.com/office/officeart/2005/8/layout/hProcess11" loCatId="" qsTypeId="urn:microsoft.com/office/officeart/2005/8/quickstyle/simple1" qsCatId="simple" csTypeId="urn:microsoft.com/office/officeart/2005/8/colors/accent3_4" csCatId="accent3" phldr="1"/>
      <dgm:spPr/>
      <dgm:t>
        <a:bodyPr/>
        <a:lstStyle/>
        <a:p>
          <a:pPr latinLnBrk="1"/>
          <a:endParaRPr lang="ko-KR" altLang="en-US"/>
        </a:p>
      </dgm:t>
    </dgm:pt>
    <dgm:pt modelId="{8FA3B9D4-083E-DB4B-B8A1-56805FF70F75}">
      <dgm:prSet phldrT="[텍스트]"/>
      <dgm:spPr/>
      <dgm:t>
        <a:bodyPr/>
        <a:lstStyle/>
        <a:p>
          <a:pPr latinLnBrk="1"/>
          <a:r>
            <a:rPr lang="en-US" altLang="ko-KR" b="1">
              <a:solidFill>
                <a:srgbClr val="567C75"/>
              </a:solidFill>
              <a:latin typeface="IBM Plex Sans KR" panose="020B0503050203000203" pitchFamily="34" charset="-127"/>
              <a:ea typeface="IBM Plex Sans KR" panose="020B0503050203000203" pitchFamily="34" charset="-127"/>
            </a:rPr>
            <a:t>MI Gower</a:t>
          </a:r>
          <a:endParaRPr lang="ko-KR" altLang="en-US" b="1">
            <a:solidFill>
              <a:srgbClr val="567C75"/>
            </a:solidFill>
            <a:latin typeface="IBM Plex Sans KR" panose="020B0503050203000203" pitchFamily="34" charset="-127"/>
            <a:ea typeface="IBM Plex Sans KR" panose="020B0503050203000203" pitchFamily="34" charset="-127"/>
          </a:endParaRPr>
        </a:p>
      </dgm:t>
    </dgm:pt>
    <dgm:pt modelId="{81999026-D6E7-814C-9280-99E93EBB3D98}" type="parTrans" cxnId="{3F14C4C3-DEDF-EC4E-BDC4-3CC39C11F653}">
      <dgm:prSet/>
      <dgm:spPr/>
      <dgm:t>
        <a:bodyPr/>
        <a:lstStyle/>
        <a:p>
          <a:pPr latinLnBrk="1"/>
          <a:endParaRPr lang="ko-KR" altLang="en-US" b="1">
            <a:solidFill>
              <a:srgbClr val="567C75"/>
            </a:solidFill>
            <a:latin typeface="IBM Plex Sans KR" panose="020B0503050203000203" pitchFamily="34" charset="-127"/>
            <a:ea typeface="IBM Plex Sans KR" panose="020B0503050203000203" pitchFamily="34" charset="-127"/>
          </a:endParaRPr>
        </a:p>
      </dgm:t>
    </dgm:pt>
    <dgm:pt modelId="{2AA04532-4878-1341-81C7-9403CA1B1163}" type="sibTrans" cxnId="{3F14C4C3-DEDF-EC4E-BDC4-3CC39C11F653}">
      <dgm:prSet/>
      <dgm:spPr/>
      <dgm:t>
        <a:bodyPr/>
        <a:lstStyle/>
        <a:p>
          <a:pPr latinLnBrk="1"/>
          <a:endParaRPr lang="ko-KR" altLang="en-US" b="1">
            <a:solidFill>
              <a:srgbClr val="567C75"/>
            </a:solidFill>
            <a:latin typeface="IBM Plex Sans KR" panose="020B0503050203000203" pitchFamily="34" charset="-127"/>
            <a:ea typeface="IBM Plex Sans KR" panose="020B0503050203000203" pitchFamily="34" charset="-127"/>
          </a:endParaRPr>
        </a:p>
      </dgm:t>
    </dgm:pt>
    <dgm:pt modelId="{FEAAE286-C33F-2C47-8984-D2FEA25ACA89}">
      <dgm:prSet phldrT="[텍스트]"/>
      <dgm:spPr/>
      <dgm:t>
        <a:bodyPr/>
        <a:lstStyle/>
        <a:p>
          <a:pPr latinLnBrk="1"/>
          <a:r>
            <a:rPr lang="en-US" altLang="ko-KR" b="1">
              <a:solidFill>
                <a:srgbClr val="567C75"/>
              </a:solidFill>
              <a:latin typeface="IBM Plex Sans KR" panose="020B0503050203000203" pitchFamily="34" charset="-127"/>
              <a:ea typeface="IBM Plex Sans KR" panose="020B0503050203000203" pitchFamily="34" charset="-127"/>
            </a:rPr>
            <a:t>128 Neighbor</a:t>
          </a:r>
          <a:endParaRPr lang="ko-KR" altLang="en-US" b="1">
            <a:solidFill>
              <a:srgbClr val="567C75"/>
            </a:solidFill>
            <a:latin typeface="IBM Plex Sans KR" panose="020B0503050203000203" pitchFamily="34" charset="-127"/>
            <a:ea typeface="IBM Plex Sans KR" panose="020B0503050203000203" pitchFamily="34" charset="-127"/>
          </a:endParaRPr>
        </a:p>
      </dgm:t>
    </dgm:pt>
    <dgm:pt modelId="{7749E3B0-BA43-B343-AAE0-635E2A017FB3}" type="parTrans" cxnId="{FC2B62D1-C713-9B4B-B5E1-8FF719987F62}">
      <dgm:prSet/>
      <dgm:spPr/>
      <dgm:t>
        <a:bodyPr/>
        <a:lstStyle/>
        <a:p>
          <a:pPr latinLnBrk="1"/>
          <a:endParaRPr lang="ko-KR" altLang="en-US" b="1">
            <a:solidFill>
              <a:srgbClr val="567C75"/>
            </a:solidFill>
            <a:latin typeface="IBM Plex Sans KR" panose="020B0503050203000203" pitchFamily="34" charset="-127"/>
            <a:ea typeface="IBM Plex Sans KR" panose="020B0503050203000203" pitchFamily="34" charset="-127"/>
          </a:endParaRPr>
        </a:p>
      </dgm:t>
    </dgm:pt>
    <dgm:pt modelId="{38D34752-7DAC-924E-9D2C-BE5AF8FB50C4}" type="sibTrans" cxnId="{FC2B62D1-C713-9B4B-B5E1-8FF719987F62}">
      <dgm:prSet/>
      <dgm:spPr/>
      <dgm:t>
        <a:bodyPr/>
        <a:lstStyle/>
        <a:p>
          <a:pPr latinLnBrk="1"/>
          <a:endParaRPr lang="ko-KR" altLang="en-US" b="1">
            <a:solidFill>
              <a:srgbClr val="567C75"/>
            </a:solidFill>
            <a:latin typeface="IBM Plex Sans KR" panose="020B0503050203000203" pitchFamily="34" charset="-127"/>
            <a:ea typeface="IBM Plex Sans KR" panose="020B0503050203000203" pitchFamily="34" charset="-127"/>
          </a:endParaRPr>
        </a:p>
      </dgm:t>
    </dgm:pt>
    <dgm:pt modelId="{481C9375-EF29-544D-8EFB-937E60CF4CAE}">
      <dgm:prSet phldrT="[텍스트]"/>
      <dgm:spPr/>
      <dgm:t>
        <a:bodyPr/>
        <a:lstStyle/>
        <a:p>
          <a:pPr latinLnBrk="1"/>
          <a:r>
            <a:rPr lang="en-US" altLang="ko-KR" b="1">
              <a:solidFill>
                <a:srgbClr val="567C75"/>
              </a:solidFill>
              <a:latin typeface="IBM Plex Sans KR" panose="020B0503050203000203" pitchFamily="34" charset="-127"/>
              <a:ea typeface="IBM Plex Sans KR" panose="020B0503050203000203" pitchFamily="34" charset="-127"/>
            </a:rPr>
            <a:t>Public MAE</a:t>
          </a:r>
          <a:endParaRPr lang="ko-KR" altLang="en-US" b="1">
            <a:solidFill>
              <a:srgbClr val="567C75"/>
            </a:solidFill>
            <a:latin typeface="IBM Plex Sans KR" panose="020B0503050203000203" pitchFamily="34" charset="-127"/>
            <a:ea typeface="IBM Plex Sans KR" panose="020B0503050203000203" pitchFamily="34" charset="-127"/>
          </a:endParaRPr>
        </a:p>
      </dgm:t>
    </dgm:pt>
    <dgm:pt modelId="{7F40D402-05AD-4D45-9647-29FDB3FBC396}" type="parTrans" cxnId="{4F6E932A-DBC7-924F-BEEF-0726B186D532}">
      <dgm:prSet/>
      <dgm:spPr/>
      <dgm:t>
        <a:bodyPr/>
        <a:lstStyle/>
        <a:p>
          <a:pPr latinLnBrk="1"/>
          <a:endParaRPr lang="ko-KR" altLang="en-US" b="1">
            <a:solidFill>
              <a:srgbClr val="567C75"/>
            </a:solidFill>
            <a:latin typeface="IBM Plex Sans KR" panose="020B0503050203000203" pitchFamily="34" charset="-127"/>
            <a:ea typeface="IBM Plex Sans KR" panose="020B0503050203000203" pitchFamily="34" charset="-127"/>
          </a:endParaRPr>
        </a:p>
      </dgm:t>
    </dgm:pt>
    <dgm:pt modelId="{D0719692-8886-BB4F-B327-984D75674BC2}" type="sibTrans" cxnId="{4F6E932A-DBC7-924F-BEEF-0726B186D532}">
      <dgm:prSet/>
      <dgm:spPr/>
      <dgm:t>
        <a:bodyPr/>
        <a:lstStyle/>
        <a:p>
          <a:pPr latinLnBrk="1"/>
          <a:endParaRPr lang="ko-KR" altLang="en-US" b="1">
            <a:solidFill>
              <a:srgbClr val="567C75"/>
            </a:solidFill>
            <a:latin typeface="IBM Plex Sans KR" panose="020B0503050203000203" pitchFamily="34" charset="-127"/>
            <a:ea typeface="IBM Plex Sans KR" panose="020B0503050203000203" pitchFamily="34" charset="-127"/>
          </a:endParaRPr>
        </a:p>
      </dgm:t>
    </dgm:pt>
    <dgm:pt modelId="{B501B4C8-BDA3-594B-8D2E-16BFB65E99F0}">
      <dgm:prSet phldrT="[텍스트]"/>
      <dgm:spPr/>
      <dgm:t>
        <a:bodyPr/>
        <a:lstStyle/>
        <a:p>
          <a:pPr latinLnBrk="1"/>
          <a:r>
            <a:rPr lang="en-US" altLang="ko-KR" b="1">
              <a:solidFill>
                <a:srgbClr val="567C75"/>
              </a:solidFill>
              <a:latin typeface="IBM Plex Sans KR" panose="020B0503050203000203" pitchFamily="34" charset="-127"/>
              <a:ea typeface="IBM Plex Sans KR" panose="020B0503050203000203" pitchFamily="34" charset="-127"/>
            </a:rPr>
            <a:t>Validation</a:t>
          </a:r>
          <a:endParaRPr lang="ko-KR" altLang="en-US" b="1">
            <a:solidFill>
              <a:srgbClr val="567C75"/>
            </a:solidFill>
            <a:latin typeface="IBM Plex Sans KR" panose="020B0503050203000203" pitchFamily="34" charset="-127"/>
            <a:ea typeface="IBM Plex Sans KR" panose="020B0503050203000203" pitchFamily="34" charset="-127"/>
          </a:endParaRPr>
        </a:p>
      </dgm:t>
    </dgm:pt>
    <dgm:pt modelId="{040F3B55-1906-694B-84AA-EFD4A237CB74}" type="parTrans" cxnId="{D0D57360-1928-5545-A37B-37A3B40D8E60}">
      <dgm:prSet/>
      <dgm:spPr/>
      <dgm:t>
        <a:bodyPr/>
        <a:lstStyle/>
        <a:p>
          <a:pPr latinLnBrk="1"/>
          <a:endParaRPr lang="ko-KR" altLang="en-US" b="1">
            <a:solidFill>
              <a:srgbClr val="567C75"/>
            </a:solidFill>
            <a:latin typeface="IBM Plex Sans KR" panose="020B0503050203000203" pitchFamily="34" charset="-127"/>
            <a:ea typeface="IBM Plex Sans KR" panose="020B0503050203000203" pitchFamily="34" charset="-127"/>
          </a:endParaRPr>
        </a:p>
      </dgm:t>
    </dgm:pt>
    <dgm:pt modelId="{BB60857C-1825-324C-B04C-D5169661D571}" type="sibTrans" cxnId="{D0D57360-1928-5545-A37B-37A3B40D8E60}">
      <dgm:prSet/>
      <dgm:spPr/>
      <dgm:t>
        <a:bodyPr/>
        <a:lstStyle/>
        <a:p>
          <a:pPr latinLnBrk="1"/>
          <a:endParaRPr lang="ko-KR" altLang="en-US" b="1">
            <a:solidFill>
              <a:srgbClr val="567C75"/>
            </a:solidFill>
            <a:latin typeface="IBM Plex Sans KR" panose="020B0503050203000203" pitchFamily="34" charset="-127"/>
            <a:ea typeface="IBM Plex Sans KR" panose="020B0503050203000203" pitchFamily="34" charset="-127"/>
          </a:endParaRPr>
        </a:p>
      </dgm:t>
    </dgm:pt>
    <dgm:pt modelId="{1D12EDB7-FFFB-694B-AEF8-4F5C7AD0B992}" type="pres">
      <dgm:prSet presAssocID="{AAB4DC3F-6637-BD40-929D-2C787EA45427}" presName="Name0" presStyleCnt="0">
        <dgm:presLayoutVars>
          <dgm:dir/>
          <dgm:resizeHandles val="exact"/>
        </dgm:presLayoutVars>
      </dgm:prSet>
      <dgm:spPr/>
    </dgm:pt>
    <dgm:pt modelId="{516C99FD-90E4-FD40-A43E-4FD4FA3B680E}" type="pres">
      <dgm:prSet presAssocID="{AAB4DC3F-6637-BD40-929D-2C787EA45427}" presName="arrow" presStyleLbl="bgShp" presStyleIdx="0" presStyleCnt="1" custLinFactNeighborX="2025"/>
      <dgm:spPr/>
    </dgm:pt>
    <dgm:pt modelId="{256A79F0-113A-B94A-8FF6-609CF18A9E70}" type="pres">
      <dgm:prSet presAssocID="{AAB4DC3F-6637-BD40-929D-2C787EA45427}" presName="points" presStyleCnt="0"/>
      <dgm:spPr/>
    </dgm:pt>
    <dgm:pt modelId="{29B3B0C9-DE63-514F-9813-B2C353D2BA4D}" type="pres">
      <dgm:prSet presAssocID="{8FA3B9D4-083E-DB4B-B8A1-56805FF70F75}" presName="compositeA" presStyleCnt="0"/>
      <dgm:spPr/>
    </dgm:pt>
    <dgm:pt modelId="{4DC1B9A1-1197-9D47-84A3-5E2E9E32A72C}" type="pres">
      <dgm:prSet presAssocID="{8FA3B9D4-083E-DB4B-B8A1-56805FF70F75}" presName="textA" presStyleLbl="revTx" presStyleIdx="0" presStyleCnt="4">
        <dgm:presLayoutVars>
          <dgm:bulletEnabled val="1"/>
        </dgm:presLayoutVars>
      </dgm:prSet>
      <dgm:spPr/>
    </dgm:pt>
    <dgm:pt modelId="{70FFDD8D-9E53-8646-96E2-21A85E6BF15C}" type="pres">
      <dgm:prSet presAssocID="{8FA3B9D4-083E-DB4B-B8A1-56805FF70F75}" presName="circleA" presStyleLbl="node1" presStyleIdx="0" presStyleCnt="4"/>
      <dgm:spPr/>
    </dgm:pt>
    <dgm:pt modelId="{7715E945-B822-AB4B-B662-F1B56133917F}" type="pres">
      <dgm:prSet presAssocID="{8FA3B9D4-083E-DB4B-B8A1-56805FF70F75}" presName="spaceA" presStyleCnt="0"/>
      <dgm:spPr/>
    </dgm:pt>
    <dgm:pt modelId="{2C591890-396D-F840-A641-484EAA682440}" type="pres">
      <dgm:prSet presAssocID="{2AA04532-4878-1341-81C7-9403CA1B1163}" presName="space" presStyleCnt="0"/>
      <dgm:spPr/>
    </dgm:pt>
    <dgm:pt modelId="{62C257A9-CCCE-0C44-8D06-E28D2D891E93}" type="pres">
      <dgm:prSet presAssocID="{FEAAE286-C33F-2C47-8984-D2FEA25ACA89}" presName="compositeB" presStyleCnt="0"/>
      <dgm:spPr/>
    </dgm:pt>
    <dgm:pt modelId="{6E6CAC1B-A029-0842-8D3B-4E660761DAF9}" type="pres">
      <dgm:prSet presAssocID="{FEAAE286-C33F-2C47-8984-D2FEA25ACA89}" presName="textB" presStyleLbl="revTx" presStyleIdx="1" presStyleCnt="4">
        <dgm:presLayoutVars>
          <dgm:bulletEnabled val="1"/>
        </dgm:presLayoutVars>
      </dgm:prSet>
      <dgm:spPr/>
    </dgm:pt>
    <dgm:pt modelId="{ABA7291B-2294-EE40-9379-4A324F23666B}" type="pres">
      <dgm:prSet presAssocID="{FEAAE286-C33F-2C47-8984-D2FEA25ACA89}" presName="circleB" presStyleLbl="node1" presStyleIdx="1" presStyleCnt="4"/>
      <dgm:spPr/>
    </dgm:pt>
    <dgm:pt modelId="{D057D20B-7869-6548-AD99-AD545C8AE63C}" type="pres">
      <dgm:prSet presAssocID="{FEAAE286-C33F-2C47-8984-D2FEA25ACA89}" presName="spaceB" presStyleCnt="0"/>
      <dgm:spPr/>
    </dgm:pt>
    <dgm:pt modelId="{D7F82E37-3B36-F24C-B5D7-4BEC6E67A36C}" type="pres">
      <dgm:prSet presAssocID="{38D34752-7DAC-924E-9D2C-BE5AF8FB50C4}" presName="space" presStyleCnt="0"/>
      <dgm:spPr/>
    </dgm:pt>
    <dgm:pt modelId="{54061CB0-1AB8-194C-8E98-4F4B84451534}" type="pres">
      <dgm:prSet presAssocID="{B501B4C8-BDA3-594B-8D2E-16BFB65E99F0}" presName="compositeA" presStyleCnt="0"/>
      <dgm:spPr/>
    </dgm:pt>
    <dgm:pt modelId="{5F61A609-A946-074D-A01E-9AECF5ACB95A}" type="pres">
      <dgm:prSet presAssocID="{B501B4C8-BDA3-594B-8D2E-16BFB65E99F0}" presName="textA" presStyleLbl="revTx" presStyleIdx="2" presStyleCnt="4">
        <dgm:presLayoutVars>
          <dgm:bulletEnabled val="1"/>
        </dgm:presLayoutVars>
      </dgm:prSet>
      <dgm:spPr/>
    </dgm:pt>
    <dgm:pt modelId="{FDDA0936-7F33-D047-B4F9-9BB5337FC2BA}" type="pres">
      <dgm:prSet presAssocID="{B501B4C8-BDA3-594B-8D2E-16BFB65E99F0}" presName="circleA" presStyleLbl="node1" presStyleIdx="2" presStyleCnt="4"/>
      <dgm:spPr/>
    </dgm:pt>
    <dgm:pt modelId="{ED7E5582-5BFA-494F-9BB1-B9D816E971D6}" type="pres">
      <dgm:prSet presAssocID="{B501B4C8-BDA3-594B-8D2E-16BFB65E99F0}" presName="spaceA" presStyleCnt="0"/>
      <dgm:spPr/>
    </dgm:pt>
    <dgm:pt modelId="{BEEC4CA8-ABFE-AD43-81C8-3B6E12E69825}" type="pres">
      <dgm:prSet presAssocID="{BB60857C-1825-324C-B04C-D5169661D571}" presName="space" presStyleCnt="0"/>
      <dgm:spPr/>
    </dgm:pt>
    <dgm:pt modelId="{E57B75F8-40BC-644E-BEDC-F8F9B176AA10}" type="pres">
      <dgm:prSet presAssocID="{481C9375-EF29-544D-8EFB-937E60CF4CAE}" presName="compositeB" presStyleCnt="0"/>
      <dgm:spPr/>
    </dgm:pt>
    <dgm:pt modelId="{16088518-D5CA-684C-85E7-67544C1F1FA7}" type="pres">
      <dgm:prSet presAssocID="{481C9375-EF29-544D-8EFB-937E60CF4CAE}" presName="textB" presStyleLbl="revTx" presStyleIdx="3" presStyleCnt="4">
        <dgm:presLayoutVars>
          <dgm:bulletEnabled val="1"/>
        </dgm:presLayoutVars>
      </dgm:prSet>
      <dgm:spPr/>
    </dgm:pt>
    <dgm:pt modelId="{0E47ED9E-9291-0F40-8839-505A2784A5F2}" type="pres">
      <dgm:prSet presAssocID="{481C9375-EF29-544D-8EFB-937E60CF4CAE}" presName="circleB" presStyleLbl="node1" presStyleIdx="3" presStyleCnt="4"/>
      <dgm:spPr/>
    </dgm:pt>
    <dgm:pt modelId="{FD1A59FA-6237-6147-A510-3EFB3DEDD7CD}" type="pres">
      <dgm:prSet presAssocID="{481C9375-EF29-544D-8EFB-937E60CF4CAE}" presName="spaceB" presStyleCnt="0"/>
      <dgm:spPr/>
    </dgm:pt>
  </dgm:ptLst>
  <dgm:cxnLst>
    <dgm:cxn modelId="{4F6E932A-DBC7-924F-BEEF-0726B186D532}" srcId="{AAB4DC3F-6637-BD40-929D-2C787EA45427}" destId="{481C9375-EF29-544D-8EFB-937E60CF4CAE}" srcOrd="3" destOrd="0" parTransId="{7F40D402-05AD-4D45-9647-29FDB3FBC396}" sibTransId="{D0719692-8886-BB4F-B327-984D75674BC2}"/>
    <dgm:cxn modelId="{C360F02D-664E-264D-BB2E-638D87233F89}" type="presOf" srcId="{8FA3B9D4-083E-DB4B-B8A1-56805FF70F75}" destId="{4DC1B9A1-1197-9D47-84A3-5E2E9E32A72C}" srcOrd="0" destOrd="0" presId="urn:microsoft.com/office/officeart/2005/8/layout/hProcess11"/>
    <dgm:cxn modelId="{D0D57360-1928-5545-A37B-37A3B40D8E60}" srcId="{AAB4DC3F-6637-BD40-929D-2C787EA45427}" destId="{B501B4C8-BDA3-594B-8D2E-16BFB65E99F0}" srcOrd="2" destOrd="0" parTransId="{040F3B55-1906-694B-84AA-EFD4A237CB74}" sibTransId="{BB60857C-1825-324C-B04C-D5169661D571}"/>
    <dgm:cxn modelId="{64E5887A-05DD-0D47-9C09-E517FA32F77B}" type="presOf" srcId="{AAB4DC3F-6637-BD40-929D-2C787EA45427}" destId="{1D12EDB7-FFFB-694B-AEF8-4F5C7AD0B992}" srcOrd="0" destOrd="0" presId="urn:microsoft.com/office/officeart/2005/8/layout/hProcess11"/>
    <dgm:cxn modelId="{ADC6D18C-3411-9742-AB09-593FE6AD0E1D}" type="presOf" srcId="{481C9375-EF29-544D-8EFB-937E60CF4CAE}" destId="{16088518-D5CA-684C-85E7-67544C1F1FA7}" srcOrd="0" destOrd="0" presId="urn:microsoft.com/office/officeart/2005/8/layout/hProcess11"/>
    <dgm:cxn modelId="{525DAF90-618F-D74A-A1CF-5291EA6C4274}" type="presOf" srcId="{B501B4C8-BDA3-594B-8D2E-16BFB65E99F0}" destId="{5F61A609-A946-074D-A01E-9AECF5ACB95A}" srcOrd="0" destOrd="0" presId="urn:microsoft.com/office/officeart/2005/8/layout/hProcess11"/>
    <dgm:cxn modelId="{3F14C4C3-DEDF-EC4E-BDC4-3CC39C11F653}" srcId="{AAB4DC3F-6637-BD40-929D-2C787EA45427}" destId="{8FA3B9D4-083E-DB4B-B8A1-56805FF70F75}" srcOrd="0" destOrd="0" parTransId="{81999026-D6E7-814C-9280-99E93EBB3D98}" sibTransId="{2AA04532-4878-1341-81C7-9403CA1B1163}"/>
    <dgm:cxn modelId="{FC2B62D1-C713-9B4B-B5E1-8FF719987F62}" srcId="{AAB4DC3F-6637-BD40-929D-2C787EA45427}" destId="{FEAAE286-C33F-2C47-8984-D2FEA25ACA89}" srcOrd="1" destOrd="0" parTransId="{7749E3B0-BA43-B343-AAE0-635E2A017FB3}" sibTransId="{38D34752-7DAC-924E-9D2C-BE5AF8FB50C4}"/>
    <dgm:cxn modelId="{BAD517FD-C01A-E848-82C4-F52D7ABCFAD2}" type="presOf" srcId="{FEAAE286-C33F-2C47-8984-D2FEA25ACA89}" destId="{6E6CAC1B-A029-0842-8D3B-4E660761DAF9}" srcOrd="0" destOrd="0" presId="urn:microsoft.com/office/officeart/2005/8/layout/hProcess11"/>
    <dgm:cxn modelId="{96971A82-A267-DB4B-BC0F-ED801257318B}" type="presParOf" srcId="{1D12EDB7-FFFB-694B-AEF8-4F5C7AD0B992}" destId="{516C99FD-90E4-FD40-A43E-4FD4FA3B680E}" srcOrd="0" destOrd="0" presId="urn:microsoft.com/office/officeart/2005/8/layout/hProcess11"/>
    <dgm:cxn modelId="{521B5138-1242-B243-B397-88C0C592EB20}" type="presParOf" srcId="{1D12EDB7-FFFB-694B-AEF8-4F5C7AD0B992}" destId="{256A79F0-113A-B94A-8FF6-609CF18A9E70}" srcOrd="1" destOrd="0" presId="urn:microsoft.com/office/officeart/2005/8/layout/hProcess11"/>
    <dgm:cxn modelId="{97E61F8B-E631-8142-A3B5-E26ED2C29E65}" type="presParOf" srcId="{256A79F0-113A-B94A-8FF6-609CF18A9E70}" destId="{29B3B0C9-DE63-514F-9813-B2C353D2BA4D}" srcOrd="0" destOrd="0" presId="urn:microsoft.com/office/officeart/2005/8/layout/hProcess11"/>
    <dgm:cxn modelId="{1904C6AD-15BC-9D42-B707-B0E2EE7C8E0A}" type="presParOf" srcId="{29B3B0C9-DE63-514F-9813-B2C353D2BA4D}" destId="{4DC1B9A1-1197-9D47-84A3-5E2E9E32A72C}" srcOrd="0" destOrd="0" presId="urn:microsoft.com/office/officeart/2005/8/layout/hProcess11"/>
    <dgm:cxn modelId="{3EABB421-A52E-9341-B600-5F30E22E7DF0}" type="presParOf" srcId="{29B3B0C9-DE63-514F-9813-B2C353D2BA4D}" destId="{70FFDD8D-9E53-8646-96E2-21A85E6BF15C}" srcOrd="1" destOrd="0" presId="urn:microsoft.com/office/officeart/2005/8/layout/hProcess11"/>
    <dgm:cxn modelId="{12EDF504-5529-984A-9792-2F82F01FD5D4}" type="presParOf" srcId="{29B3B0C9-DE63-514F-9813-B2C353D2BA4D}" destId="{7715E945-B822-AB4B-B662-F1B56133917F}" srcOrd="2" destOrd="0" presId="urn:microsoft.com/office/officeart/2005/8/layout/hProcess11"/>
    <dgm:cxn modelId="{266E4A15-6E5C-B54B-B573-70B89000DB59}" type="presParOf" srcId="{256A79F0-113A-B94A-8FF6-609CF18A9E70}" destId="{2C591890-396D-F840-A641-484EAA682440}" srcOrd="1" destOrd="0" presId="urn:microsoft.com/office/officeart/2005/8/layout/hProcess11"/>
    <dgm:cxn modelId="{A6C39DE3-BFE4-9B41-AD6A-6406C8632C0A}" type="presParOf" srcId="{256A79F0-113A-B94A-8FF6-609CF18A9E70}" destId="{62C257A9-CCCE-0C44-8D06-E28D2D891E93}" srcOrd="2" destOrd="0" presId="urn:microsoft.com/office/officeart/2005/8/layout/hProcess11"/>
    <dgm:cxn modelId="{ECE8CFE3-EAED-D24A-903A-884F66785A9B}" type="presParOf" srcId="{62C257A9-CCCE-0C44-8D06-E28D2D891E93}" destId="{6E6CAC1B-A029-0842-8D3B-4E660761DAF9}" srcOrd="0" destOrd="0" presId="urn:microsoft.com/office/officeart/2005/8/layout/hProcess11"/>
    <dgm:cxn modelId="{BFDA9CFC-2D97-5B46-B752-A0BB66A273AB}" type="presParOf" srcId="{62C257A9-CCCE-0C44-8D06-E28D2D891E93}" destId="{ABA7291B-2294-EE40-9379-4A324F23666B}" srcOrd="1" destOrd="0" presId="urn:microsoft.com/office/officeart/2005/8/layout/hProcess11"/>
    <dgm:cxn modelId="{C43C9080-B6E1-BC4B-9BD0-1C2E01DCA34B}" type="presParOf" srcId="{62C257A9-CCCE-0C44-8D06-E28D2D891E93}" destId="{D057D20B-7869-6548-AD99-AD545C8AE63C}" srcOrd="2" destOrd="0" presId="urn:microsoft.com/office/officeart/2005/8/layout/hProcess11"/>
    <dgm:cxn modelId="{AED77AE6-624E-BE4A-9E71-E45E42FAAD3E}" type="presParOf" srcId="{256A79F0-113A-B94A-8FF6-609CF18A9E70}" destId="{D7F82E37-3B36-F24C-B5D7-4BEC6E67A36C}" srcOrd="3" destOrd="0" presId="urn:microsoft.com/office/officeart/2005/8/layout/hProcess11"/>
    <dgm:cxn modelId="{C8C699F6-6086-1B4D-B488-B3CA875185E2}" type="presParOf" srcId="{256A79F0-113A-B94A-8FF6-609CF18A9E70}" destId="{54061CB0-1AB8-194C-8E98-4F4B84451534}" srcOrd="4" destOrd="0" presId="urn:microsoft.com/office/officeart/2005/8/layout/hProcess11"/>
    <dgm:cxn modelId="{612258EA-FBE7-734C-99B0-E31FD4C8845E}" type="presParOf" srcId="{54061CB0-1AB8-194C-8E98-4F4B84451534}" destId="{5F61A609-A946-074D-A01E-9AECF5ACB95A}" srcOrd="0" destOrd="0" presId="urn:microsoft.com/office/officeart/2005/8/layout/hProcess11"/>
    <dgm:cxn modelId="{BD03B224-3806-0A43-BE9A-773A8F3E8A30}" type="presParOf" srcId="{54061CB0-1AB8-194C-8E98-4F4B84451534}" destId="{FDDA0936-7F33-D047-B4F9-9BB5337FC2BA}" srcOrd="1" destOrd="0" presId="urn:microsoft.com/office/officeart/2005/8/layout/hProcess11"/>
    <dgm:cxn modelId="{D013D6CF-BB1C-4646-B17B-AA826AFB9931}" type="presParOf" srcId="{54061CB0-1AB8-194C-8E98-4F4B84451534}" destId="{ED7E5582-5BFA-494F-9BB1-B9D816E971D6}" srcOrd="2" destOrd="0" presId="urn:microsoft.com/office/officeart/2005/8/layout/hProcess11"/>
    <dgm:cxn modelId="{F4FE287E-A0AB-3C4D-BBE0-F17D746B5C03}" type="presParOf" srcId="{256A79F0-113A-B94A-8FF6-609CF18A9E70}" destId="{BEEC4CA8-ABFE-AD43-81C8-3B6E12E69825}" srcOrd="5" destOrd="0" presId="urn:microsoft.com/office/officeart/2005/8/layout/hProcess11"/>
    <dgm:cxn modelId="{DEC6E46C-4DCB-A64E-A143-6608FF4E1CDC}" type="presParOf" srcId="{256A79F0-113A-B94A-8FF6-609CF18A9E70}" destId="{E57B75F8-40BC-644E-BEDC-F8F9B176AA10}" srcOrd="6" destOrd="0" presId="urn:microsoft.com/office/officeart/2005/8/layout/hProcess11"/>
    <dgm:cxn modelId="{333504E2-DC9C-CD48-BFF0-9B1D93E3A0D5}" type="presParOf" srcId="{E57B75F8-40BC-644E-BEDC-F8F9B176AA10}" destId="{16088518-D5CA-684C-85E7-67544C1F1FA7}" srcOrd="0" destOrd="0" presId="urn:microsoft.com/office/officeart/2005/8/layout/hProcess11"/>
    <dgm:cxn modelId="{00D70FA2-3F5D-234F-9CB2-32ACB3EAE4C8}" type="presParOf" srcId="{E57B75F8-40BC-644E-BEDC-F8F9B176AA10}" destId="{0E47ED9E-9291-0F40-8839-505A2784A5F2}" srcOrd="1" destOrd="0" presId="urn:microsoft.com/office/officeart/2005/8/layout/hProcess11"/>
    <dgm:cxn modelId="{C0FDB5E4-379F-E746-8E44-20F70400B4BF}" type="presParOf" srcId="{E57B75F8-40BC-644E-BEDC-F8F9B176AA10}" destId="{FD1A59FA-6237-6147-A510-3EFB3DEDD7CD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6C99FD-90E4-FD40-A43E-4FD4FA3B680E}">
      <dsp:nvSpPr>
        <dsp:cNvPr id="0" name=""/>
        <dsp:cNvSpPr/>
      </dsp:nvSpPr>
      <dsp:spPr>
        <a:xfrm>
          <a:off x="0" y="1497254"/>
          <a:ext cx="12827671" cy="1996339"/>
        </a:xfrm>
        <a:prstGeom prst="notchedRightArrow">
          <a:avLst/>
        </a:prstGeom>
        <a:solidFill>
          <a:schemeClr val="accent3"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C1B9A1-1197-9D47-84A3-5E2E9E32A72C}">
      <dsp:nvSpPr>
        <dsp:cNvPr id="0" name=""/>
        <dsp:cNvSpPr/>
      </dsp:nvSpPr>
      <dsp:spPr>
        <a:xfrm>
          <a:off x="5778" y="0"/>
          <a:ext cx="2779119" cy="19963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234696" rIns="234696" bIns="234696" numCol="1" spcCol="1270" anchor="b" anchorCtr="0">
          <a:noAutofit/>
        </a:bodyPr>
        <a:lstStyle/>
        <a:p>
          <a:pPr marL="0" lvl="0" indent="0" algn="ctr" defTabSz="1466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3300" b="1" kern="1200">
              <a:solidFill>
                <a:srgbClr val="567C75"/>
              </a:solidFill>
              <a:latin typeface="IBM Plex Sans KR" panose="020B0503050203000203" pitchFamily="34" charset="-127"/>
              <a:ea typeface="IBM Plex Sans KR" panose="020B0503050203000203" pitchFamily="34" charset="-127"/>
            </a:rPr>
            <a:t>MI Gower</a:t>
          </a:r>
          <a:endParaRPr lang="ko-KR" altLang="en-US" sz="3300" b="1" kern="1200">
            <a:solidFill>
              <a:srgbClr val="567C75"/>
            </a:solidFill>
            <a:latin typeface="IBM Plex Sans KR" panose="020B0503050203000203" pitchFamily="34" charset="-127"/>
            <a:ea typeface="IBM Plex Sans KR" panose="020B0503050203000203" pitchFamily="34" charset="-127"/>
          </a:endParaRPr>
        </a:p>
      </dsp:txBody>
      <dsp:txXfrm>
        <a:off x="5778" y="0"/>
        <a:ext cx="2779119" cy="1996339"/>
      </dsp:txXfrm>
    </dsp:sp>
    <dsp:sp modelId="{70FFDD8D-9E53-8646-96E2-21A85E6BF15C}">
      <dsp:nvSpPr>
        <dsp:cNvPr id="0" name=""/>
        <dsp:cNvSpPr/>
      </dsp:nvSpPr>
      <dsp:spPr>
        <a:xfrm>
          <a:off x="1145795" y="2245881"/>
          <a:ext cx="499084" cy="499084"/>
        </a:xfrm>
        <a:prstGeom prst="ellipse">
          <a:avLst/>
        </a:prstGeom>
        <a:solidFill>
          <a:schemeClr val="accent3">
            <a:shade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6CAC1B-A029-0842-8D3B-4E660761DAF9}">
      <dsp:nvSpPr>
        <dsp:cNvPr id="0" name=""/>
        <dsp:cNvSpPr/>
      </dsp:nvSpPr>
      <dsp:spPr>
        <a:xfrm>
          <a:off x="2923854" y="2994508"/>
          <a:ext cx="2779119" cy="19963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234696" rIns="234696" bIns="234696" numCol="1" spcCol="1270" anchor="t" anchorCtr="0">
          <a:noAutofit/>
        </a:bodyPr>
        <a:lstStyle/>
        <a:p>
          <a:pPr marL="0" lvl="0" indent="0" algn="ctr" defTabSz="1466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3300" b="1" kern="1200">
              <a:solidFill>
                <a:srgbClr val="567C75"/>
              </a:solidFill>
              <a:latin typeface="IBM Plex Sans KR" panose="020B0503050203000203" pitchFamily="34" charset="-127"/>
              <a:ea typeface="IBM Plex Sans KR" panose="020B0503050203000203" pitchFamily="34" charset="-127"/>
            </a:rPr>
            <a:t>128 Neighbor</a:t>
          </a:r>
          <a:endParaRPr lang="ko-KR" altLang="en-US" sz="3300" b="1" kern="1200">
            <a:solidFill>
              <a:srgbClr val="567C75"/>
            </a:solidFill>
            <a:latin typeface="IBM Plex Sans KR" panose="020B0503050203000203" pitchFamily="34" charset="-127"/>
            <a:ea typeface="IBM Plex Sans KR" panose="020B0503050203000203" pitchFamily="34" charset="-127"/>
          </a:endParaRPr>
        </a:p>
      </dsp:txBody>
      <dsp:txXfrm>
        <a:off x="2923854" y="2994508"/>
        <a:ext cx="2779119" cy="1996339"/>
      </dsp:txXfrm>
    </dsp:sp>
    <dsp:sp modelId="{ABA7291B-2294-EE40-9379-4A324F23666B}">
      <dsp:nvSpPr>
        <dsp:cNvPr id="0" name=""/>
        <dsp:cNvSpPr/>
      </dsp:nvSpPr>
      <dsp:spPr>
        <a:xfrm>
          <a:off x="4063871" y="2245881"/>
          <a:ext cx="499084" cy="499084"/>
        </a:xfrm>
        <a:prstGeom prst="ellipse">
          <a:avLst/>
        </a:prstGeom>
        <a:solidFill>
          <a:schemeClr val="accent3">
            <a:shade val="50000"/>
            <a:hueOff val="133778"/>
            <a:satOff val="-2135"/>
            <a:lumOff val="2055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61A609-A946-074D-A01E-9AECF5ACB95A}">
      <dsp:nvSpPr>
        <dsp:cNvPr id="0" name=""/>
        <dsp:cNvSpPr/>
      </dsp:nvSpPr>
      <dsp:spPr>
        <a:xfrm>
          <a:off x="5841929" y="0"/>
          <a:ext cx="2779119" cy="19963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234696" rIns="234696" bIns="234696" numCol="1" spcCol="1270" anchor="b" anchorCtr="0">
          <a:noAutofit/>
        </a:bodyPr>
        <a:lstStyle/>
        <a:p>
          <a:pPr marL="0" lvl="0" indent="0" algn="ctr" defTabSz="1466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3300" b="1" kern="1200">
              <a:solidFill>
                <a:srgbClr val="567C75"/>
              </a:solidFill>
              <a:latin typeface="IBM Plex Sans KR" panose="020B0503050203000203" pitchFamily="34" charset="-127"/>
              <a:ea typeface="IBM Plex Sans KR" panose="020B0503050203000203" pitchFamily="34" charset="-127"/>
            </a:rPr>
            <a:t>Validation</a:t>
          </a:r>
          <a:endParaRPr lang="ko-KR" altLang="en-US" sz="3300" b="1" kern="1200">
            <a:solidFill>
              <a:srgbClr val="567C75"/>
            </a:solidFill>
            <a:latin typeface="IBM Plex Sans KR" panose="020B0503050203000203" pitchFamily="34" charset="-127"/>
            <a:ea typeface="IBM Plex Sans KR" panose="020B0503050203000203" pitchFamily="34" charset="-127"/>
          </a:endParaRPr>
        </a:p>
      </dsp:txBody>
      <dsp:txXfrm>
        <a:off x="5841929" y="0"/>
        <a:ext cx="2779119" cy="1996339"/>
      </dsp:txXfrm>
    </dsp:sp>
    <dsp:sp modelId="{FDDA0936-7F33-D047-B4F9-9BB5337FC2BA}">
      <dsp:nvSpPr>
        <dsp:cNvPr id="0" name=""/>
        <dsp:cNvSpPr/>
      </dsp:nvSpPr>
      <dsp:spPr>
        <a:xfrm>
          <a:off x="6981947" y="2245881"/>
          <a:ext cx="499084" cy="499084"/>
        </a:xfrm>
        <a:prstGeom prst="ellipse">
          <a:avLst/>
        </a:prstGeom>
        <a:solidFill>
          <a:schemeClr val="accent3">
            <a:shade val="50000"/>
            <a:hueOff val="267556"/>
            <a:satOff val="-4269"/>
            <a:lumOff val="4110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088518-D5CA-684C-85E7-67544C1F1FA7}">
      <dsp:nvSpPr>
        <dsp:cNvPr id="0" name=""/>
        <dsp:cNvSpPr/>
      </dsp:nvSpPr>
      <dsp:spPr>
        <a:xfrm>
          <a:off x="8760005" y="2994508"/>
          <a:ext cx="2779119" cy="19963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234696" rIns="234696" bIns="234696" numCol="1" spcCol="1270" anchor="t" anchorCtr="0">
          <a:noAutofit/>
        </a:bodyPr>
        <a:lstStyle/>
        <a:p>
          <a:pPr marL="0" lvl="0" indent="0" algn="ctr" defTabSz="1466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3300" b="1" kern="1200">
              <a:solidFill>
                <a:srgbClr val="567C75"/>
              </a:solidFill>
              <a:latin typeface="IBM Plex Sans KR" panose="020B0503050203000203" pitchFamily="34" charset="-127"/>
              <a:ea typeface="IBM Plex Sans KR" panose="020B0503050203000203" pitchFamily="34" charset="-127"/>
            </a:rPr>
            <a:t>Public MAE</a:t>
          </a:r>
          <a:endParaRPr lang="ko-KR" altLang="en-US" sz="3300" b="1" kern="1200">
            <a:solidFill>
              <a:srgbClr val="567C75"/>
            </a:solidFill>
            <a:latin typeface="IBM Plex Sans KR" panose="020B0503050203000203" pitchFamily="34" charset="-127"/>
            <a:ea typeface="IBM Plex Sans KR" panose="020B0503050203000203" pitchFamily="34" charset="-127"/>
          </a:endParaRPr>
        </a:p>
      </dsp:txBody>
      <dsp:txXfrm>
        <a:off x="8760005" y="2994508"/>
        <a:ext cx="2779119" cy="1996339"/>
      </dsp:txXfrm>
    </dsp:sp>
    <dsp:sp modelId="{0E47ED9E-9291-0F40-8839-505A2784A5F2}">
      <dsp:nvSpPr>
        <dsp:cNvPr id="0" name=""/>
        <dsp:cNvSpPr/>
      </dsp:nvSpPr>
      <dsp:spPr>
        <a:xfrm>
          <a:off x="9900023" y="2245881"/>
          <a:ext cx="499084" cy="499084"/>
        </a:xfrm>
        <a:prstGeom prst="ellipse">
          <a:avLst/>
        </a:prstGeom>
        <a:solidFill>
          <a:schemeClr val="accent3">
            <a:shade val="50000"/>
            <a:hueOff val="133778"/>
            <a:satOff val="-2135"/>
            <a:lumOff val="2055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timeline" pri="103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F179B0F6-05F1-D563-2BA6-56FCBFAA5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>
            <a:extLst>
              <a:ext uri="{FF2B5EF4-FFF2-40B4-BE49-F238E27FC236}">
                <a16:creationId xmlns:a16="http://schemas.microsoft.com/office/drawing/2014/main" id="{062C6BD6-954F-F4B6-A462-3E25CD0635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:notes">
            <a:extLst>
              <a:ext uri="{FF2B5EF4-FFF2-40B4-BE49-F238E27FC236}">
                <a16:creationId xmlns:a16="http://schemas.microsoft.com/office/drawing/2014/main" id="{83E087B7-2718-797D-5C5A-180E2D83E3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275432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9E56A197-1EBA-DD90-0452-6063057FB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3827DA92-33CF-FABE-E43F-E00F088789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FAC26114-569E-76C7-C5FF-C3BD579847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52330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C9510DC9-340E-4DB3-47CA-8CB9F1439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E00C3EA5-38CF-0196-8C97-D9DBCB7209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F98C7741-A1B7-1253-ADC7-7920E49FAB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815153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ko-KR" altLang="en-US"/>
              <a:t>저희의</a:t>
            </a:r>
            <a:r>
              <a:rPr lang="en-US" altLang="ko-KR"/>
              <a:t> </a:t>
            </a:r>
            <a:r>
              <a:rPr lang="ko-KR" altLang="en-US"/>
              <a:t>최종</a:t>
            </a:r>
            <a:r>
              <a:rPr lang="en-US" altLang="ko-KR"/>
              <a:t> </a:t>
            </a:r>
            <a:r>
              <a:rPr lang="ko-KR" altLang="en-US"/>
              <a:t>모델링</a:t>
            </a:r>
            <a:r>
              <a:rPr lang="en-US" altLang="ko-KR"/>
              <a:t> </a:t>
            </a:r>
            <a:r>
              <a:rPr lang="ko-KR" altLang="en-US"/>
              <a:t>전략은</a:t>
            </a:r>
            <a:r>
              <a:rPr lang="en-US" altLang="ko-KR"/>
              <a:t> </a:t>
            </a:r>
            <a:r>
              <a:rPr lang="ko-KR" altLang="en-US"/>
              <a:t>행</a:t>
            </a:r>
            <a:r>
              <a:rPr lang="en-US" altLang="ko-KR"/>
              <a:t> </a:t>
            </a:r>
            <a:r>
              <a:rPr lang="ko-KR" altLang="en-US"/>
              <a:t>단위</a:t>
            </a:r>
            <a:r>
              <a:rPr lang="en-US" altLang="ko-KR"/>
              <a:t> </a:t>
            </a:r>
            <a:r>
              <a:rPr lang="ko-KR" altLang="en-US"/>
              <a:t>파생변수</a:t>
            </a:r>
            <a:r>
              <a:rPr lang="en-US"/>
              <a:t>,</a:t>
            </a:r>
            <a:r>
              <a:rPr lang="en-US" altLang="ko-KR"/>
              <a:t> </a:t>
            </a:r>
            <a:r>
              <a:rPr lang="ko-KR" altLang="en-US"/>
              <a:t>중요</a:t>
            </a:r>
            <a:r>
              <a:rPr lang="en-US" altLang="ko-KR"/>
              <a:t> </a:t>
            </a:r>
            <a:r>
              <a:rPr lang="ko-KR" altLang="en-US"/>
              <a:t>피처</a:t>
            </a:r>
            <a:r>
              <a:rPr lang="en-US" altLang="ko-KR"/>
              <a:t> </a:t>
            </a:r>
            <a:r>
              <a:rPr lang="ko-KR" altLang="en-US"/>
              <a:t>가중치</a:t>
            </a:r>
            <a:r>
              <a:rPr lang="en-US"/>
              <a:t>, </a:t>
            </a:r>
            <a:r>
              <a:rPr lang="en-US" err="1"/>
              <a:t>ExtraTrees</a:t>
            </a:r>
            <a:r>
              <a:rPr lang="en-US" altLang="ko-KR"/>
              <a:t> </a:t>
            </a:r>
            <a:r>
              <a:rPr lang="ko-KR" altLang="en-US"/>
              <a:t>모델</a:t>
            </a:r>
            <a:r>
              <a:rPr lang="en-US"/>
              <a:t>,</a:t>
            </a:r>
            <a:r>
              <a:rPr lang="en-US" altLang="ko-KR"/>
              <a:t> </a:t>
            </a:r>
            <a:r>
              <a:rPr lang="ko-KR" altLang="en-US"/>
              <a:t>그리고</a:t>
            </a:r>
            <a:r>
              <a:rPr lang="en-US" altLang="ko-KR"/>
              <a:t> </a:t>
            </a:r>
            <a:r>
              <a:rPr lang="ko-KR" altLang="en-US"/>
              <a:t>분위수</a:t>
            </a:r>
            <a:r>
              <a:rPr lang="en-US" altLang="ko-KR"/>
              <a:t> </a:t>
            </a:r>
            <a:r>
              <a:rPr lang="ko-KR" altLang="en-US"/>
              <a:t>예측의</a:t>
            </a:r>
            <a:r>
              <a:rPr lang="en-US" altLang="ko-KR"/>
              <a:t> </a:t>
            </a:r>
            <a:r>
              <a:rPr lang="ko-KR" altLang="en-US"/>
              <a:t>네</a:t>
            </a:r>
            <a:r>
              <a:rPr lang="en-US" altLang="ko-KR"/>
              <a:t> </a:t>
            </a:r>
            <a:r>
              <a:rPr lang="ko-KR" altLang="en-US"/>
              <a:t>단계로</a:t>
            </a:r>
            <a:r>
              <a:rPr lang="en-US" altLang="ko-KR"/>
              <a:t> </a:t>
            </a:r>
            <a:r>
              <a:rPr lang="ko-KR" altLang="en-US"/>
              <a:t>구성했습니다</a:t>
            </a:r>
            <a:r>
              <a:rPr lang="en-US"/>
              <a:t>.</a:t>
            </a:r>
            <a:r>
              <a:rPr lang="en-US" altLang="ko-KR"/>
              <a:t> </a:t>
            </a:r>
            <a:endParaRPr lang="ko-KR" altLang="en-US"/>
          </a:p>
          <a:p>
            <a:pPr>
              <a:buNone/>
            </a:pPr>
            <a:r>
              <a:rPr lang="ko-KR" altLang="en-US"/>
              <a:t>첫</a:t>
            </a:r>
            <a:r>
              <a:rPr lang="en-US" altLang="ko-KR"/>
              <a:t> </a:t>
            </a:r>
            <a:r>
              <a:rPr lang="ko-KR" altLang="en-US"/>
              <a:t>번째는</a:t>
            </a:r>
            <a:r>
              <a:rPr lang="en-US" altLang="ko-KR"/>
              <a:t> </a:t>
            </a:r>
            <a:r>
              <a:rPr lang="ko-KR" altLang="en-US"/>
              <a:t>행</a:t>
            </a:r>
            <a:r>
              <a:rPr lang="en-US" altLang="ko-KR"/>
              <a:t> </a:t>
            </a:r>
            <a:r>
              <a:rPr lang="ko-KR" altLang="en-US"/>
              <a:t>단위</a:t>
            </a:r>
            <a:r>
              <a:rPr lang="en-US" altLang="ko-KR"/>
              <a:t> </a:t>
            </a:r>
            <a:r>
              <a:rPr lang="ko-KR" altLang="en-US"/>
              <a:t>파생변수입니다</a:t>
            </a:r>
            <a:r>
              <a:rPr lang="en-US"/>
              <a:t>.</a:t>
            </a:r>
            <a:r>
              <a:rPr lang="en-US" altLang="ko-KR"/>
              <a:t> </a:t>
            </a:r>
            <a:r>
              <a:rPr lang="ko-KR" altLang="en-US"/>
              <a:t>각</a:t>
            </a:r>
            <a:r>
              <a:rPr lang="en-US" altLang="ko-KR"/>
              <a:t> </a:t>
            </a:r>
            <a:r>
              <a:rPr lang="ko-KR" altLang="en-US"/>
              <a:t>사람의</a:t>
            </a:r>
            <a:r>
              <a:rPr lang="en-US" altLang="ko-KR"/>
              <a:t> </a:t>
            </a:r>
            <a:r>
              <a:rPr lang="ko-KR" altLang="en-US"/>
              <a:t>정보만</a:t>
            </a:r>
            <a:r>
              <a:rPr lang="en-US" altLang="ko-KR"/>
              <a:t> </a:t>
            </a:r>
            <a:r>
              <a:rPr lang="ko-KR" altLang="en-US"/>
              <a:t>활용하여</a:t>
            </a:r>
            <a:r>
              <a:rPr lang="en-US"/>
              <a:t> BMI,</a:t>
            </a:r>
            <a:r>
              <a:rPr lang="en-US" altLang="ko-KR"/>
              <a:t> </a:t>
            </a:r>
            <a:r>
              <a:rPr lang="ko-KR" altLang="en-US"/>
              <a:t>맥압</a:t>
            </a:r>
            <a:r>
              <a:rPr lang="en-US"/>
              <a:t>,</a:t>
            </a:r>
            <a:r>
              <a:rPr lang="en-US" altLang="ko-KR"/>
              <a:t> </a:t>
            </a:r>
            <a:r>
              <a:rPr lang="ko-KR" altLang="en-US"/>
              <a:t>평균동맥압</a:t>
            </a:r>
            <a:r>
              <a:rPr lang="en-US"/>
              <a:t>,</a:t>
            </a:r>
            <a:r>
              <a:rPr lang="en-US" altLang="ko-KR"/>
              <a:t> </a:t>
            </a:r>
            <a:r>
              <a:rPr lang="ko-KR" altLang="en-US"/>
              <a:t>혈압</a:t>
            </a:r>
            <a:r>
              <a:rPr lang="en-US" altLang="ko-KR"/>
              <a:t> </a:t>
            </a:r>
            <a:r>
              <a:rPr lang="ko-KR" altLang="en-US"/>
              <a:t>비율</a:t>
            </a:r>
            <a:r>
              <a:rPr lang="en-US"/>
              <a:t>,</a:t>
            </a:r>
            <a:r>
              <a:rPr lang="en-US" altLang="ko-KR"/>
              <a:t> </a:t>
            </a:r>
            <a:r>
              <a:rPr lang="ko-KR" altLang="en-US"/>
              <a:t>콜레스테롤</a:t>
            </a:r>
            <a:r>
              <a:rPr lang="en-US"/>
              <a:t>·</a:t>
            </a:r>
            <a:r>
              <a:rPr lang="ko-KR" altLang="en-US"/>
              <a:t>혈당</a:t>
            </a:r>
            <a:r>
              <a:rPr lang="en-US" altLang="ko-KR"/>
              <a:t> </a:t>
            </a:r>
            <a:r>
              <a:rPr lang="ko-KR" altLang="en-US"/>
              <a:t>비율</a:t>
            </a:r>
            <a:r>
              <a:rPr lang="en-US"/>
              <a:t>,</a:t>
            </a:r>
            <a:r>
              <a:rPr lang="en-US" altLang="ko-KR"/>
              <a:t> </a:t>
            </a:r>
            <a:r>
              <a:rPr lang="ko-KR" altLang="en-US"/>
              <a:t>행별</a:t>
            </a:r>
            <a:r>
              <a:rPr lang="en-US" altLang="ko-KR"/>
              <a:t> </a:t>
            </a:r>
            <a:r>
              <a:rPr lang="ko-KR" altLang="en-US"/>
              <a:t>결측치</a:t>
            </a:r>
            <a:r>
              <a:rPr lang="en-US" altLang="ko-KR"/>
              <a:t> </a:t>
            </a:r>
            <a:r>
              <a:rPr lang="ko-KR" altLang="en-US"/>
              <a:t>개수를</a:t>
            </a:r>
            <a:r>
              <a:rPr lang="en-US" altLang="ko-KR"/>
              <a:t> </a:t>
            </a:r>
            <a:r>
              <a:rPr lang="ko-KR" altLang="en-US"/>
              <a:t>생성했습니다</a:t>
            </a:r>
            <a:r>
              <a:rPr lang="en-US"/>
              <a:t>.</a:t>
            </a:r>
            <a:r>
              <a:rPr lang="en-US" altLang="ko-KR"/>
              <a:t> </a:t>
            </a:r>
            <a:r>
              <a:rPr lang="ko-KR" altLang="en-US"/>
              <a:t>다른</a:t>
            </a:r>
            <a:r>
              <a:rPr lang="en-US" altLang="ko-KR"/>
              <a:t> </a:t>
            </a:r>
            <a:r>
              <a:rPr lang="ko-KR" altLang="en-US"/>
              <a:t>사람이나</a:t>
            </a:r>
            <a:r>
              <a:rPr lang="en-US"/>
              <a:t> Test</a:t>
            </a:r>
            <a:r>
              <a:rPr lang="en-US" altLang="ko-KR"/>
              <a:t> </a:t>
            </a:r>
            <a:r>
              <a:rPr lang="ko-KR" altLang="en-US"/>
              <a:t>데이터의</a:t>
            </a:r>
            <a:r>
              <a:rPr lang="en-US" altLang="ko-KR"/>
              <a:t> </a:t>
            </a:r>
            <a:r>
              <a:rPr lang="ko-KR" altLang="en-US"/>
              <a:t>통계를</a:t>
            </a:r>
            <a:r>
              <a:rPr lang="en-US" altLang="ko-KR"/>
              <a:t> </a:t>
            </a:r>
            <a:r>
              <a:rPr lang="ko-KR" altLang="en-US"/>
              <a:t>사용하지</a:t>
            </a:r>
            <a:r>
              <a:rPr lang="en-US" altLang="ko-KR"/>
              <a:t> </a:t>
            </a:r>
            <a:r>
              <a:rPr lang="ko-KR" altLang="en-US"/>
              <a:t>않았기</a:t>
            </a:r>
            <a:r>
              <a:rPr lang="en-US" altLang="ko-KR"/>
              <a:t> </a:t>
            </a:r>
            <a:r>
              <a:rPr lang="ko-KR" altLang="en-US"/>
              <a:t>때문에</a:t>
            </a:r>
            <a:r>
              <a:rPr lang="en-US" altLang="ko-KR"/>
              <a:t> </a:t>
            </a:r>
            <a:r>
              <a:rPr lang="ko-KR" altLang="en-US"/>
              <a:t>데이터</a:t>
            </a:r>
            <a:r>
              <a:rPr lang="en-US" altLang="ko-KR"/>
              <a:t> </a:t>
            </a:r>
            <a:r>
              <a:rPr lang="ko-KR" altLang="en-US"/>
              <a:t>누수</a:t>
            </a:r>
            <a:r>
              <a:rPr lang="en-US" altLang="ko-KR"/>
              <a:t> </a:t>
            </a:r>
            <a:r>
              <a:rPr lang="ko-KR" altLang="en-US"/>
              <a:t>없이</a:t>
            </a:r>
            <a:r>
              <a:rPr lang="en-US" altLang="ko-KR"/>
              <a:t> </a:t>
            </a:r>
            <a:r>
              <a:rPr lang="ko-KR" altLang="en-US"/>
              <a:t>변수</a:t>
            </a:r>
            <a:r>
              <a:rPr lang="en-US" altLang="ko-KR"/>
              <a:t> </a:t>
            </a:r>
            <a:r>
              <a:rPr lang="ko-KR" altLang="en-US"/>
              <a:t>사이의</a:t>
            </a:r>
            <a:r>
              <a:rPr lang="en-US" altLang="ko-KR"/>
              <a:t> </a:t>
            </a:r>
            <a:r>
              <a:rPr lang="ko-KR" altLang="en-US"/>
              <a:t>관계를</a:t>
            </a:r>
            <a:r>
              <a:rPr lang="en-US" altLang="ko-KR"/>
              <a:t> </a:t>
            </a:r>
            <a:r>
              <a:rPr lang="ko-KR" altLang="en-US"/>
              <a:t>모델에</a:t>
            </a:r>
            <a:r>
              <a:rPr lang="en-US" altLang="ko-KR"/>
              <a:t> </a:t>
            </a:r>
            <a:r>
              <a:rPr lang="ko-KR" altLang="en-US"/>
              <a:t>전달할</a:t>
            </a:r>
            <a:r>
              <a:rPr lang="en-US" altLang="ko-KR"/>
              <a:t> </a:t>
            </a:r>
            <a:r>
              <a:rPr lang="ko-KR" altLang="en-US"/>
              <a:t>수</a:t>
            </a:r>
            <a:r>
              <a:rPr lang="en-US" altLang="ko-KR"/>
              <a:t> </a:t>
            </a:r>
            <a:r>
              <a:rPr lang="ko-KR" altLang="en-US"/>
              <a:t>있었습니다</a:t>
            </a:r>
            <a:r>
              <a:rPr lang="en-US"/>
              <a:t>.</a:t>
            </a:r>
            <a:r>
              <a:rPr lang="en-US" altLang="ko-KR"/>
              <a:t> </a:t>
            </a:r>
            <a:endParaRPr lang="ko-KR"/>
          </a:p>
          <a:p>
            <a:pPr>
              <a:buNone/>
            </a:pPr>
            <a:r>
              <a:rPr lang="ko-KR" altLang="en-US"/>
              <a:t>두</a:t>
            </a:r>
            <a:r>
              <a:rPr lang="en-US" altLang="ko-KR"/>
              <a:t> </a:t>
            </a:r>
            <a:r>
              <a:rPr lang="ko-KR" altLang="en-US"/>
              <a:t>번째는</a:t>
            </a:r>
            <a:r>
              <a:rPr lang="en-US" altLang="ko-KR"/>
              <a:t> </a:t>
            </a:r>
            <a:r>
              <a:rPr lang="ko-KR" altLang="en-US"/>
              <a:t>중요</a:t>
            </a:r>
            <a:r>
              <a:rPr lang="en-US" altLang="ko-KR"/>
              <a:t> </a:t>
            </a:r>
            <a:r>
              <a:rPr lang="ko-KR" altLang="en-US"/>
              <a:t>피처</a:t>
            </a:r>
            <a:r>
              <a:rPr lang="en-US" altLang="ko-KR"/>
              <a:t> </a:t>
            </a:r>
            <a:r>
              <a:rPr lang="ko-KR" altLang="en-US"/>
              <a:t>가중치입니다</a:t>
            </a:r>
            <a:r>
              <a:rPr lang="en-US"/>
              <a:t>.</a:t>
            </a:r>
            <a:r>
              <a:rPr lang="en-US" altLang="ko-KR"/>
              <a:t> </a:t>
            </a:r>
            <a:r>
              <a:rPr lang="ko-KR" altLang="en-US"/>
              <a:t>실험에서</a:t>
            </a:r>
            <a:r>
              <a:rPr lang="en-US" altLang="ko-KR"/>
              <a:t> </a:t>
            </a:r>
            <a:r>
              <a:rPr lang="ko-KR" altLang="en-US"/>
              <a:t>중요도가</a:t>
            </a:r>
            <a:r>
              <a:rPr lang="en-US" altLang="ko-KR"/>
              <a:t> </a:t>
            </a:r>
            <a:r>
              <a:rPr lang="ko-KR" altLang="en-US"/>
              <a:t>높았던</a:t>
            </a:r>
            <a:r>
              <a:rPr lang="en-US" altLang="ko-KR"/>
              <a:t> </a:t>
            </a:r>
            <a:r>
              <a:rPr lang="ko-KR" altLang="en-US"/>
              <a:t>평균</a:t>
            </a:r>
            <a:r>
              <a:rPr lang="en-US" altLang="ko-KR"/>
              <a:t> </a:t>
            </a:r>
            <a:r>
              <a:rPr lang="ko-KR" altLang="en-US"/>
              <a:t>근무시간</a:t>
            </a:r>
            <a:r>
              <a:rPr lang="en-US"/>
              <a:t>, BMI,</a:t>
            </a:r>
            <a:r>
              <a:rPr lang="en-US" altLang="ko-KR"/>
              <a:t> </a:t>
            </a:r>
            <a:r>
              <a:rPr lang="ko-KR" altLang="en-US"/>
              <a:t>콜레스테롤</a:t>
            </a:r>
            <a:r>
              <a:rPr lang="en-US"/>
              <a:t>,</a:t>
            </a:r>
            <a:r>
              <a:rPr lang="en-US" altLang="ko-KR"/>
              <a:t> </a:t>
            </a:r>
            <a:r>
              <a:rPr lang="ko-KR" altLang="en-US"/>
              <a:t>키</a:t>
            </a:r>
            <a:r>
              <a:rPr lang="en-US"/>
              <a:t>,</a:t>
            </a:r>
            <a:r>
              <a:rPr lang="en-US" altLang="ko-KR"/>
              <a:t> </a:t>
            </a:r>
            <a:r>
              <a:rPr lang="ko-KR" altLang="en-US"/>
              <a:t>혈당</a:t>
            </a:r>
            <a:r>
              <a:rPr lang="en-US"/>
              <a:t>,</a:t>
            </a:r>
            <a:r>
              <a:rPr lang="en-US" altLang="ko-KR"/>
              <a:t> </a:t>
            </a:r>
            <a:r>
              <a:rPr lang="ko-KR" altLang="en-US"/>
              <a:t>몸무게</a:t>
            </a:r>
            <a:r>
              <a:rPr lang="en-US"/>
              <a:t>,</a:t>
            </a:r>
            <a:r>
              <a:rPr lang="en-US" altLang="ko-KR"/>
              <a:t> </a:t>
            </a:r>
            <a:r>
              <a:rPr lang="ko-KR" altLang="en-US"/>
              <a:t>골밀도</a:t>
            </a:r>
            <a:r>
              <a:rPr lang="en-US" altLang="ko-KR"/>
              <a:t> </a:t>
            </a:r>
            <a:r>
              <a:rPr lang="ko-KR" altLang="en-US"/>
              <a:t>등의</a:t>
            </a:r>
            <a:r>
              <a:rPr lang="en-US" altLang="ko-KR"/>
              <a:t> </a:t>
            </a:r>
            <a:r>
              <a:rPr lang="ko-KR" altLang="en-US"/>
              <a:t>피처를</a:t>
            </a:r>
            <a:r>
              <a:rPr lang="en-US" altLang="ko-KR"/>
              <a:t> </a:t>
            </a:r>
            <a:r>
              <a:rPr lang="ko-KR" altLang="en-US"/>
              <a:t>각각</a:t>
            </a:r>
            <a:r>
              <a:rPr lang="en-US" altLang="ko-KR"/>
              <a:t> </a:t>
            </a:r>
            <a:r>
              <a:rPr lang="ko-KR" altLang="en-US"/>
              <a:t>두</a:t>
            </a:r>
            <a:r>
              <a:rPr lang="en-US" altLang="ko-KR"/>
              <a:t> </a:t>
            </a:r>
            <a:r>
              <a:rPr lang="ko-KR" altLang="en-US"/>
              <a:t>번</a:t>
            </a:r>
            <a:r>
              <a:rPr lang="en-US" altLang="ko-KR"/>
              <a:t> </a:t>
            </a:r>
            <a:r>
              <a:rPr lang="ko-KR" altLang="en-US"/>
              <a:t>복제했습니다</a:t>
            </a:r>
            <a:r>
              <a:rPr lang="en-US"/>
              <a:t>.</a:t>
            </a:r>
            <a:r>
              <a:rPr lang="en-US" altLang="ko-KR"/>
              <a:t> </a:t>
            </a:r>
            <a:endParaRPr lang="ko-KR"/>
          </a:p>
          <a:p>
            <a:pPr>
              <a:buNone/>
            </a:pPr>
            <a:r>
              <a:rPr lang="ko-KR" altLang="en-US"/>
              <a:t>최종</a:t>
            </a:r>
            <a:r>
              <a:rPr lang="en-US" altLang="ko-KR"/>
              <a:t> </a:t>
            </a:r>
            <a:r>
              <a:rPr lang="ko-KR" altLang="en-US"/>
              <a:t>모델은</a:t>
            </a:r>
            <a:r>
              <a:rPr lang="en-US" altLang="ko-KR"/>
              <a:t> </a:t>
            </a:r>
            <a:r>
              <a:rPr lang="ko-KR" altLang="en-US"/>
              <a:t>트리를</a:t>
            </a:r>
            <a:r>
              <a:rPr lang="en-US" altLang="ko-KR"/>
              <a:t> </a:t>
            </a:r>
            <a:r>
              <a:rPr lang="ko-KR" altLang="en-US"/>
              <a:t>분할할</a:t>
            </a:r>
            <a:r>
              <a:rPr lang="en-US" altLang="ko-KR"/>
              <a:t> </a:t>
            </a:r>
            <a:r>
              <a:rPr lang="ko-KR" altLang="en-US"/>
              <a:t>때</a:t>
            </a:r>
            <a:r>
              <a:rPr lang="en-US" altLang="ko-KR"/>
              <a:t> </a:t>
            </a:r>
            <a:r>
              <a:rPr lang="ko-KR" altLang="en-US"/>
              <a:t>하나의</a:t>
            </a:r>
            <a:r>
              <a:rPr lang="en-US" altLang="ko-KR"/>
              <a:t> </a:t>
            </a:r>
            <a:r>
              <a:rPr lang="ko-KR" altLang="en-US"/>
              <a:t>피처만</a:t>
            </a:r>
            <a:r>
              <a:rPr lang="en-US" altLang="ko-KR"/>
              <a:t> </a:t>
            </a:r>
            <a:r>
              <a:rPr lang="ko-KR" altLang="en-US"/>
              <a:t>후보로</a:t>
            </a:r>
            <a:r>
              <a:rPr lang="en-US" altLang="ko-KR"/>
              <a:t> </a:t>
            </a:r>
            <a:r>
              <a:rPr lang="ko-KR" altLang="en-US"/>
              <a:t>선택하는</a:t>
            </a:r>
            <a:r>
              <a:rPr lang="en-US"/>
              <a:t> </a:t>
            </a:r>
            <a:r>
              <a:rPr lang="en-US" err="1"/>
              <a:t>max_features</a:t>
            </a:r>
            <a:r>
              <a:rPr lang="en-US"/>
              <a:t>=1</a:t>
            </a:r>
            <a:r>
              <a:rPr lang="en-US" altLang="ko-KR"/>
              <a:t> </a:t>
            </a:r>
            <a:r>
              <a:rPr lang="ko-KR" altLang="en-US"/>
              <a:t>설정을</a:t>
            </a:r>
            <a:r>
              <a:rPr lang="en-US" altLang="ko-KR"/>
              <a:t> </a:t>
            </a:r>
            <a:r>
              <a:rPr lang="ko-KR" altLang="en-US"/>
              <a:t>사용합니다</a:t>
            </a:r>
            <a:r>
              <a:rPr lang="en-US"/>
              <a:t>.</a:t>
            </a:r>
            <a:r>
              <a:rPr lang="en-US" altLang="ko-KR"/>
              <a:t> </a:t>
            </a:r>
            <a:r>
              <a:rPr lang="ko-KR" altLang="en-US"/>
              <a:t>따라서</a:t>
            </a:r>
            <a:r>
              <a:rPr lang="en-US" altLang="ko-KR"/>
              <a:t> </a:t>
            </a:r>
            <a:r>
              <a:rPr lang="ko-KR" altLang="en-US"/>
              <a:t>중요</a:t>
            </a:r>
            <a:r>
              <a:rPr lang="en-US" altLang="ko-KR"/>
              <a:t> </a:t>
            </a:r>
            <a:r>
              <a:rPr lang="ko-KR" altLang="en-US"/>
              <a:t>피처를</a:t>
            </a:r>
            <a:r>
              <a:rPr lang="en-US" altLang="ko-KR"/>
              <a:t> </a:t>
            </a:r>
            <a:r>
              <a:rPr lang="ko-KR" altLang="en-US"/>
              <a:t>복제하면</a:t>
            </a:r>
            <a:r>
              <a:rPr lang="en-US" altLang="ko-KR"/>
              <a:t> </a:t>
            </a:r>
            <a:r>
              <a:rPr lang="ko-KR" altLang="en-US"/>
              <a:t>해당</a:t>
            </a:r>
            <a:r>
              <a:rPr lang="en-US" altLang="ko-KR"/>
              <a:t> </a:t>
            </a:r>
            <a:r>
              <a:rPr lang="ko-KR" altLang="en-US"/>
              <a:t>피처가</a:t>
            </a:r>
            <a:r>
              <a:rPr lang="en-US" altLang="ko-KR"/>
              <a:t> </a:t>
            </a:r>
            <a:r>
              <a:rPr lang="ko-KR" altLang="en-US"/>
              <a:t>분할</a:t>
            </a:r>
            <a:r>
              <a:rPr lang="en-US" altLang="ko-KR"/>
              <a:t> </a:t>
            </a:r>
            <a:r>
              <a:rPr lang="ko-KR" altLang="en-US"/>
              <a:t>후보로</a:t>
            </a:r>
            <a:r>
              <a:rPr lang="en-US" altLang="ko-KR"/>
              <a:t> </a:t>
            </a:r>
            <a:r>
              <a:rPr lang="ko-KR" altLang="en-US"/>
              <a:t>선택될</a:t>
            </a:r>
            <a:r>
              <a:rPr lang="en-US" altLang="ko-KR"/>
              <a:t> </a:t>
            </a:r>
            <a:r>
              <a:rPr lang="ko-KR" altLang="en-US"/>
              <a:t>가능성이</a:t>
            </a:r>
            <a:r>
              <a:rPr lang="en-US" altLang="ko-KR"/>
              <a:t> </a:t>
            </a:r>
            <a:r>
              <a:rPr lang="ko-KR" altLang="en-US"/>
              <a:t>높아집니다</a:t>
            </a:r>
            <a:r>
              <a:rPr lang="en-US"/>
              <a:t>.</a:t>
            </a:r>
            <a:r>
              <a:rPr lang="en-US" altLang="ko-KR"/>
              <a:t> </a:t>
            </a:r>
            <a:r>
              <a:rPr lang="ko-KR" altLang="en-US"/>
              <a:t>원본</a:t>
            </a:r>
            <a:r>
              <a:rPr lang="en-US" altLang="ko-KR"/>
              <a:t> </a:t>
            </a:r>
            <a:r>
              <a:rPr lang="ko-KR" altLang="en-US"/>
              <a:t>값</a:t>
            </a:r>
            <a:r>
              <a:rPr lang="en-US" altLang="ko-KR"/>
              <a:t> </a:t>
            </a:r>
            <a:r>
              <a:rPr lang="ko-KR" altLang="en-US"/>
              <a:t>자체를</a:t>
            </a:r>
            <a:r>
              <a:rPr lang="en-US" altLang="ko-KR"/>
              <a:t> </a:t>
            </a:r>
            <a:r>
              <a:rPr lang="ko-KR" altLang="en-US"/>
              <a:t>변경한</a:t>
            </a:r>
            <a:r>
              <a:rPr lang="en-US" altLang="ko-KR"/>
              <a:t> </a:t>
            </a:r>
            <a:r>
              <a:rPr lang="ko-KR" altLang="en-US"/>
              <a:t>것은</a:t>
            </a:r>
            <a:r>
              <a:rPr lang="en-US" altLang="ko-KR"/>
              <a:t> </a:t>
            </a:r>
            <a:r>
              <a:rPr lang="ko-KR" altLang="en-US"/>
              <a:t>아니며</a:t>
            </a:r>
            <a:r>
              <a:rPr lang="en-US"/>
              <a:t>,</a:t>
            </a:r>
            <a:r>
              <a:rPr lang="en-US" altLang="ko-KR"/>
              <a:t> </a:t>
            </a:r>
            <a:r>
              <a:rPr lang="ko-KR" altLang="en-US"/>
              <a:t>중요한</a:t>
            </a:r>
            <a:r>
              <a:rPr lang="en-US" altLang="ko-KR"/>
              <a:t> </a:t>
            </a:r>
            <a:r>
              <a:rPr lang="ko-KR" altLang="en-US"/>
              <a:t>정보가</a:t>
            </a:r>
            <a:r>
              <a:rPr lang="en-US" altLang="ko-KR"/>
              <a:t> </a:t>
            </a:r>
            <a:r>
              <a:rPr lang="ko-KR" altLang="en-US"/>
              <a:t>모델에</a:t>
            </a:r>
            <a:r>
              <a:rPr lang="en-US" altLang="ko-KR"/>
              <a:t> </a:t>
            </a:r>
            <a:r>
              <a:rPr lang="ko-KR" altLang="en-US"/>
              <a:t>선택될</a:t>
            </a:r>
            <a:r>
              <a:rPr lang="en-US" altLang="ko-KR"/>
              <a:t> </a:t>
            </a:r>
            <a:r>
              <a:rPr lang="ko-KR" altLang="en-US"/>
              <a:t>기회만</a:t>
            </a:r>
            <a:r>
              <a:rPr lang="en-US" altLang="ko-KR"/>
              <a:t> </a:t>
            </a:r>
            <a:r>
              <a:rPr lang="ko-KR" altLang="en-US"/>
              <a:t>늘린</a:t>
            </a:r>
            <a:r>
              <a:rPr lang="en-US" altLang="ko-KR"/>
              <a:t> </a:t>
            </a:r>
            <a:r>
              <a:rPr lang="ko-KR" altLang="en-US"/>
              <a:t>전략입니다</a:t>
            </a:r>
            <a:r>
              <a:rPr lang="en-US"/>
              <a:t>.</a:t>
            </a:r>
            <a:r>
              <a:rPr lang="en-US" altLang="ko-KR"/>
              <a:t> </a:t>
            </a:r>
            <a:endParaRPr lang="ko-KR"/>
          </a:p>
          <a:p>
            <a:pPr>
              <a:buNone/>
            </a:pPr>
            <a:r>
              <a:rPr lang="ko-KR" altLang="en-US"/>
              <a:t>세</a:t>
            </a:r>
            <a:r>
              <a:rPr lang="en-US" altLang="ko-KR"/>
              <a:t> </a:t>
            </a:r>
            <a:r>
              <a:rPr lang="ko-KR" altLang="en-US"/>
              <a:t>번째로</a:t>
            </a:r>
            <a:r>
              <a:rPr lang="en-US"/>
              <a:t> </a:t>
            </a:r>
            <a:r>
              <a:rPr lang="en-US" err="1"/>
              <a:t>ExtraTreesRegressor</a:t>
            </a:r>
            <a:r>
              <a:rPr lang="ko-KR" altLang="en-US"/>
              <a:t>를</a:t>
            </a:r>
            <a:r>
              <a:rPr lang="en-US" altLang="ko-KR"/>
              <a:t> </a:t>
            </a:r>
            <a:r>
              <a:rPr lang="ko-KR" altLang="en-US"/>
              <a:t>사용하여</a:t>
            </a:r>
            <a:r>
              <a:rPr lang="en-US" altLang="ko-KR"/>
              <a:t> </a:t>
            </a:r>
            <a:r>
              <a:rPr lang="ko-KR" altLang="en-US"/>
              <a:t>서로</a:t>
            </a:r>
            <a:r>
              <a:rPr lang="en-US" altLang="ko-KR"/>
              <a:t> </a:t>
            </a:r>
            <a:r>
              <a:rPr lang="ko-KR" altLang="en-US"/>
              <a:t>다른</a:t>
            </a:r>
            <a:r>
              <a:rPr lang="en-US"/>
              <a:t> 1,200</a:t>
            </a:r>
            <a:r>
              <a:rPr lang="ko-KR" altLang="en-US"/>
              <a:t>개의</a:t>
            </a:r>
            <a:r>
              <a:rPr lang="en-US" altLang="ko-KR"/>
              <a:t> </a:t>
            </a:r>
            <a:r>
              <a:rPr lang="ko-KR" altLang="en-US"/>
              <a:t>결정트리를</a:t>
            </a:r>
            <a:r>
              <a:rPr lang="en-US" altLang="ko-KR"/>
              <a:t> </a:t>
            </a:r>
            <a:r>
              <a:rPr lang="ko-KR" altLang="en-US"/>
              <a:t>생성했습니다</a:t>
            </a:r>
            <a:r>
              <a:rPr lang="en-US"/>
              <a:t>. </a:t>
            </a:r>
            <a:r>
              <a:rPr lang="en-US" err="1"/>
              <a:t>ExtraTrees</a:t>
            </a:r>
            <a:r>
              <a:rPr lang="ko-KR" altLang="en-US"/>
              <a:t>는</a:t>
            </a:r>
            <a:r>
              <a:rPr lang="en-US" altLang="ko-KR"/>
              <a:t> </a:t>
            </a:r>
            <a:r>
              <a:rPr lang="ko-KR" altLang="en-US"/>
              <a:t>피처와</a:t>
            </a:r>
            <a:r>
              <a:rPr lang="en-US" altLang="ko-KR"/>
              <a:t> </a:t>
            </a:r>
            <a:r>
              <a:rPr lang="ko-KR" altLang="en-US"/>
              <a:t>분할</a:t>
            </a:r>
            <a:r>
              <a:rPr lang="en-US" altLang="ko-KR"/>
              <a:t> </a:t>
            </a:r>
            <a:r>
              <a:rPr lang="ko-KR" altLang="en-US"/>
              <a:t>기준을</a:t>
            </a:r>
            <a:r>
              <a:rPr lang="en-US" altLang="ko-KR"/>
              <a:t> </a:t>
            </a:r>
            <a:r>
              <a:rPr lang="ko-KR" altLang="en-US"/>
              <a:t>무작위로</a:t>
            </a:r>
            <a:r>
              <a:rPr lang="en-US" altLang="ko-KR"/>
              <a:t> </a:t>
            </a:r>
            <a:r>
              <a:rPr lang="ko-KR" altLang="en-US"/>
              <a:t>선택하기</a:t>
            </a:r>
            <a:r>
              <a:rPr lang="en-US" altLang="ko-KR"/>
              <a:t> </a:t>
            </a:r>
            <a:r>
              <a:rPr lang="ko-KR" altLang="en-US"/>
              <a:t>때문에</a:t>
            </a:r>
            <a:r>
              <a:rPr lang="en-US" altLang="ko-KR"/>
              <a:t> </a:t>
            </a:r>
            <a:r>
              <a:rPr lang="ko-KR" altLang="en-US"/>
              <a:t>건강</a:t>
            </a:r>
            <a:r>
              <a:rPr lang="en-US"/>
              <a:t>·</a:t>
            </a:r>
            <a:r>
              <a:rPr lang="ko-KR" altLang="en-US"/>
              <a:t>생활</a:t>
            </a:r>
            <a:r>
              <a:rPr lang="en-US" altLang="ko-KR"/>
              <a:t> </a:t>
            </a:r>
            <a:r>
              <a:rPr lang="ko-KR" altLang="en-US"/>
              <a:t>변수</a:t>
            </a:r>
            <a:r>
              <a:rPr lang="en-US" altLang="ko-KR"/>
              <a:t> </a:t>
            </a:r>
            <a:r>
              <a:rPr lang="ko-KR" altLang="en-US"/>
              <a:t>사이의</a:t>
            </a:r>
            <a:r>
              <a:rPr lang="en-US" altLang="ko-KR"/>
              <a:t> </a:t>
            </a:r>
            <a:r>
              <a:rPr lang="ko-KR" altLang="en-US"/>
              <a:t>다양한</a:t>
            </a:r>
            <a:r>
              <a:rPr lang="en-US" altLang="ko-KR"/>
              <a:t> </a:t>
            </a:r>
            <a:r>
              <a:rPr lang="ko-KR" altLang="en-US"/>
              <a:t>비선형</a:t>
            </a:r>
            <a:r>
              <a:rPr lang="en-US" altLang="ko-KR"/>
              <a:t> </a:t>
            </a:r>
            <a:r>
              <a:rPr lang="ko-KR" altLang="en-US"/>
              <a:t>관계와</a:t>
            </a:r>
            <a:r>
              <a:rPr lang="en-US" altLang="ko-KR"/>
              <a:t> </a:t>
            </a:r>
            <a:r>
              <a:rPr lang="ko-KR" altLang="en-US"/>
              <a:t>변수</a:t>
            </a:r>
            <a:r>
              <a:rPr lang="en-US" altLang="ko-KR"/>
              <a:t> </a:t>
            </a:r>
            <a:r>
              <a:rPr lang="ko-KR" altLang="en-US"/>
              <a:t>조합을</a:t>
            </a:r>
            <a:r>
              <a:rPr lang="en-US" altLang="ko-KR"/>
              <a:t> </a:t>
            </a:r>
            <a:r>
              <a:rPr lang="ko-KR" altLang="en-US"/>
              <a:t>학습할</a:t>
            </a:r>
            <a:r>
              <a:rPr lang="en-US" altLang="ko-KR"/>
              <a:t> </a:t>
            </a:r>
            <a:r>
              <a:rPr lang="ko-KR" altLang="en-US"/>
              <a:t>수</a:t>
            </a:r>
            <a:r>
              <a:rPr lang="en-US" altLang="ko-KR"/>
              <a:t> </a:t>
            </a:r>
            <a:r>
              <a:rPr lang="ko-KR" altLang="en-US"/>
              <a:t>있습니다</a:t>
            </a:r>
            <a:r>
              <a:rPr lang="en-US"/>
              <a:t>.</a:t>
            </a:r>
            <a:r>
              <a:rPr lang="en-US" altLang="ko-KR"/>
              <a:t> </a:t>
            </a:r>
            <a:r>
              <a:rPr lang="ko-KR" altLang="en-US"/>
              <a:t>또한</a:t>
            </a:r>
            <a:r>
              <a:rPr lang="en-US"/>
              <a:t> </a:t>
            </a:r>
            <a:r>
              <a:rPr lang="en-US" err="1"/>
              <a:t>random_state</a:t>
            </a:r>
            <a:r>
              <a:rPr lang="en-US"/>
              <a:t>=42</a:t>
            </a:r>
            <a:r>
              <a:rPr lang="ko-KR" altLang="en-US"/>
              <a:t>로</a:t>
            </a:r>
            <a:r>
              <a:rPr lang="en-US" altLang="ko-KR"/>
              <a:t> </a:t>
            </a:r>
            <a:r>
              <a:rPr lang="ko-KR" altLang="en-US"/>
              <a:t>고정하여</a:t>
            </a:r>
            <a:r>
              <a:rPr lang="en-US" altLang="ko-KR"/>
              <a:t> </a:t>
            </a:r>
            <a:r>
              <a:rPr lang="ko-KR" altLang="en-US"/>
              <a:t>동일한</a:t>
            </a:r>
            <a:r>
              <a:rPr lang="en-US" altLang="ko-KR"/>
              <a:t> </a:t>
            </a:r>
            <a:r>
              <a:rPr lang="ko-KR" altLang="en-US"/>
              <a:t>환경에서</a:t>
            </a:r>
            <a:r>
              <a:rPr lang="en-US" altLang="ko-KR"/>
              <a:t> </a:t>
            </a:r>
            <a:r>
              <a:rPr lang="ko-KR" altLang="en-US"/>
              <a:t>결과를</a:t>
            </a:r>
            <a:r>
              <a:rPr lang="en-US" altLang="ko-KR"/>
              <a:t> </a:t>
            </a:r>
            <a:r>
              <a:rPr lang="ko-KR" altLang="en-US"/>
              <a:t>재현할</a:t>
            </a:r>
            <a:r>
              <a:rPr lang="en-US" altLang="ko-KR"/>
              <a:t> </a:t>
            </a:r>
            <a:r>
              <a:rPr lang="ko-KR" altLang="en-US"/>
              <a:t>수</a:t>
            </a:r>
            <a:r>
              <a:rPr lang="en-US" altLang="ko-KR"/>
              <a:t> </a:t>
            </a:r>
            <a:r>
              <a:rPr lang="ko-KR" altLang="en-US"/>
              <a:t>있도록</a:t>
            </a:r>
            <a:r>
              <a:rPr lang="en-US" altLang="ko-KR"/>
              <a:t> </a:t>
            </a:r>
            <a:r>
              <a:rPr lang="ko-KR" altLang="en-US"/>
              <a:t>했습니다</a:t>
            </a:r>
            <a:r>
              <a:rPr lang="en-US"/>
              <a:t>.</a:t>
            </a:r>
            <a:r>
              <a:rPr lang="en-US" altLang="ko-KR"/>
              <a:t> </a:t>
            </a:r>
            <a:endParaRPr lang="ko-KR"/>
          </a:p>
          <a:p>
            <a:pPr>
              <a:buNone/>
            </a:pPr>
            <a:r>
              <a:rPr lang="ko-KR" altLang="en-US"/>
              <a:t>마지막으로</a:t>
            </a:r>
            <a:r>
              <a:rPr lang="en-US"/>
              <a:t> 1,200</a:t>
            </a:r>
            <a:r>
              <a:rPr lang="ko-KR" altLang="en-US"/>
              <a:t>개</a:t>
            </a:r>
            <a:r>
              <a:rPr lang="en-US" altLang="ko-KR"/>
              <a:t> </a:t>
            </a:r>
            <a:r>
              <a:rPr lang="ko-KR" altLang="en-US"/>
              <a:t>트리의</a:t>
            </a:r>
            <a:r>
              <a:rPr lang="en-US" altLang="ko-KR"/>
              <a:t> </a:t>
            </a:r>
            <a:r>
              <a:rPr lang="ko-KR" altLang="en-US"/>
              <a:t>예측값을</a:t>
            </a:r>
            <a:r>
              <a:rPr lang="en-US" altLang="ko-KR"/>
              <a:t> </a:t>
            </a:r>
            <a:r>
              <a:rPr lang="ko-KR" altLang="en-US"/>
              <a:t>단순</a:t>
            </a:r>
            <a:r>
              <a:rPr lang="en-US" altLang="ko-KR"/>
              <a:t> </a:t>
            </a:r>
            <a:r>
              <a:rPr lang="ko-KR" altLang="en-US"/>
              <a:t>평균하지</a:t>
            </a:r>
            <a:r>
              <a:rPr lang="en-US" altLang="ko-KR"/>
              <a:t> </a:t>
            </a:r>
            <a:r>
              <a:rPr lang="ko-KR" altLang="en-US"/>
              <a:t>않고</a:t>
            </a:r>
            <a:r>
              <a:rPr lang="en-US" altLang="ko-KR"/>
              <a:t> </a:t>
            </a:r>
            <a:r>
              <a:rPr lang="ko-KR" altLang="en-US"/>
              <a:t>크기순으로</a:t>
            </a:r>
            <a:r>
              <a:rPr lang="en-US" altLang="ko-KR"/>
              <a:t> </a:t>
            </a:r>
            <a:r>
              <a:rPr lang="ko-KR" altLang="en-US"/>
              <a:t>정렬한</a:t>
            </a:r>
            <a:r>
              <a:rPr lang="en-US" altLang="ko-KR"/>
              <a:t> </a:t>
            </a:r>
            <a:r>
              <a:rPr lang="ko-KR" altLang="en-US"/>
              <a:t>뒤</a:t>
            </a:r>
            <a:r>
              <a:rPr lang="en-US"/>
              <a:t> 51%</a:t>
            </a:r>
            <a:r>
              <a:rPr lang="en-US" altLang="ko-KR"/>
              <a:t> </a:t>
            </a:r>
            <a:r>
              <a:rPr lang="ko-KR" altLang="en-US"/>
              <a:t>지점의</a:t>
            </a:r>
            <a:r>
              <a:rPr lang="en-US" altLang="ko-KR"/>
              <a:t> </a:t>
            </a:r>
            <a:r>
              <a:rPr lang="ko-KR" altLang="en-US"/>
              <a:t>값을</a:t>
            </a:r>
            <a:r>
              <a:rPr lang="en-US" altLang="ko-KR"/>
              <a:t> </a:t>
            </a:r>
            <a:r>
              <a:rPr lang="ko-KR" altLang="en-US"/>
              <a:t>최종</a:t>
            </a:r>
            <a:r>
              <a:rPr lang="en-US" altLang="ko-KR"/>
              <a:t> </a:t>
            </a:r>
            <a:r>
              <a:rPr lang="ko-KR" altLang="en-US"/>
              <a:t>예측값으로</a:t>
            </a:r>
            <a:r>
              <a:rPr lang="en-US" altLang="ko-KR"/>
              <a:t> </a:t>
            </a:r>
            <a:r>
              <a:rPr lang="ko-KR" altLang="en-US"/>
              <a:t>선택했습니다</a:t>
            </a:r>
            <a:r>
              <a:rPr lang="en-US"/>
              <a:t>. </a:t>
            </a:r>
          </a:p>
          <a:p>
            <a:pPr>
              <a:buNone/>
            </a:pPr>
            <a:r>
              <a:rPr lang="en-US"/>
              <a:t>MAE</a:t>
            </a:r>
            <a:r>
              <a:rPr lang="ko-KR" altLang="en-US"/>
              <a:t>는</a:t>
            </a:r>
            <a:r>
              <a:rPr lang="en-US" altLang="ko-KR"/>
              <a:t> </a:t>
            </a:r>
            <a:r>
              <a:rPr lang="ko-KR" altLang="en-US"/>
              <a:t>실제값과</a:t>
            </a:r>
            <a:r>
              <a:rPr lang="en-US" altLang="ko-KR"/>
              <a:t> </a:t>
            </a:r>
            <a:r>
              <a:rPr lang="ko-KR" altLang="en-US"/>
              <a:t>예측값</a:t>
            </a:r>
            <a:r>
              <a:rPr lang="en-US" altLang="ko-KR"/>
              <a:t> </a:t>
            </a:r>
            <a:r>
              <a:rPr lang="ko-KR" altLang="en-US"/>
              <a:t>차이의</a:t>
            </a:r>
            <a:r>
              <a:rPr lang="en-US" altLang="ko-KR"/>
              <a:t> </a:t>
            </a:r>
            <a:r>
              <a:rPr lang="ko-KR" altLang="en-US"/>
              <a:t>절댓값</a:t>
            </a:r>
            <a:r>
              <a:rPr lang="en-US" altLang="ko-KR"/>
              <a:t> </a:t>
            </a:r>
            <a:r>
              <a:rPr lang="ko-KR" altLang="en-US"/>
              <a:t>평균이기</a:t>
            </a:r>
            <a:r>
              <a:rPr lang="en-US" altLang="ko-KR"/>
              <a:t> </a:t>
            </a:r>
            <a:r>
              <a:rPr lang="ko-KR" altLang="en-US"/>
              <a:t>때문에</a:t>
            </a:r>
            <a:r>
              <a:rPr lang="en-US" altLang="ko-KR"/>
              <a:t> </a:t>
            </a:r>
            <a:r>
              <a:rPr lang="ko-KR" altLang="en-US"/>
              <a:t>평균보다</a:t>
            </a:r>
            <a:r>
              <a:rPr lang="en-US" altLang="ko-KR"/>
              <a:t> </a:t>
            </a:r>
            <a:r>
              <a:rPr lang="ko-KR" altLang="en-US"/>
              <a:t>중앙값에</a:t>
            </a:r>
            <a:r>
              <a:rPr lang="en-US" altLang="ko-KR"/>
              <a:t> </a:t>
            </a:r>
            <a:r>
              <a:rPr lang="ko-KR" altLang="en-US"/>
              <a:t>가까운</a:t>
            </a:r>
            <a:r>
              <a:rPr lang="en-US" altLang="ko-KR"/>
              <a:t> </a:t>
            </a:r>
            <a:r>
              <a:rPr lang="ko-KR" altLang="en-US"/>
              <a:t>예측이</a:t>
            </a:r>
            <a:r>
              <a:rPr lang="en-US" altLang="ko-KR"/>
              <a:t> </a:t>
            </a:r>
            <a:r>
              <a:rPr lang="ko-KR" altLang="en-US"/>
              <a:t>유리할</a:t>
            </a:r>
            <a:r>
              <a:rPr lang="en-US" altLang="ko-KR"/>
              <a:t> </a:t>
            </a:r>
            <a:r>
              <a:rPr lang="ko-KR" altLang="en-US"/>
              <a:t>수</a:t>
            </a:r>
            <a:r>
              <a:rPr lang="en-US" altLang="ko-KR"/>
              <a:t> </a:t>
            </a:r>
            <a:r>
              <a:rPr lang="ko-KR" altLang="en-US"/>
              <a:t>있습니다</a:t>
            </a:r>
            <a:r>
              <a:rPr lang="en-US"/>
              <a:t>.</a:t>
            </a:r>
            <a:r>
              <a:rPr lang="en-US" altLang="ko-KR"/>
              <a:t> </a:t>
            </a:r>
            <a:r>
              <a:rPr lang="ko-KR" altLang="en-US"/>
              <a:t>여러</a:t>
            </a:r>
            <a:r>
              <a:rPr lang="en-US" altLang="ko-KR"/>
              <a:t> </a:t>
            </a:r>
            <a:r>
              <a:rPr lang="ko-KR" altLang="en-US"/>
              <a:t>실험</a:t>
            </a:r>
            <a:r>
              <a:rPr lang="en-US" altLang="ko-KR"/>
              <a:t> </a:t>
            </a:r>
            <a:r>
              <a:rPr lang="ko-KR" altLang="en-US"/>
              <a:t>결과</a:t>
            </a:r>
            <a:r>
              <a:rPr lang="en-US" altLang="ko-KR"/>
              <a:t> </a:t>
            </a:r>
            <a:r>
              <a:rPr lang="ko-KR" altLang="en-US"/>
              <a:t>정확히</a:t>
            </a:r>
            <a:r>
              <a:rPr lang="en-US"/>
              <a:t> 50%</a:t>
            </a:r>
            <a:r>
              <a:rPr lang="ko-KR" altLang="en-US"/>
              <a:t>보다</a:t>
            </a:r>
            <a:r>
              <a:rPr lang="en-US" altLang="ko-KR"/>
              <a:t> </a:t>
            </a:r>
            <a:r>
              <a:rPr lang="ko-KR" altLang="en-US"/>
              <a:t>조금</a:t>
            </a:r>
            <a:r>
              <a:rPr lang="en-US" altLang="ko-KR"/>
              <a:t> </a:t>
            </a:r>
            <a:r>
              <a:rPr lang="ko-KR" altLang="en-US"/>
              <a:t>높은</a:t>
            </a:r>
            <a:r>
              <a:rPr lang="en-US"/>
              <a:t> 51%</a:t>
            </a:r>
            <a:r>
              <a:rPr lang="en-US" altLang="ko-KR"/>
              <a:t> </a:t>
            </a:r>
            <a:r>
              <a:rPr lang="ko-KR" altLang="en-US"/>
              <a:t>지점의</a:t>
            </a:r>
            <a:r>
              <a:rPr lang="en-US" altLang="ko-KR"/>
              <a:t> </a:t>
            </a:r>
            <a:r>
              <a:rPr lang="ko-KR" altLang="en-US"/>
              <a:t>값을</a:t>
            </a:r>
            <a:r>
              <a:rPr lang="en-US" altLang="ko-KR"/>
              <a:t> </a:t>
            </a:r>
            <a:r>
              <a:rPr lang="ko-KR" altLang="en-US"/>
              <a:t>선택했을</a:t>
            </a:r>
            <a:r>
              <a:rPr lang="en-US" altLang="ko-KR"/>
              <a:t> </a:t>
            </a:r>
            <a:r>
              <a:rPr lang="ko-KR" altLang="en-US"/>
              <a:t>때</a:t>
            </a:r>
            <a:r>
              <a:rPr lang="en-US"/>
              <a:t> Public</a:t>
            </a:r>
            <a:r>
              <a:rPr lang="en-US" altLang="ko-KR"/>
              <a:t> </a:t>
            </a:r>
            <a:r>
              <a:rPr lang="ko-KR" altLang="en-US"/>
              <a:t>성능이</a:t>
            </a:r>
            <a:r>
              <a:rPr lang="en-US" altLang="ko-KR"/>
              <a:t> </a:t>
            </a:r>
            <a:r>
              <a:rPr lang="ko-KR" altLang="en-US"/>
              <a:t>개선되어</a:t>
            </a:r>
            <a:r>
              <a:rPr lang="en-US" altLang="ko-KR"/>
              <a:t> </a:t>
            </a:r>
            <a:r>
              <a:rPr lang="ko-KR" altLang="en-US"/>
              <a:t>최종</a:t>
            </a:r>
            <a:r>
              <a:rPr lang="en-US" altLang="ko-KR"/>
              <a:t> </a:t>
            </a:r>
            <a:r>
              <a:rPr lang="ko-KR" altLang="en-US"/>
              <a:t>전략으로</a:t>
            </a:r>
            <a:r>
              <a:rPr lang="en-US" altLang="ko-KR"/>
              <a:t> </a:t>
            </a:r>
            <a:r>
              <a:rPr lang="ko-KR" altLang="en-US"/>
              <a:t>적용했습니다</a:t>
            </a:r>
            <a:r>
              <a:rPr lang="en-US"/>
              <a:t>.</a:t>
            </a:r>
            <a:r>
              <a:rPr lang="en-US" altLang="ko-KR"/>
              <a:t> </a:t>
            </a:r>
            <a:r>
              <a:rPr lang="ko-KR" altLang="en-US"/>
              <a:t>예측값은</a:t>
            </a:r>
            <a:r>
              <a:rPr lang="en-US" altLang="ko-KR"/>
              <a:t> </a:t>
            </a:r>
            <a:r>
              <a:rPr lang="ko-KR" altLang="en-US"/>
              <a:t>스트레스</a:t>
            </a:r>
            <a:r>
              <a:rPr lang="en-US" altLang="ko-KR"/>
              <a:t> </a:t>
            </a:r>
            <a:r>
              <a:rPr lang="ko-KR" altLang="en-US"/>
              <a:t>점수</a:t>
            </a:r>
            <a:r>
              <a:rPr lang="en-US" altLang="ko-KR"/>
              <a:t> </a:t>
            </a:r>
            <a:r>
              <a:rPr lang="ko-KR" altLang="en-US"/>
              <a:t>범위에</a:t>
            </a:r>
            <a:r>
              <a:rPr lang="en-US" altLang="ko-KR"/>
              <a:t> </a:t>
            </a:r>
            <a:r>
              <a:rPr lang="ko-KR" altLang="en-US"/>
              <a:t>맞게</a:t>
            </a:r>
            <a:r>
              <a:rPr lang="en-US"/>
              <a:t> 0~1</a:t>
            </a:r>
            <a:r>
              <a:rPr lang="ko-KR" altLang="en-US"/>
              <a:t>로</a:t>
            </a:r>
            <a:r>
              <a:rPr lang="en-US" altLang="ko-KR"/>
              <a:t> </a:t>
            </a:r>
            <a:r>
              <a:rPr lang="ko-KR" altLang="en-US"/>
              <a:t>제한했습니다</a:t>
            </a:r>
            <a:r>
              <a:rPr lang="en-US"/>
              <a:t>.</a:t>
            </a:r>
            <a:r>
              <a:rPr lang="en-US" altLang="ko-KR"/>
              <a:t> </a:t>
            </a:r>
            <a:endParaRPr lang="ko-KR"/>
          </a:p>
          <a:p>
            <a:pPr>
              <a:buNone/>
            </a:pPr>
            <a:r>
              <a:rPr lang="ko-KR" altLang="en-US"/>
              <a:t>정리하면</a:t>
            </a:r>
            <a:r>
              <a:rPr lang="en-US"/>
              <a:t>,</a:t>
            </a:r>
            <a:r>
              <a:rPr lang="en-US" altLang="ko-KR"/>
              <a:t> </a:t>
            </a:r>
            <a:r>
              <a:rPr lang="ko-KR" altLang="en-US"/>
              <a:t>누수</a:t>
            </a:r>
            <a:r>
              <a:rPr lang="en-US" altLang="ko-KR"/>
              <a:t> </a:t>
            </a:r>
            <a:r>
              <a:rPr lang="ko-KR" altLang="en-US"/>
              <a:t>없는</a:t>
            </a:r>
            <a:r>
              <a:rPr lang="en-US" altLang="ko-KR"/>
              <a:t> </a:t>
            </a:r>
            <a:r>
              <a:rPr lang="ko-KR" altLang="en-US"/>
              <a:t>행</a:t>
            </a:r>
            <a:r>
              <a:rPr lang="en-US" altLang="ko-KR"/>
              <a:t> </a:t>
            </a:r>
            <a:r>
              <a:rPr lang="ko-KR" altLang="en-US"/>
              <a:t>단위</a:t>
            </a:r>
            <a:r>
              <a:rPr lang="en-US" altLang="ko-KR"/>
              <a:t> </a:t>
            </a:r>
            <a:r>
              <a:rPr lang="ko-KR" altLang="en-US"/>
              <a:t>파생변수와</a:t>
            </a:r>
            <a:r>
              <a:rPr lang="en-US" altLang="ko-KR"/>
              <a:t> </a:t>
            </a:r>
            <a:r>
              <a:rPr lang="ko-KR" altLang="en-US"/>
              <a:t>중요</a:t>
            </a:r>
            <a:r>
              <a:rPr lang="en-US" altLang="ko-KR"/>
              <a:t> </a:t>
            </a:r>
            <a:r>
              <a:rPr lang="ko-KR" altLang="en-US"/>
              <a:t>피처</a:t>
            </a:r>
            <a:r>
              <a:rPr lang="en-US" altLang="ko-KR"/>
              <a:t> </a:t>
            </a:r>
            <a:r>
              <a:rPr lang="ko-KR" altLang="en-US"/>
              <a:t>가중치를</a:t>
            </a:r>
            <a:r>
              <a:rPr lang="en-US" altLang="ko-KR"/>
              <a:t> </a:t>
            </a:r>
            <a:r>
              <a:rPr lang="ko-KR" altLang="en-US"/>
              <a:t>적용하고</a:t>
            </a:r>
            <a:r>
              <a:rPr lang="en-US"/>
              <a:t>, </a:t>
            </a:r>
            <a:r>
              <a:rPr lang="en-US" err="1"/>
              <a:t>ExtraTrees</a:t>
            </a:r>
            <a:r>
              <a:rPr lang="en-US"/>
              <a:t> 1,200</a:t>
            </a:r>
            <a:r>
              <a:rPr lang="ko-KR" altLang="en-US"/>
              <a:t>개의</a:t>
            </a:r>
            <a:r>
              <a:rPr lang="en-US" altLang="ko-KR"/>
              <a:t> </a:t>
            </a:r>
            <a:r>
              <a:rPr lang="ko-KR" altLang="en-US"/>
              <a:t>예측을</a:t>
            </a:r>
            <a:r>
              <a:rPr lang="en-US"/>
              <a:t> 51%</a:t>
            </a:r>
            <a:r>
              <a:rPr lang="en-US" altLang="ko-KR"/>
              <a:t> </a:t>
            </a:r>
            <a:r>
              <a:rPr lang="ko-KR" altLang="en-US"/>
              <a:t>분위수로</a:t>
            </a:r>
            <a:r>
              <a:rPr lang="en-US" altLang="ko-KR"/>
              <a:t> </a:t>
            </a:r>
            <a:r>
              <a:rPr lang="ko-KR" altLang="en-US"/>
              <a:t>집계한</a:t>
            </a:r>
            <a:r>
              <a:rPr lang="en-US" altLang="ko-KR"/>
              <a:t> </a:t>
            </a:r>
            <a:r>
              <a:rPr lang="ko-KR" altLang="en-US"/>
              <a:t>것이</a:t>
            </a:r>
            <a:r>
              <a:rPr lang="en-US" altLang="ko-KR"/>
              <a:t> </a:t>
            </a:r>
            <a:r>
              <a:rPr lang="ko-KR" altLang="en-US"/>
              <a:t>저희</a:t>
            </a:r>
            <a:r>
              <a:rPr lang="en-US" altLang="ko-KR"/>
              <a:t> </a:t>
            </a:r>
            <a:r>
              <a:rPr lang="ko-KR" altLang="en-US"/>
              <a:t>최종</a:t>
            </a:r>
            <a:r>
              <a:rPr lang="en-US" altLang="ko-KR"/>
              <a:t> </a:t>
            </a:r>
            <a:r>
              <a:rPr lang="ko-KR" altLang="en-US"/>
              <a:t>모델링</a:t>
            </a:r>
            <a:r>
              <a:rPr lang="en-US" altLang="ko-KR"/>
              <a:t> </a:t>
            </a:r>
            <a:r>
              <a:rPr lang="ko-KR" altLang="en-US"/>
              <a:t>전략입니다</a:t>
            </a:r>
            <a:r>
              <a:rPr lang="en-US"/>
              <a:t>.</a:t>
            </a:r>
            <a:endParaRPr lang="ko-KR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>
          <a:extLst>
            <a:ext uri="{FF2B5EF4-FFF2-40B4-BE49-F238E27FC236}">
              <a16:creationId xmlns:a16="http://schemas.microsoft.com/office/drawing/2014/main" id="{F9B9516D-4250-A8D1-84FD-F313CA06E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>
            <a:extLst>
              <a:ext uri="{FF2B5EF4-FFF2-40B4-BE49-F238E27FC236}">
                <a16:creationId xmlns:a16="http://schemas.microsoft.com/office/drawing/2014/main" id="{D0F24A21-13D5-F995-EA22-2BBB9D480A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8:notes">
            <a:extLst>
              <a:ext uri="{FF2B5EF4-FFF2-40B4-BE49-F238E27FC236}">
                <a16:creationId xmlns:a16="http://schemas.microsoft.com/office/drawing/2014/main" id="{70841856-43DB-ED25-8569-FE58731F9F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67855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100097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D68A1CEE-882D-5B00-FE62-DCF37BEC7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>
            <a:extLst>
              <a:ext uri="{FF2B5EF4-FFF2-40B4-BE49-F238E27FC236}">
                <a16:creationId xmlns:a16="http://schemas.microsoft.com/office/drawing/2014/main" id="{1CD10046-9AE5-3F9B-A45B-F38B0D09E6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ko-KR" altLang="en-US"/>
          </a:p>
        </p:txBody>
      </p:sp>
      <p:sp>
        <p:nvSpPr>
          <p:cNvPr id="162" name="Google Shape;162;p5:notes">
            <a:extLst>
              <a:ext uri="{FF2B5EF4-FFF2-40B4-BE49-F238E27FC236}">
                <a16:creationId xmlns:a16="http://schemas.microsoft.com/office/drawing/2014/main" id="{736BD796-995A-CD29-3663-7BE642E019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43257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9346AE92-6BF6-14FC-D94B-9F212D0E8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478BEF65-C7CB-E90B-36BF-3695D1484F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858C116C-B322-32AC-4B67-945A0005E3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6115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/>
            </a:lvl1pPr>
            <a:lvl2pPr marL="0" lvl="1" indent="0" algn="r">
              <a:spcBef>
                <a:spcPts val="0"/>
              </a:spcBef>
              <a:buNone/>
              <a:defRPr sz="900"/>
            </a:lvl2pPr>
            <a:lvl3pPr marL="0" lvl="2" indent="0" algn="r">
              <a:spcBef>
                <a:spcPts val="0"/>
              </a:spcBef>
              <a:buNone/>
              <a:defRPr sz="900"/>
            </a:lvl3pPr>
            <a:lvl4pPr marL="0" lvl="3" indent="0" algn="r">
              <a:spcBef>
                <a:spcPts val="0"/>
              </a:spcBef>
              <a:buNone/>
              <a:defRPr sz="900"/>
            </a:lvl4pPr>
            <a:lvl5pPr marL="0" lvl="4" indent="0" algn="r">
              <a:spcBef>
                <a:spcPts val="0"/>
              </a:spcBef>
              <a:buNone/>
              <a:defRPr sz="900"/>
            </a:lvl5pPr>
            <a:lvl6pPr marL="0" lvl="5" indent="0" algn="r">
              <a:spcBef>
                <a:spcPts val="0"/>
              </a:spcBef>
              <a:buNone/>
              <a:defRPr sz="900"/>
            </a:lvl6pPr>
            <a:lvl7pPr marL="0" lvl="6" indent="0" algn="r">
              <a:spcBef>
                <a:spcPts val="0"/>
              </a:spcBef>
              <a:buNone/>
              <a:defRPr sz="900"/>
            </a:lvl7pPr>
            <a:lvl8pPr marL="0" lvl="7" indent="0" algn="r">
              <a:spcBef>
                <a:spcPts val="0"/>
              </a:spcBef>
              <a:buNone/>
              <a:defRPr sz="900"/>
            </a:lvl8pPr>
            <a:lvl9pPr marL="0" lvl="8" indent="0" algn="r">
              <a:spcBef>
                <a:spcPts val="0"/>
              </a:spcBef>
              <a:buNone/>
              <a:defRPr sz="9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514350" y="1597819"/>
            <a:ext cx="5829300" cy="11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3300"/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lvl="1" algn="ctr"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100">
                <a:solidFill>
                  <a:srgbClr val="888888"/>
                </a:solidFill>
              </a:defRPr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/>
            </a:lvl1pPr>
            <a:lvl2pPr marL="0" lvl="1" indent="0" algn="r">
              <a:spcBef>
                <a:spcPts val="0"/>
              </a:spcBef>
              <a:buNone/>
              <a:defRPr sz="900"/>
            </a:lvl2pPr>
            <a:lvl3pPr marL="0" lvl="2" indent="0" algn="r">
              <a:spcBef>
                <a:spcPts val="0"/>
              </a:spcBef>
              <a:buNone/>
              <a:defRPr sz="900"/>
            </a:lvl3pPr>
            <a:lvl4pPr marL="0" lvl="3" indent="0" algn="r">
              <a:spcBef>
                <a:spcPts val="0"/>
              </a:spcBef>
              <a:buNone/>
              <a:defRPr sz="900"/>
            </a:lvl4pPr>
            <a:lvl5pPr marL="0" lvl="4" indent="0" algn="r">
              <a:spcBef>
                <a:spcPts val="0"/>
              </a:spcBef>
              <a:buNone/>
              <a:defRPr sz="900"/>
            </a:lvl5pPr>
            <a:lvl6pPr marL="0" lvl="5" indent="0" algn="r">
              <a:spcBef>
                <a:spcPts val="0"/>
              </a:spcBef>
              <a:buNone/>
              <a:defRPr sz="900"/>
            </a:lvl6pPr>
            <a:lvl7pPr marL="0" lvl="6" indent="0" algn="r">
              <a:spcBef>
                <a:spcPts val="0"/>
              </a:spcBef>
              <a:buNone/>
              <a:defRPr sz="900"/>
            </a:lvl7pPr>
            <a:lvl8pPr marL="0" lvl="7" indent="0" algn="r">
              <a:spcBef>
                <a:spcPts val="0"/>
              </a:spcBef>
              <a:buNone/>
              <a:defRPr sz="900"/>
            </a:lvl8pPr>
            <a:lvl9pPr marL="0" lvl="8" indent="0" algn="r">
              <a:spcBef>
                <a:spcPts val="0"/>
              </a:spcBef>
              <a:buNone/>
              <a:defRPr sz="9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42900" y="205978"/>
            <a:ext cx="61722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3300"/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42900" y="1200150"/>
            <a:ext cx="61722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2400"/>
            </a:lvl1pPr>
            <a:lvl2pPr marL="914400" lvl="1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2100"/>
            </a:lvl2pPr>
            <a:lvl3pPr marL="1371600" lvl="2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800"/>
            </a:lvl3pPr>
            <a:lvl4pPr marL="1828800" lvl="3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500"/>
            </a:lvl4pPr>
            <a:lvl5pPr marL="2286000" lvl="4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50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50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50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50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500"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/>
            </a:lvl1pPr>
            <a:lvl2pPr marL="0" lvl="1" indent="0" algn="r">
              <a:spcBef>
                <a:spcPts val="0"/>
              </a:spcBef>
              <a:buNone/>
              <a:defRPr sz="900"/>
            </a:lvl2pPr>
            <a:lvl3pPr marL="0" lvl="2" indent="0" algn="r">
              <a:spcBef>
                <a:spcPts val="0"/>
              </a:spcBef>
              <a:buNone/>
              <a:defRPr sz="900"/>
            </a:lvl3pPr>
            <a:lvl4pPr marL="0" lvl="3" indent="0" algn="r">
              <a:spcBef>
                <a:spcPts val="0"/>
              </a:spcBef>
              <a:buNone/>
              <a:defRPr sz="900"/>
            </a:lvl4pPr>
            <a:lvl5pPr marL="0" lvl="4" indent="0" algn="r">
              <a:spcBef>
                <a:spcPts val="0"/>
              </a:spcBef>
              <a:buNone/>
              <a:defRPr sz="900"/>
            </a:lvl5pPr>
            <a:lvl6pPr marL="0" lvl="5" indent="0" algn="r">
              <a:spcBef>
                <a:spcPts val="0"/>
              </a:spcBef>
              <a:buNone/>
              <a:defRPr sz="900"/>
            </a:lvl6pPr>
            <a:lvl7pPr marL="0" lvl="6" indent="0" algn="r">
              <a:spcBef>
                <a:spcPts val="0"/>
              </a:spcBef>
              <a:buNone/>
              <a:defRPr sz="900"/>
            </a:lvl7pPr>
            <a:lvl8pPr marL="0" lvl="7" indent="0" algn="r">
              <a:spcBef>
                <a:spcPts val="0"/>
              </a:spcBef>
              <a:buNone/>
              <a:defRPr sz="900"/>
            </a:lvl8pPr>
            <a:lvl9pPr marL="0" lvl="8" indent="0" algn="r">
              <a:spcBef>
                <a:spcPts val="0"/>
              </a:spcBef>
              <a:buNone/>
              <a:defRPr sz="9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541735" y="3305175"/>
            <a:ext cx="5829300" cy="1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sz="3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541735" y="2180035"/>
            <a:ext cx="58293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/>
            </a:lvl1pPr>
            <a:lvl2pPr marL="0" lvl="1" indent="0" algn="r">
              <a:spcBef>
                <a:spcPts val="0"/>
              </a:spcBef>
              <a:buNone/>
              <a:defRPr sz="900"/>
            </a:lvl2pPr>
            <a:lvl3pPr marL="0" lvl="2" indent="0" algn="r">
              <a:spcBef>
                <a:spcPts val="0"/>
              </a:spcBef>
              <a:buNone/>
              <a:defRPr sz="900"/>
            </a:lvl3pPr>
            <a:lvl4pPr marL="0" lvl="3" indent="0" algn="r">
              <a:spcBef>
                <a:spcPts val="0"/>
              </a:spcBef>
              <a:buNone/>
              <a:defRPr sz="900"/>
            </a:lvl4pPr>
            <a:lvl5pPr marL="0" lvl="4" indent="0" algn="r">
              <a:spcBef>
                <a:spcPts val="0"/>
              </a:spcBef>
              <a:buNone/>
              <a:defRPr sz="900"/>
            </a:lvl5pPr>
            <a:lvl6pPr marL="0" lvl="5" indent="0" algn="r">
              <a:spcBef>
                <a:spcPts val="0"/>
              </a:spcBef>
              <a:buNone/>
              <a:defRPr sz="900"/>
            </a:lvl6pPr>
            <a:lvl7pPr marL="0" lvl="6" indent="0" algn="r">
              <a:spcBef>
                <a:spcPts val="0"/>
              </a:spcBef>
              <a:buNone/>
              <a:defRPr sz="900"/>
            </a:lvl7pPr>
            <a:lvl8pPr marL="0" lvl="7" indent="0" algn="r">
              <a:spcBef>
                <a:spcPts val="0"/>
              </a:spcBef>
              <a:buNone/>
              <a:defRPr sz="900"/>
            </a:lvl8pPr>
            <a:lvl9pPr marL="0" lvl="8" indent="0" algn="r">
              <a:spcBef>
                <a:spcPts val="0"/>
              </a:spcBef>
              <a:buNone/>
              <a:defRPr sz="9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342900" y="205978"/>
            <a:ext cx="61722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3300"/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342900" y="1200150"/>
            <a:ext cx="30291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350"/>
            </a:lvl4pPr>
            <a:lvl5pPr marL="2286000" lvl="4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35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3486150" y="1200150"/>
            <a:ext cx="30291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350"/>
            </a:lvl4pPr>
            <a:lvl5pPr marL="2286000" lvl="4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35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/>
            </a:lvl1pPr>
            <a:lvl2pPr marL="0" lvl="1" indent="0" algn="r">
              <a:spcBef>
                <a:spcPts val="0"/>
              </a:spcBef>
              <a:buNone/>
              <a:defRPr sz="900"/>
            </a:lvl2pPr>
            <a:lvl3pPr marL="0" lvl="2" indent="0" algn="r">
              <a:spcBef>
                <a:spcPts val="0"/>
              </a:spcBef>
              <a:buNone/>
              <a:defRPr sz="900"/>
            </a:lvl3pPr>
            <a:lvl4pPr marL="0" lvl="3" indent="0" algn="r">
              <a:spcBef>
                <a:spcPts val="0"/>
              </a:spcBef>
              <a:buNone/>
              <a:defRPr sz="900"/>
            </a:lvl4pPr>
            <a:lvl5pPr marL="0" lvl="4" indent="0" algn="r">
              <a:spcBef>
                <a:spcPts val="0"/>
              </a:spcBef>
              <a:buNone/>
              <a:defRPr sz="900"/>
            </a:lvl5pPr>
            <a:lvl6pPr marL="0" lvl="5" indent="0" algn="r">
              <a:spcBef>
                <a:spcPts val="0"/>
              </a:spcBef>
              <a:buNone/>
              <a:defRPr sz="900"/>
            </a:lvl6pPr>
            <a:lvl7pPr marL="0" lvl="6" indent="0" algn="r">
              <a:spcBef>
                <a:spcPts val="0"/>
              </a:spcBef>
              <a:buNone/>
              <a:defRPr sz="900"/>
            </a:lvl7pPr>
            <a:lvl8pPr marL="0" lvl="7" indent="0" algn="r">
              <a:spcBef>
                <a:spcPts val="0"/>
              </a:spcBef>
              <a:buNone/>
              <a:defRPr sz="900"/>
            </a:lvl8pPr>
            <a:lvl9pPr marL="0" lvl="8" indent="0" algn="r">
              <a:spcBef>
                <a:spcPts val="0"/>
              </a:spcBef>
              <a:buNone/>
              <a:defRPr sz="9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342900" y="205978"/>
            <a:ext cx="61722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/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342900" y="1151335"/>
            <a:ext cx="30300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342900" y="1631156"/>
            <a:ext cx="3030000" cy="29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3483769" y="1151335"/>
            <a:ext cx="30315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3483769" y="1631156"/>
            <a:ext cx="3031500" cy="29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/>
            </a:lvl1pPr>
            <a:lvl2pPr marL="0" lvl="1" indent="0" algn="r">
              <a:spcBef>
                <a:spcPts val="0"/>
              </a:spcBef>
              <a:buNone/>
              <a:defRPr sz="900"/>
            </a:lvl2pPr>
            <a:lvl3pPr marL="0" lvl="2" indent="0" algn="r">
              <a:spcBef>
                <a:spcPts val="0"/>
              </a:spcBef>
              <a:buNone/>
              <a:defRPr sz="900"/>
            </a:lvl3pPr>
            <a:lvl4pPr marL="0" lvl="3" indent="0" algn="r">
              <a:spcBef>
                <a:spcPts val="0"/>
              </a:spcBef>
              <a:buNone/>
              <a:defRPr sz="900"/>
            </a:lvl4pPr>
            <a:lvl5pPr marL="0" lvl="4" indent="0" algn="r">
              <a:spcBef>
                <a:spcPts val="0"/>
              </a:spcBef>
              <a:buNone/>
              <a:defRPr sz="900"/>
            </a:lvl5pPr>
            <a:lvl6pPr marL="0" lvl="5" indent="0" algn="r">
              <a:spcBef>
                <a:spcPts val="0"/>
              </a:spcBef>
              <a:buNone/>
              <a:defRPr sz="900"/>
            </a:lvl6pPr>
            <a:lvl7pPr marL="0" lvl="6" indent="0" algn="r">
              <a:spcBef>
                <a:spcPts val="0"/>
              </a:spcBef>
              <a:buNone/>
              <a:defRPr sz="900"/>
            </a:lvl7pPr>
            <a:lvl8pPr marL="0" lvl="7" indent="0" algn="r">
              <a:spcBef>
                <a:spcPts val="0"/>
              </a:spcBef>
              <a:buNone/>
              <a:defRPr sz="900"/>
            </a:lvl8pPr>
            <a:lvl9pPr marL="0" lvl="8" indent="0" algn="r">
              <a:spcBef>
                <a:spcPts val="0"/>
              </a:spcBef>
              <a:buNone/>
              <a:defRPr sz="9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342900" y="205978"/>
            <a:ext cx="61722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3300"/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/>
            </a:lvl1pPr>
            <a:lvl2pPr marL="0" lvl="1" indent="0" algn="r">
              <a:spcBef>
                <a:spcPts val="0"/>
              </a:spcBef>
              <a:buNone/>
              <a:defRPr sz="900"/>
            </a:lvl2pPr>
            <a:lvl3pPr marL="0" lvl="2" indent="0" algn="r">
              <a:spcBef>
                <a:spcPts val="0"/>
              </a:spcBef>
              <a:buNone/>
              <a:defRPr sz="900"/>
            </a:lvl3pPr>
            <a:lvl4pPr marL="0" lvl="3" indent="0" algn="r">
              <a:spcBef>
                <a:spcPts val="0"/>
              </a:spcBef>
              <a:buNone/>
              <a:defRPr sz="900"/>
            </a:lvl4pPr>
            <a:lvl5pPr marL="0" lvl="4" indent="0" algn="r">
              <a:spcBef>
                <a:spcPts val="0"/>
              </a:spcBef>
              <a:buNone/>
              <a:defRPr sz="900"/>
            </a:lvl5pPr>
            <a:lvl6pPr marL="0" lvl="5" indent="0" algn="r">
              <a:spcBef>
                <a:spcPts val="0"/>
              </a:spcBef>
              <a:buNone/>
              <a:defRPr sz="900"/>
            </a:lvl6pPr>
            <a:lvl7pPr marL="0" lvl="6" indent="0" algn="r">
              <a:spcBef>
                <a:spcPts val="0"/>
              </a:spcBef>
              <a:buNone/>
              <a:defRPr sz="900"/>
            </a:lvl7pPr>
            <a:lvl8pPr marL="0" lvl="7" indent="0" algn="r">
              <a:spcBef>
                <a:spcPts val="0"/>
              </a:spcBef>
              <a:buNone/>
              <a:defRPr sz="900"/>
            </a:lvl8pPr>
            <a:lvl9pPr marL="0" lvl="8" indent="0" algn="r">
              <a:spcBef>
                <a:spcPts val="0"/>
              </a:spcBef>
              <a:buNone/>
              <a:defRPr sz="9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342900" y="204788"/>
            <a:ext cx="2256300" cy="8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1"/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2681288" y="204788"/>
            <a:ext cx="3833700" cy="43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342900" y="1076325"/>
            <a:ext cx="2256300" cy="3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1pPr>
            <a:lvl2pPr marL="914400" lvl="1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marL="1828800" lvl="3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marL="2286000" lvl="4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marL="2743200" lvl="5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marL="3200400" lvl="6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marL="3657600" lvl="7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marL="4114800" lvl="8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/>
            </a:lvl1pPr>
            <a:lvl2pPr marL="0" lvl="1" indent="0" algn="r">
              <a:spcBef>
                <a:spcPts val="0"/>
              </a:spcBef>
              <a:buNone/>
              <a:defRPr sz="900"/>
            </a:lvl2pPr>
            <a:lvl3pPr marL="0" lvl="2" indent="0" algn="r">
              <a:spcBef>
                <a:spcPts val="0"/>
              </a:spcBef>
              <a:buNone/>
              <a:defRPr sz="900"/>
            </a:lvl3pPr>
            <a:lvl4pPr marL="0" lvl="3" indent="0" algn="r">
              <a:spcBef>
                <a:spcPts val="0"/>
              </a:spcBef>
              <a:buNone/>
              <a:defRPr sz="900"/>
            </a:lvl4pPr>
            <a:lvl5pPr marL="0" lvl="4" indent="0" algn="r">
              <a:spcBef>
                <a:spcPts val="0"/>
              </a:spcBef>
              <a:buNone/>
              <a:defRPr sz="900"/>
            </a:lvl5pPr>
            <a:lvl6pPr marL="0" lvl="5" indent="0" algn="r">
              <a:spcBef>
                <a:spcPts val="0"/>
              </a:spcBef>
              <a:buNone/>
              <a:defRPr sz="900"/>
            </a:lvl6pPr>
            <a:lvl7pPr marL="0" lvl="6" indent="0" algn="r">
              <a:spcBef>
                <a:spcPts val="0"/>
              </a:spcBef>
              <a:buNone/>
              <a:defRPr sz="900"/>
            </a:lvl7pPr>
            <a:lvl8pPr marL="0" lvl="7" indent="0" algn="r">
              <a:spcBef>
                <a:spcPts val="0"/>
              </a:spcBef>
              <a:buNone/>
              <a:defRPr sz="900"/>
            </a:lvl8pPr>
            <a:lvl9pPr marL="0" lvl="8" indent="0" algn="r">
              <a:spcBef>
                <a:spcPts val="0"/>
              </a:spcBef>
              <a:buNone/>
              <a:defRPr sz="9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344216" y="3600450"/>
            <a:ext cx="41148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1"/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344216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344216" y="4025504"/>
            <a:ext cx="4114800" cy="6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1pPr>
            <a:lvl2pPr marL="914400" lvl="1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marL="1828800" lvl="3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marL="2286000" lvl="4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marL="2743200" lvl="5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marL="3200400" lvl="6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marL="3657600" lvl="7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marL="4114800" lvl="8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/>
            </a:lvl1pPr>
            <a:lvl2pPr marL="0" lvl="1" indent="0" algn="r">
              <a:spcBef>
                <a:spcPts val="0"/>
              </a:spcBef>
              <a:buNone/>
              <a:defRPr sz="900"/>
            </a:lvl2pPr>
            <a:lvl3pPr marL="0" lvl="2" indent="0" algn="r">
              <a:spcBef>
                <a:spcPts val="0"/>
              </a:spcBef>
              <a:buNone/>
              <a:defRPr sz="900"/>
            </a:lvl3pPr>
            <a:lvl4pPr marL="0" lvl="3" indent="0" algn="r">
              <a:spcBef>
                <a:spcPts val="0"/>
              </a:spcBef>
              <a:buNone/>
              <a:defRPr sz="900"/>
            </a:lvl4pPr>
            <a:lvl5pPr marL="0" lvl="4" indent="0" algn="r">
              <a:spcBef>
                <a:spcPts val="0"/>
              </a:spcBef>
              <a:buNone/>
              <a:defRPr sz="900"/>
            </a:lvl5pPr>
            <a:lvl6pPr marL="0" lvl="5" indent="0" algn="r">
              <a:spcBef>
                <a:spcPts val="0"/>
              </a:spcBef>
              <a:buNone/>
              <a:defRPr sz="900"/>
            </a:lvl6pPr>
            <a:lvl7pPr marL="0" lvl="6" indent="0" algn="r">
              <a:spcBef>
                <a:spcPts val="0"/>
              </a:spcBef>
              <a:buNone/>
              <a:defRPr sz="900"/>
            </a:lvl7pPr>
            <a:lvl8pPr marL="0" lvl="7" indent="0" algn="r">
              <a:spcBef>
                <a:spcPts val="0"/>
              </a:spcBef>
              <a:buNone/>
              <a:defRPr sz="900"/>
            </a:lvl8pPr>
            <a:lvl9pPr marL="0" lvl="8" indent="0" algn="r">
              <a:spcBef>
                <a:spcPts val="0"/>
              </a:spcBef>
              <a:buNone/>
              <a:defRPr sz="9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342900" y="205978"/>
            <a:ext cx="61722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3300"/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1731750" y="-188700"/>
            <a:ext cx="3394500" cy="61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2400"/>
            </a:lvl1pPr>
            <a:lvl2pPr marL="914400" lvl="1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2100"/>
            </a:lvl2pPr>
            <a:lvl3pPr marL="1371600" lvl="2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800"/>
            </a:lvl3pPr>
            <a:lvl4pPr marL="1828800" lvl="3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500"/>
            </a:lvl4pPr>
            <a:lvl5pPr marL="2286000" lvl="4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50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50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50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50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500"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/>
            </a:lvl1pPr>
            <a:lvl2pPr marL="0" lvl="1" indent="0" algn="r">
              <a:spcBef>
                <a:spcPts val="0"/>
              </a:spcBef>
              <a:buNone/>
              <a:defRPr sz="900"/>
            </a:lvl2pPr>
            <a:lvl3pPr marL="0" lvl="2" indent="0" algn="r">
              <a:spcBef>
                <a:spcPts val="0"/>
              </a:spcBef>
              <a:buNone/>
              <a:defRPr sz="900"/>
            </a:lvl3pPr>
            <a:lvl4pPr marL="0" lvl="3" indent="0" algn="r">
              <a:spcBef>
                <a:spcPts val="0"/>
              </a:spcBef>
              <a:buNone/>
              <a:defRPr sz="900"/>
            </a:lvl4pPr>
            <a:lvl5pPr marL="0" lvl="4" indent="0" algn="r">
              <a:spcBef>
                <a:spcPts val="0"/>
              </a:spcBef>
              <a:buNone/>
              <a:defRPr sz="900"/>
            </a:lvl5pPr>
            <a:lvl6pPr marL="0" lvl="5" indent="0" algn="r">
              <a:spcBef>
                <a:spcPts val="0"/>
              </a:spcBef>
              <a:buNone/>
              <a:defRPr sz="900"/>
            </a:lvl6pPr>
            <a:lvl7pPr marL="0" lvl="6" indent="0" algn="r">
              <a:spcBef>
                <a:spcPts val="0"/>
              </a:spcBef>
              <a:buNone/>
              <a:defRPr sz="900"/>
            </a:lvl7pPr>
            <a:lvl8pPr marL="0" lvl="7" indent="0" algn="r">
              <a:spcBef>
                <a:spcPts val="0"/>
              </a:spcBef>
              <a:buNone/>
              <a:defRPr sz="900"/>
            </a:lvl8pPr>
            <a:lvl9pPr marL="0" lvl="8" indent="0" algn="r">
              <a:spcBef>
                <a:spcPts val="0"/>
              </a:spcBef>
              <a:buNone/>
              <a:defRPr sz="9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3549300" y="1628879"/>
            <a:ext cx="4388700" cy="15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3300"/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406050" y="142978"/>
            <a:ext cx="4388700" cy="45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2400"/>
            </a:lvl1pPr>
            <a:lvl2pPr marL="914400" lvl="1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2100"/>
            </a:lvl2pPr>
            <a:lvl3pPr marL="1371600" lvl="2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800"/>
            </a:lvl3pPr>
            <a:lvl4pPr marL="1828800" lvl="3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500"/>
            </a:lvl4pPr>
            <a:lvl5pPr marL="2286000" lvl="4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50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50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50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50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500"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50"/>
              <a:buNone/>
              <a:defRPr sz="900"/>
            </a:lvl1pPr>
            <a:lvl2pPr lvl="1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 algn="l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/>
            </a:lvl1pPr>
            <a:lvl2pPr marL="0" lvl="1" indent="0" algn="r">
              <a:spcBef>
                <a:spcPts val="0"/>
              </a:spcBef>
              <a:buNone/>
              <a:defRPr sz="900"/>
            </a:lvl2pPr>
            <a:lvl3pPr marL="0" lvl="2" indent="0" algn="r">
              <a:spcBef>
                <a:spcPts val="0"/>
              </a:spcBef>
              <a:buNone/>
              <a:defRPr sz="900"/>
            </a:lvl3pPr>
            <a:lvl4pPr marL="0" lvl="3" indent="0" algn="r">
              <a:spcBef>
                <a:spcPts val="0"/>
              </a:spcBef>
              <a:buNone/>
              <a:defRPr sz="900"/>
            </a:lvl4pPr>
            <a:lvl5pPr marL="0" lvl="4" indent="0" algn="r">
              <a:spcBef>
                <a:spcPts val="0"/>
              </a:spcBef>
              <a:buNone/>
              <a:defRPr sz="900"/>
            </a:lvl5pPr>
            <a:lvl6pPr marL="0" lvl="5" indent="0" algn="r">
              <a:spcBef>
                <a:spcPts val="0"/>
              </a:spcBef>
              <a:buNone/>
              <a:defRPr sz="900"/>
            </a:lvl6pPr>
            <a:lvl7pPr marL="0" lvl="6" indent="0" algn="r">
              <a:spcBef>
                <a:spcPts val="0"/>
              </a:spcBef>
              <a:buNone/>
              <a:defRPr sz="900"/>
            </a:lvl7pPr>
            <a:lvl8pPr marL="0" lvl="7" indent="0" algn="r">
              <a:spcBef>
                <a:spcPts val="0"/>
              </a:spcBef>
              <a:buNone/>
              <a:defRPr sz="900"/>
            </a:lvl8pPr>
            <a:lvl9pPr marL="0" lvl="8" indent="0" algn="r">
              <a:spcBef>
                <a:spcPts val="0"/>
              </a:spcBef>
              <a:buNone/>
              <a:defRPr sz="9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42900" y="205978"/>
            <a:ext cx="61722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42900" y="1200150"/>
            <a:ext cx="61722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6195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05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05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05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05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05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05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05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05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05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05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05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05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05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05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05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05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05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05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4299" y="8003249"/>
            <a:ext cx="18502312" cy="239805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676275" y="1800225"/>
            <a:ext cx="10086900" cy="39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2500" rIns="0" bIns="0" anchor="t" anchorCtr="0">
            <a:noAutofit/>
          </a:bodyPr>
          <a:lstStyle/>
          <a:p>
            <a:pPr>
              <a:lnSpc>
                <a:spcPct val="97940"/>
              </a:lnSpc>
            </a:pPr>
            <a:r>
              <a:rPr lang="en-US" sz="8300" b="1" dirty="0" err="1">
                <a:solidFill>
                  <a:srgbClr val="567C75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스트레스</a:t>
            </a:r>
            <a:r>
              <a:rPr lang="en-US" sz="8300" b="1">
                <a:solidFill>
                  <a:srgbClr val="567C75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lang="en-US" sz="8300" b="1" err="1">
                <a:solidFill>
                  <a:srgbClr val="567C75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지수</a:t>
            </a:r>
            <a:r>
              <a:rPr lang="en-US" sz="8300" b="1">
                <a:solidFill>
                  <a:srgbClr val="567C75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r>
              <a:rPr lang="en-US" sz="8300" b="1" err="1">
                <a:solidFill>
                  <a:srgbClr val="567C75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예측</a:t>
            </a:r>
            <a:r>
              <a:rPr lang="en-US" sz="8300" b="1">
                <a:solidFill>
                  <a:srgbClr val="567C75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 </a:t>
            </a:r>
            <a:endParaRPr lang="ko-KR" altLang="en-US" sz="8300" b="1"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marL="0" marR="0" lvl="0" indent="0" algn="l">
              <a:lnSpc>
                <a:spcPct val="979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00" b="1">
                <a:solidFill>
                  <a:srgbClr val="567C75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해커톤</a:t>
            </a:r>
            <a:endParaRPr sz="8300" b="1">
              <a:latin typeface="IBM Plex Sans KR"/>
              <a:ea typeface="IBM Plex Sans KR"/>
              <a:cs typeface="IBM Plex Sans KR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1095375" y="6029325"/>
            <a:ext cx="68961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68">
                <a:latin typeface="IBM Plex Sans KR Medium"/>
                <a:ea typeface="IBM Plex Sans KR Medium"/>
                <a:cs typeface="IBM Plex Sans KR Medium"/>
                <a:sym typeface="IBM Plex Sans KR Medium"/>
              </a:rPr>
              <a:t>2거 스트레스조</a:t>
            </a:r>
            <a:endParaRPr sz="1550">
              <a:latin typeface="IBM Plex Sans KR Medium"/>
              <a:ea typeface="IBM Plex Sans KR Medium"/>
              <a:cs typeface="IBM Plex Sans KR Medium"/>
              <a:sym typeface="IBM Plex Sans KR Medium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2119325" y="8998075"/>
            <a:ext cx="11907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80">
                <a:solidFill>
                  <a:srgbClr val="FFFFFF"/>
                </a:solidFill>
                <a:latin typeface="IBM Plex Sans KR Medium"/>
                <a:ea typeface="IBM Plex Sans KR Medium"/>
                <a:cs typeface="IBM Plex Sans KR Medium"/>
                <a:sym typeface="IBM Plex Sans KR Medium"/>
              </a:rPr>
              <a:t>김지현</a:t>
            </a:r>
            <a:endParaRPr sz="1962">
              <a:latin typeface="IBM Plex Sans KR Medium"/>
              <a:ea typeface="IBM Plex Sans KR Medium"/>
              <a:cs typeface="IBM Plex Sans KR Medium"/>
              <a:sym typeface="IBM Plex Sans KR Medium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8548650" y="8997974"/>
            <a:ext cx="11907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80">
                <a:solidFill>
                  <a:srgbClr val="FFFFFF"/>
                </a:solidFill>
                <a:latin typeface="IBM Plex Sans KR Medium"/>
                <a:ea typeface="IBM Plex Sans KR Medium"/>
                <a:cs typeface="IBM Plex Sans KR Medium"/>
                <a:sym typeface="IBM Plex Sans KR Medium"/>
              </a:rPr>
              <a:t>박빛샘</a:t>
            </a:r>
            <a:endParaRPr sz="1962">
              <a:latin typeface="IBM Plex Sans KR Medium"/>
              <a:ea typeface="IBM Plex Sans KR Medium"/>
              <a:cs typeface="IBM Plex Sans KR Medium"/>
              <a:sym typeface="IBM Plex Sans KR Medium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15034129" y="8998075"/>
            <a:ext cx="10155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80">
                <a:solidFill>
                  <a:srgbClr val="FFFFFF"/>
                </a:solidFill>
                <a:latin typeface="IBM Plex Sans KR Medium"/>
                <a:ea typeface="IBM Plex Sans KR Medium"/>
                <a:cs typeface="IBM Plex Sans KR Medium"/>
                <a:sym typeface="IBM Plex Sans KR Medium"/>
              </a:rPr>
              <a:t>안상균</a:t>
            </a:r>
            <a:endParaRPr sz="1962">
              <a:latin typeface="IBM Plex Sans KR Medium"/>
              <a:ea typeface="IBM Plex Sans KR Medium"/>
              <a:cs typeface="IBM Plex Sans KR Medium"/>
              <a:sym typeface="IBM Plex Sans KR Medium"/>
            </a:endParaRPr>
          </a:p>
        </p:txBody>
      </p:sp>
      <p:pic>
        <p:nvPicPr>
          <p:cNvPr id="2" name="Google Shape;84;p13">
            <a:extLst>
              <a:ext uri="{FF2B5EF4-FFF2-40B4-BE49-F238E27FC236}">
                <a16:creationId xmlns:a16="http://schemas.microsoft.com/office/drawing/2014/main" id="{9D532E69-7F87-9681-13DA-DC94A594EE2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5440" t="7883" r="27587" b="15949"/>
          <a:stretch/>
        </p:blipFill>
        <p:spPr>
          <a:xfrm>
            <a:off x="10543950" y="642400"/>
            <a:ext cx="7044074" cy="706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5249" y="3178110"/>
            <a:ext cx="7698948" cy="1337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75249" y="4902365"/>
            <a:ext cx="7698948" cy="1337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5249" y="1453856"/>
            <a:ext cx="7698948" cy="1337564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962025" y="571500"/>
            <a:ext cx="1038300" cy="7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9100" rIns="0" bIns="0" anchor="t" anchorCtr="0">
            <a:noAutofit/>
          </a:bodyPr>
          <a:lstStyle/>
          <a:p>
            <a:pPr marL="0" marR="0" lvl="0" indent="0" algn="l" rtl="0">
              <a:lnSpc>
                <a:spcPct val="979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31">
                <a:solidFill>
                  <a:srgbClr val="567C75"/>
                </a:solidFill>
                <a:latin typeface="Hanken Grotesk ExtraBold"/>
                <a:ea typeface="IBM Plex Sans KR Medium"/>
                <a:cs typeface="Hanken Grotesk ExtraBold"/>
                <a:sym typeface="Hanken Grotesk ExtraBold"/>
              </a:rPr>
              <a:t>목차</a:t>
            </a:r>
            <a:endParaRPr sz="1050">
              <a:latin typeface="Hanken Grotesk ExtraBold"/>
              <a:ea typeface="IBM Plex Sans KR Medium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4694827" y="1713762"/>
            <a:ext cx="3754200" cy="33600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25100" rIns="0" bIns="0" anchor="t" anchorCtr="0">
            <a:noAutofit/>
          </a:bodyPr>
          <a:lstStyle/>
          <a:p>
            <a:pPr marL="0" marR="0" lvl="0" indent="0" algn="l" rtl="0">
              <a:lnSpc>
                <a:spcPct val="979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567C75"/>
                </a:solidFill>
                <a:latin typeface="IBM Plex Sans KR Medium"/>
                <a:ea typeface="IBM Plex Sans KR Medium"/>
                <a:cs typeface="IBM Plex Sans KR SemiBold"/>
                <a:sym typeface="IBM Plex Sans KR SemiBold"/>
              </a:rPr>
              <a:t>프로젝트 소개</a:t>
            </a:r>
            <a:endParaRPr sz="3000" b="1">
              <a:latin typeface="IBM Plex Sans KR Medium"/>
              <a:ea typeface="IBM Plex Sans KR Medium"/>
              <a:cs typeface="IBM Plex Sans KR SemiBold"/>
              <a:sym typeface="IBM Plex Sans KR SemiBold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4694875" y="2189478"/>
            <a:ext cx="3742500" cy="22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600" rIns="0" bIns="0" anchor="t" anchorCtr="0">
            <a:noAutofit/>
          </a:bodyPr>
          <a:lstStyle/>
          <a:p>
            <a:pPr>
              <a:lnSpc>
                <a:spcPct val="97940"/>
              </a:lnSpc>
            </a:pPr>
            <a:r>
              <a:rPr lang="ko-KR" altLang="en-US" sz="1300">
                <a:latin typeface="IBM Plex Sans KR"/>
                <a:ea typeface="IBM Plex Sans KR"/>
                <a:cs typeface="Hanken Grotesk"/>
                <a:sym typeface="Hanken Grotesk"/>
              </a:rPr>
              <a:t>배경</a:t>
            </a:r>
            <a:r>
              <a:rPr lang="en-US" sz="1300">
                <a:latin typeface="IBM Plex Sans KR"/>
                <a:ea typeface="IBM Plex Sans KR"/>
                <a:cs typeface="Hanken Grotesk"/>
                <a:sym typeface="Hanken Grotesk"/>
              </a:rPr>
              <a:t> </a:t>
            </a:r>
            <a:r>
              <a:rPr lang="ko-KR" altLang="en-US" sz="1300">
                <a:latin typeface="IBM Plex Sans KR"/>
                <a:ea typeface="IBM Plex Sans KR"/>
                <a:cs typeface="Hanken Grotesk"/>
                <a:sym typeface="Hanken Grotesk"/>
              </a:rPr>
              <a:t>및</a:t>
            </a:r>
            <a:r>
              <a:rPr lang="en-US" sz="1300">
                <a:latin typeface="IBM Plex Sans KR"/>
                <a:ea typeface="IBM Plex Sans KR"/>
                <a:cs typeface="Hanken Grotesk"/>
                <a:sym typeface="Hanken Grotesk"/>
              </a:rPr>
              <a:t> </a:t>
            </a:r>
            <a:r>
              <a:rPr lang="ko-KR" altLang="en-US" sz="1300">
                <a:latin typeface="IBM Plex Sans KR"/>
                <a:ea typeface="IBM Plex Sans KR"/>
                <a:cs typeface="Hanken Grotesk"/>
                <a:sym typeface="Hanken Grotesk"/>
              </a:rPr>
              <a:t>목표</a:t>
            </a:r>
            <a:r>
              <a:rPr lang="en-US" sz="1300">
                <a:latin typeface="IBM Plex Sans KR"/>
                <a:ea typeface="IBM Plex Sans KR"/>
                <a:cs typeface="Hanken Grotesk"/>
                <a:sym typeface="Hanken Grotesk"/>
              </a:rPr>
              <a:t>, </a:t>
            </a:r>
            <a:r>
              <a:rPr lang="ko-KR" altLang="en-US" sz="1300">
                <a:latin typeface="IBM Plex Sans KR"/>
                <a:ea typeface="IBM Plex Sans KR"/>
                <a:cs typeface="Hanken Grotesk"/>
                <a:sym typeface="Hanken Grotesk"/>
              </a:rPr>
              <a:t>팀</a:t>
            </a:r>
            <a:r>
              <a:rPr lang="en-US" sz="1300">
                <a:latin typeface="IBM Plex Sans KR"/>
                <a:ea typeface="IBM Plex Sans KR"/>
                <a:cs typeface="Hanken Grotesk"/>
                <a:sym typeface="Hanken Grotesk"/>
              </a:rPr>
              <a:t> </a:t>
            </a:r>
            <a:r>
              <a:rPr lang="ko-KR" altLang="en-US" sz="1300">
                <a:latin typeface="IBM Plex Sans KR"/>
                <a:ea typeface="IBM Plex Sans KR"/>
                <a:cs typeface="Hanken Grotesk"/>
                <a:sym typeface="Hanken Grotesk"/>
              </a:rPr>
              <a:t>역할, 협업 방식, </a:t>
            </a:r>
            <a:r>
              <a:rPr lang="en-US" sz="1300" err="1">
                <a:latin typeface="IBM Plex Sans KR"/>
                <a:ea typeface="IBM Plex Sans KR"/>
                <a:cs typeface="Hanken Grotesk"/>
                <a:sym typeface="Hanken Grotesk"/>
              </a:rPr>
              <a:t>데이터</a:t>
            </a:r>
            <a:r>
              <a:rPr lang="en-US" sz="1300">
                <a:latin typeface="IBM Plex Sans KR"/>
                <a:ea typeface="IBM Plex Sans KR"/>
                <a:cs typeface="Hanken Grotesk"/>
                <a:sym typeface="Hanken Grotesk"/>
              </a:rPr>
              <a:t> </a:t>
            </a:r>
            <a:r>
              <a:rPr lang="en-US" sz="1300" err="1">
                <a:latin typeface="IBM Plex Sans KR"/>
                <a:ea typeface="IBM Plex Sans KR"/>
                <a:cs typeface="Hanken Grotesk"/>
                <a:sym typeface="Hanken Grotesk"/>
              </a:rPr>
              <a:t>구성</a:t>
            </a:r>
            <a:r>
              <a:rPr lang="en-US" sz="1300">
                <a:latin typeface="IBM Plex Sans KR"/>
                <a:ea typeface="IBM Plex Sans KR"/>
                <a:cs typeface="Hanken Grotesk"/>
                <a:sym typeface="Hanken Grotesk"/>
              </a:rPr>
              <a:t>, </a:t>
            </a:r>
            <a:r>
              <a:rPr lang="en-US" sz="1300" err="1">
                <a:latin typeface="IBM Plex Sans KR"/>
                <a:ea typeface="IBM Plex Sans KR"/>
                <a:cs typeface="Hanken Grotesk"/>
                <a:sym typeface="Hanken Grotesk"/>
              </a:rPr>
              <a:t>평가지표</a:t>
            </a:r>
            <a:endParaRPr sz="1300" err="1">
              <a:latin typeface="IBM Plex Sans KR"/>
              <a:ea typeface="IBM Plex Sans KR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2473813" y="1764475"/>
            <a:ext cx="1923000" cy="7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5000" rIns="0" bIns="0" anchor="t" anchorCtr="0">
            <a:noAutofit/>
          </a:bodyPr>
          <a:lstStyle/>
          <a:p>
            <a:pPr marL="0" marR="0" lvl="0" indent="0" algn="l" rtl="0">
              <a:lnSpc>
                <a:spcPct val="979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36" b="1" i="0" u="none" strike="noStrike" cap="none">
                <a:solidFill>
                  <a:srgbClr val="567C75"/>
                </a:solidFill>
                <a:latin typeface="IBM Plex Sans KR Medium"/>
                <a:ea typeface="IBM Plex Sans KR Medium"/>
                <a:cs typeface="Hanken Grotesk"/>
                <a:sym typeface="Hanken Grotesk"/>
              </a:rPr>
              <a:t>01</a:t>
            </a:r>
            <a:endParaRPr sz="699" b="1">
              <a:latin typeface="IBM Plex Sans KR Medium"/>
              <a:ea typeface="IBM Plex Sans KR Medium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4694827" y="3438017"/>
            <a:ext cx="37542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00" rIns="0" bIns="0" anchor="t" anchorCtr="0">
            <a:noAutofit/>
          </a:bodyPr>
          <a:lstStyle/>
          <a:p>
            <a:pPr marL="0" marR="0" lvl="0" indent="0" algn="l" rtl="0">
              <a:lnSpc>
                <a:spcPct val="979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567C75"/>
                </a:solidFill>
                <a:latin typeface="IBM Plex Sans KR Medium"/>
                <a:ea typeface="IBM Plex Sans KR Medium"/>
                <a:cs typeface="Hanken Grotesk SemiBold"/>
                <a:sym typeface="Hanken Grotesk SemiBold"/>
              </a:rPr>
              <a:t>데이터 분석 및 전처리</a:t>
            </a:r>
            <a:endParaRPr sz="3000">
              <a:latin typeface="IBM Plex Sans KR Medium"/>
              <a:ea typeface="IBM Plex Sans KR Medium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4708163" y="3978463"/>
            <a:ext cx="3090049" cy="22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600" rIns="0" bIns="0" anchor="t" anchorCtr="0">
            <a:noAutofit/>
          </a:bodyPr>
          <a:lstStyle/>
          <a:p>
            <a:pPr marL="0" marR="0" lvl="0" indent="0" algn="l" rtl="0">
              <a:lnSpc>
                <a:spcPct val="979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1">
                <a:latin typeface="IBM Plex Sans KR"/>
                <a:ea typeface="IBM Plex Sans KR"/>
                <a:cs typeface="Hanken Grotesk"/>
                <a:sym typeface="Hanken Grotesk"/>
              </a:rPr>
              <a:t>변수 분석, 결측치 처리, 데이터 누수 방지</a:t>
            </a:r>
            <a:endParaRPr sz="699">
              <a:latin typeface="IBM Plex Sans KR"/>
              <a:ea typeface="IBM Plex Sans KR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2473813" y="3488730"/>
            <a:ext cx="1923000" cy="7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5000" rIns="0" bIns="0" anchor="t" anchorCtr="0">
            <a:noAutofit/>
          </a:bodyPr>
          <a:lstStyle/>
          <a:p>
            <a:pPr marL="0" marR="0" lvl="0" indent="0" algn="l" rtl="0">
              <a:lnSpc>
                <a:spcPct val="979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36" b="1" i="0" u="none" strike="noStrike" cap="none">
                <a:solidFill>
                  <a:srgbClr val="567C75"/>
                </a:solidFill>
                <a:latin typeface="IBM Plex Sans KR Medium"/>
                <a:ea typeface="IBM Plex Sans KR Medium"/>
                <a:cs typeface="Hanken Grotesk"/>
                <a:sym typeface="Hanken Grotesk"/>
              </a:rPr>
              <a:t>02</a:t>
            </a:r>
            <a:endParaRPr sz="699" b="1">
              <a:latin typeface="IBM Plex Sans KR Medium"/>
              <a:ea typeface="IBM Plex Sans KR Medium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4694827" y="5162271"/>
            <a:ext cx="37542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00" rIns="0" bIns="0" anchor="t" anchorCtr="0">
            <a:noAutofit/>
          </a:bodyPr>
          <a:lstStyle/>
          <a:p>
            <a:pPr marL="0" marR="0" lvl="0" indent="0" algn="l" rtl="0">
              <a:lnSpc>
                <a:spcPct val="979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567C75"/>
                </a:solidFill>
                <a:latin typeface="IBM Plex Sans KR Medium"/>
                <a:ea typeface="IBM Plex Sans KR Medium"/>
                <a:cs typeface="Hanken Grotesk SemiBold"/>
                <a:sym typeface="Hanken Grotesk SemiBold"/>
              </a:rPr>
              <a:t>모델링 전략</a:t>
            </a:r>
            <a:endParaRPr sz="3000" b="1">
              <a:latin typeface="IBM Plex Sans KR Medium"/>
              <a:ea typeface="IBM Plex Sans KR Medium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4702762" y="5772322"/>
            <a:ext cx="2944563" cy="172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600" rIns="0" bIns="0" anchor="t" anchorCtr="0">
            <a:noAutofit/>
          </a:bodyPr>
          <a:lstStyle/>
          <a:p>
            <a:pPr marL="0" marR="0" lvl="0" indent="0" algn="l" rtl="0">
              <a:lnSpc>
                <a:spcPct val="979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1">
                <a:latin typeface="IBM Plex Sans KR"/>
                <a:ea typeface="IBM Plex Sans KR"/>
                <a:cs typeface="Hanken Grotesk"/>
                <a:sym typeface="Hanken Grotesk"/>
              </a:rPr>
              <a:t>파생변수, ExtraTrees 모델, 분위수 예측</a:t>
            </a:r>
            <a:endParaRPr sz="699">
              <a:latin typeface="IBM Plex Sans KR"/>
              <a:ea typeface="IBM Plex Sans KR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2473813" y="5212985"/>
            <a:ext cx="1923000" cy="7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5000" rIns="0" bIns="0" anchor="t" anchorCtr="0">
            <a:noAutofit/>
          </a:bodyPr>
          <a:lstStyle/>
          <a:p>
            <a:pPr marL="0" marR="0" lvl="0" indent="0" algn="l" rtl="0">
              <a:lnSpc>
                <a:spcPct val="979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36" b="1" i="0" u="none" strike="noStrike" cap="none">
                <a:solidFill>
                  <a:srgbClr val="567C75"/>
                </a:solidFill>
                <a:latin typeface="IBM Plex Sans KR Medium"/>
                <a:ea typeface="IBM Plex Sans KR Medium"/>
                <a:cs typeface="Hanken Grotesk"/>
                <a:sym typeface="Hanken Grotesk"/>
              </a:rPr>
              <a:t>03</a:t>
            </a:r>
            <a:endParaRPr sz="699" b="1">
              <a:latin typeface="IBM Plex Sans KR Medium"/>
              <a:ea typeface="IBM Plex Sans KR Medium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5300" y="6588587"/>
            <a:ext cx="7698948" cy="1337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75300" y="8312841"/>
            <a:ext cx="7698948" cy="1337564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4694878" y="6848493"/>
            <a:ext cx="37542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00" rIns="0" bIns="0" anchor="t" anchorCtr="0">
            <a:noAutofit/>
          </a:bodyPr>
          <a:lstStyle/>
          <a:p>
            <a:pPr marL="0" marR="0" lvl="0" indent="0" algn="l" rtl="0">
              <a:lnSpc>
                <a:spcPct val="979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567C75"/>
                </a:solidFill>
                <a:latin typeface="IBM Plex Sans KR Medium"/>
                <a:ea typeface="IBM Plex Sans KR Medium"/>
                <a:cs typeface="Hanken Grotesk SemiBold"/>
                <a:sym typeface="Hanken Grotesk SemiBold"/>
              </a:rPr>
              <a:t>성능 개선 과정</a:t>
            </a:r>
            <a:endParaRPr sz="3000">
              <a:latin typeface="IBM Plex Sans KR Medium"/>
              <a:ea typeface="IBM Plex Sans KR Medium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694875" y="7369652"/>
            <a:ext cx="2566500" cy="2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600" rIns="0" bIns="0" anchor="t" anchorCtr="0">
            <a:noAutofit/>
          </a:bodyPr>
          <a:lstStyle/>
          <a:p>
            <a:pPr>
              <a:lnSpc>
                <a:spcPct val="97940"/>
              </a:lnSpc>
            </a:pPr>
            <a:r>
              <a:rPr lang="ko-KR" altLang="en-US" sz="1300" err="1">
                <a:latin typeface="IBM Plex Sans KR"/>
                <a:ea typeface="IBM Plex Sans KR"/>
                <a:cs typeface="Hanken Grotesk"/>
                <a:sym typeface="Hanken Grotesk"/>
              </a:rPr>
              <a:t>버전</a:t>
            </a:r>
            <a:r>
              <a:rPr lang="en-US" sz="1300">
                <a:latin typeface="IBM Plex Sans KR"/>
                <a:ea typeface="IBM Plex Sans KR"/>
                <a:cs typeface="Hanken Grotesk"/>
                <a:sym typeface="Hanken Grotesk"/>
              </a:rPr>
              <a:t> </a:t>
            </a:r>
            <a:r>
              <a:rPr lang="ko-KR" altLang="en-US" sz="1300">
                <a:latin typeface="IBM Plex Sans KR"/>
                <a:ea typeface="IBM Plex Sans KR"/>
                <a:cs typeface="Hanken Grotesk"/>
                <a:sym typeface="Hanken Grotesk"/>
              </a:rPr>
              <a:t>별</a:t>
            </a:r>
            <a:r>
              <a:rPr lang="en-US" sz="1300">
                <a:latin typeface="IBM Plex Sans KR"/>
                <a:ea typeface="IBM Plex Sans KR"/>
                <a:cs typeface="Hanken Grotesk"/>
                <a:sym typeface="Hanken Grotesk"/>
              </a:rPr>
              <a:t> </a:t>
            </a:r>
            <a:r>
              <a:rPr lang="ko-KR" altLang="en-US" sz="1300">
                <a:latin typeface="IBM Plex Sans KR"/>
                <a:ea typeface="IBM Plex Sans KR"/>
                <a:cs typeface="Hanken Grotesk"/>
                <a:sym typeface="Hanken Grotesk"/>
              </a:rPr>
              <a:t>실험</a:t>
            </a:r>
            <a:r>
              <a:rPr lang="en-US" sz="1300">
                <a:latin typeface="IBM Plex Sans KR"/>
                <a:ea typeface="IBM Plex Sans KR"/>
                <a:cs typeface="Hanken Grotesk"/>
                <a:sym typeface="Hanken Grotesk"/>
              </a:rPr>
              <a:t> &amp; MAE </a:t>
            </a:r>
            <a:r>
              <a:rPr lang="en-US" sz="1300" err="1">
                <a:latin typeface="IBM Plex Sans KR"/>
                <a:ea typeface="IBM Plex Sans KR"/>
                <a:cs typeface="Hanken Grotesk"/>
                <a:sym typeface="Hanken Grotesk"/>
              </a:rPr>
              <a:t>변화</a:t>
            </a:r>
            <a:endParaRPr sz="1300" err="1">
              <a:latin typeface="IBM Plex Sans KR"/>
              <a:ea typeface="IBM Plex Sans KR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2473864" y="6899206"/>
            <a:ext cx="1923000" cy="7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5000" rIns="0" bIns="0" anchor="t" anchorCtr="0">
            <a:noAutofit/>
          </a:bodyPr>
          <a:lstStyle/>
          <a:p>
            <a:pPr marL="0" marR="0" lvl="0" indent="0" algn="l" rtl="0">
              <a:lnSpc>
                <a:spcPct val="979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36" b="1">
                <a:solidFill>
                  <a:srgbClr val="567C75"/>
                </a:solidFill>
                <a:latin typeface="IBM Plex Sans KR Medium"/>
                <a:ea typeface="IBM Plex Sans KR Medium"/>
                <a:cs typeface="Hanken Grotesk"/>
                <a:sym typeface="Hanken Grotesk"/>
              </a:rPr>
              <a:t>04</a:t>
            </a:r>
            <a:endParaRPr sz="699" b="1">
              <a:latin typeface="IBM Plex Sans KR Medium"/>
              <a:ea typeface="IBM Plex Sans KR Medium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4694878" y="8572747"/>
            <a:ext cx="37542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100" rIns="0" bIns="0" anchor="t" anchorCtr="0">
            <a:noAutofit/>
          </a:bodyPr>
          <a:lstStyle/>
          <a:p>
            <a:pPr marL="0" marR="0" lvl="0" indent="0" algn="l" rtl="0">
              <a:lnSpc>
                <a:spcPct val="979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567C75"/>
                </a:solidFill>
                <a:latin typeface="IBM Plex Sans KR Medium"/>
                <a:ea typeface="IBM Plex Sans KR Medium"/>
                <a:cs typeface="Hanken Grotesk SemiBold"/>
                <a:sym typeface="Hanken Grotesk SemiBold"/>
              </a:rPr>
              <a:t>최종 결과 및 결론</a:t>
            </a:r>
            <a:endParaRPr sz="3000" b="1">
              <a:latin typeface="IBM Plex Sans KR Medium"/>
              <a:ea typeface="IBM Plex Sans KR Medium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4737250" y="9117794"/>
            <a:ext cx="2698500" cy="2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600" rIns="0" bIns="0" anchor="t" anchorCtr="0">
            <a:noAutofit/>
          </a:bodyPr>
          <a:lstStyle/>
          <a:p>
            <a:pPr>
              <a:lnSpc>
                <a:spcPct val="97940"/>
              </a:lnSpc>
            </a:pPr>
            <a:r>
              <a:rPr lang="en-US" sz="1300">
                <a:latin typeface="IBM Plex Sans KR"/>
                <a:ea typeface="IBM Plex Sans KR"/>
                <a:cs typeface="Hanken Grotesk"/>
                <a:sym typeface="Hanken Grotesk"/>
              </a:rPr>
              <a:t>Public MAE &amp; </a:t>
            </a:r>
            <a:r>
              <a:rPr lang="en-US" sz="1300" err="1">
                <a:latin typeface="IBM Plex Sans KR"/>
                <a:ea typeface="IBM Plex Sans KR"/>
                <a:cs typeface="Hanken Grotesk"/>
                <a:sym typeface="Hanken Grotesk"/>
              </a:rPr>
              <a:t>핵심</a:t>
            </a:r>
            <a:r>
              <a:rPr lang="en-US" sz="1300">
                <a:latin typeface="IBM Plex Sans KR"/>
                <a:ea typeface="IBM Plex Sans KR"/>
                <a:cs typeface="Hanken Grotesk"/>
                <a:sym typeface="Hanken Grotesk"/>
              </a:rPr>
              <a:t> </a:t>
            </a:r>
            <a:r>
              <a:rPr lang="en-US" sz="1300" err="1">
                <a:latin typeface="IBM Plex Sans KR"/>
                <a:ea typeface="IBM Plex Sans KR"/>
                <a:cs typeface="Hanken Grotesk"/>
                <a:sym typeface="Hanken Grotesk"/>
              </a:rPr>
              <a:t>인사이트</a:t>
            </a:r>
            <a:endParaRPr sz="1300" err="1">
              <a:latin typeface="IBM Plex Sans KR"/>
              <a:ea typeface="IBM Plex Sans KR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2473864" y="8623461"/>
            <a:ext cx="1923000" cy="7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5000" rIns="0" bIns="0" anchor="t" anchorCtr="0">
            <a:noAutofit/>
          </a:bodyPr>
          <a:lstStyle/>
          <a:p>
            <a:pPr marL="0" marR="0" lvl="0" indent="0" algn="l" rtl="0">
              <a:lnSpc>
                <a:spcPct val="979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36" b="1">
                <a:solidFill>
                  <a:srgbClr val="567C75"/>
                </a:solidFill>
                <a:latin typeface="IBM Plex Sans KR Medium"/>
                <a:ea typeface="IBM Plex Sans KR Medium"/>
                <a:cs typeface="Hanken Grotesk"/>
                <a:sym typeface="Hanken Grotesk"/>
              </a:rPr>
              <a:t>05</a:t>
            </a:r>
            <a:endParaRPr sz="699" b="1">
              <a:latin typeface="IBM Plex Sans KR Medium"/>
              <a:ea typeface="IBM Plex Sans KR Medium"/>
            </a:endParaRPr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39275" y="0"/>
            <a:ext cx="94488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17;p14">
            <a:extLst>
              <a:ext uri="{FF2B5EF4-FFF2-40B4-BE49-F238E27FC236}">
                <a16:creationId xmlns:a16="http://schemas.microsoft.com/office/drawing/2014/main" id="{6162083B-5ADC-6B93-628A-D82A1B260E6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19976" t="9848" r="23784" b="13984"/>
          <a:stretch/>
        </p:blipFill>
        <p:spPr>
          <a:xfrm>
            <a:off x="9515400" y="1304118"/>
            <a:ext cx="8848723" cy="899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Shape 121">
          <a:extLst>
            <a:ext uri="{FF2B5EF4-FFF2-40B4-BE49-F238E27FC236}">
              <a16:creationId xmlns:a16="http://schemas.microsoft.com/office/drawing/2014/main" id="{C0F49FD9-3DB3-8A11-7932-F1AC9239E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5">
            <a:extLst>
              <a:ext uri="{FF2B5EF4-FFF2-40B4-BE49-F238E27FC236}">
                <a16:creationId xmlns:a16="http://schemas.microsoft.com/office/drawing/2014/main" id="{D430177F-4C36-8C39-A4DA-FF62242D052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030075" y="1914525"/>
            <a:ext cx="5343525" cy="626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>
            <a:extLst>
              <a:ext uri="{FF2B5EF4-FFF2-40B4-BE49-F238E27FC236}">
                <a16:creationId xmlns:a16="http://schemas.microsoft.com/office/drawing/2014/main" id="{6CD1BBE3-58C5-818A-A86D-9FD45428C52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0100" y="1914525"/>
            <a:ext cx="5343525" cy="6267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>
            <a:extLst>
              <a:ext uri="{FF2B5EF4-FFF2-40B4-BE49-F238E27FC236}">
                <a16:creationId xmlns:a16="http://schemas.microsoft.com/office/drawing/2014/main" id="{932A65C5-1545-6B0C-D38E-33D61947D963}"/>
              </a:ext>
            </a:extLst>
          </p:cNvPr>
          <p:cNvSpPr txBox="1"/>
          <p:nvPr/>
        </p:nvSpPr>
        <p:spPr>
          <a:xfrm>
            <a:off x="1143000" y="2114550"/>
            <a:ext cx="4981500" cy="58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IBM Plex Sans KR"/>
              <a:ea typeface="IBM Plex Sans KR"/>
              <a:cs typeface="Calibri"/>
              <a:sym typeface="Calibri"/>
            </a:endParaRPr>
          </a:p>
        </p:txBody>
      </p:sp>
      <p:pic>
        <p:nvPicPr>
          <p:cNvPr id="125" name="Google Shape;125;p15">
            <a:extLst>
              <a:ext uri="{FF2B5EF4-FFF2-40B4-BE49-F238E27FC236}">
                <a16:creationId xmlns:a16="http://schemas.microsoft.com/office/drawing/2014/main" id="{C18FB783-5B28-36BC-DC7B-90DDE04529F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77000" y="1914525"/>
            <a:ext cx="5343525" cy="626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>
            <a:extLst>
              <a:ext uri="{FF2B5EF4-FFF2-40B4-BE49-F238E27FC236}">
                <a16:creationId xmlns:a16="http://schemas.microsoft.com/office/drawing/2014/main" id="{9DD12EF8-27FF-6A0D-FAE7-C293C582E1E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21759" t="19423" r="27567" b="12591"/>
          <a:stretch/>
        </p:blipFill>
        <p:spPr>
          <a:xfrm>
            <a:off x="1685887" y="4262438"/>
            <a:ext cx="357187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>
            <a:extLst>
              <a:ext uri="{FF2B5EF4-FFF2-40B4-BE49-F238E27FC236}">
                <a16:creationId xmlns:a16="http://schemas.microsoft.com/office/drawing/2014/main" id="{0CE7F212-5BD4-C975-B19C-D5F51F249448}"/>
              </a:ext>
            </a:extLst>
          </p:cNvPr>
          <p:cNvSpPr txBox="1"/>
          <p:nvPr/>
        </p:nvSpPr>
        <p:spPr>
          <a:xfrm>
            <a:off x="962025" y="571500"/>
            <a:ext cx="9715500" cy="7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9100" rIns="0" bIns="0" anchor="t" anchorCtr="0">
            <a:noAutofit/>
          </a:bodyPr>
          <a:lstStyle/>
          <a:p>
            <a:pPr>
              <a:lnSpc>
                <a:spcPct val="97940"/>
              </a:lnSpc>
            </a:pPr>
            <a:r>
              <a:rPr lang="en-US" sz="4200" b="1">
                <a:solidFill>
                  <a:srgbClr val="567C75"/>
                </a:solidFill>
                <a:latin typeface="IBM Plex Sans KR Medium"/>
                <a:ea typeface="IBM Plex Sans KR Medium"/>
                <a:cs typeface="Hanken Grotesk ExtraBold"/>
                <a:sym typeface="Hanken Grotesk ExtraBold"/>
              </a:rPr>
              <a:t>01  </a:t>
            </a:r>
            <a:r>
              <a:rPr lang="en-US" sz="4200" b="1" err="1">
                <a:solidFill>
                  <a:srgbClr val="567C75"/>
                </a:solidFill>
                <a:latin typeface="IBM Plex Sans KR Medium"/>
                <a:ea typeface="IBM Plex Sans KR Medium"/>
                <a:cs typeface="Hanken Grotesk ExtraBold"/>
                <a:sym typeface="Hanken Grotesk ExtraBold"/>
              </a:rPr>
              <a:t>프로젝트</a:t>
            </a:r>
            <a:r>
              <a:rPr lang="en-US" sz="4200" b="1">
                <a:solidFill>
                  <a:srgbClr val="567C75"/>
                </a:solidFill>
                <a:latin typeface="IBM Plex Sans KR Medium"/>
                <a:ea typeface="IBM Plex Sans KR Medium"/>
                <a:cs typeface="Hanken Grotesk ExtraBold"/>
                <a:sym typeface="Hanken Grotesk ExtraBold"/>
              </a:rPr>
              <a:t> </a:t>
            </a:r>
            <a:r>
              <a:rPr lang="en-US" sz="4200" b="1" err="1">
                <a:solidFill>
                  <a:srgbClr val="567C75"/>
                </a:solidFill>
                <a:latin typeface="IBM Plex Sans KR Medium"/>
                <a:ea typeface="IBM Plex Sans KR Medium"/>
                <a:cs typeface="Hanken Grotesk ExtraBold"/>
                <a:sym typeface="Hanken Grotesk ExtraBold"/>
              </a:rPr>
              <a:t>소개</a:t>
            </a:r>
            <a:r>
              <a:rPr lang="en-US" sz="4200" b="1">
                <a:solidFill>
                  <a:srgbClr val="567C75"/>
                </a:solidFill>
                <a:latin typeface="IBM Plex Sans KR Medium"/>
                <a:ea typeface="IBM Plex Sans KR Medium"/>
                <a:cs typeface="Hanken Grotesk ExtraBold"/>
                <a:sym typeface="Hanken Grotesk ExtraBold"/>
              </a:rPr>
              <a:t> </a:t>
            </a:r>
            <a:r>
              <a:rPr lang="en-US" sz="2400">
                <a:solidFill>
                  <a:srgbClr val="567C75"/>
                </a:solidFill>
                <a:latin typeface="IBM Plex Sans KR Medium"/>
                <a:ea typeface="IBM Plex Sans KR Medium"/>
                <a:cs typeface="Hanken Grotesk ExtraBold"/>
                <a:sym typeface="Hanken Grotesk ExtraBold"/>
              </a:rPr>
              <a:t>- </a:t>
            </a:r>
            <a:r>
              <a:rPr lang="ko-KR" altLang="en-US" sz="2400" err="1">
                <a:solidFill>
                  <a:srgbClr val="567C75"/>
                </a:solidFill>
                <a:latin typeface="IBM Plex Sans KR Medium"/>
                <a:ea typeface="IBM Plex Sans KR Medium"/>
                <a:cs typeface="Hanken Grotesk ExtraBold"/>
                <a:sym typeface="Hanken Grotesk ExtraBold"/>
              </a:rPr>
              <a:t>배경</a:t>
            </a:r>
            <a:r>
              <a:rPr lang="en-US" sz="2400">
                <a:solidFill>
                  <a:srgbClr val="567C75"/>
                </a:solidFill>
                <a:latin typeface="IBM Plex Sans KR Medium"/>
                <a:ea typeface="IBM Plex Sans KR Medium"/>
                <a:cs typeface="Hanken Grotesk ExtraBold"/>
                <a:sym typeface="Hanken Grotesk ExtraBold"/>
              </a:rPr>
              <a:t> </a:t>
            </a:r>
            <a:r>
              <a:rPr lang="ko-KR" altLang="en-US" sz="2400">
                <a:solidFill>
                  <a:srgbClr val="567C75"/>
                </a:solidFill>
                <a:latin typeface="IBM Plex Sans KR Medium"/>
                <a:ea typeface="IBM Plex Sans KR Medium"/>
                <a:cs typeface="Hanken Grotesk ExtraBold"/>
                <a:sym typeface="Hanken Grotesk ExtraBold"/>
              </a:rPr>
              <a:t>및</a:t>
            </a:r>
            <a:r>
              <a:rPr lang="en-US" sz="2400">
                <a:solidFill>
                  <a:srgbClr val="567C75"/>
                </a:solidFill>
                <a:latin typeface="IBM Plex Sans KR Medium"/>
                <a:ea typeface="IBM Plex Sans KR Medium"/>
                <a:cs typeface="Hanken Grotesk ExtraBold"/>
                <a:sym typeface="Hanken Grotesk ExtraBold"/>
              </a:rPr>
              <a:t> </a:t>
            </a:r>
            <a:r>
              <a:rPr lang="ko-KR" altLang="en-US" sz="2400" err="1">
                <a:solidFill>
                  <a:srgbClr val="567C75"/>
                </a:solidFill>
                <a:latin typeface="IBM Plex Sans KR Medium"/>
                <a:ea typeface="IBM Plex Sans KR Medium"/>
                <a:cs typeface="Hanken Grotesk ExtraBold"/>
                <a:sym typeface="Hanken Grotesk ExtraBold"/>
              </a:rPr>
              <a:t>목표</a:t>
            </a:r>
            <a:endParaRPr lang="ko-KR" altLang="en-US" sz="2400" err="1">
              <a:solidFill>
                <a:srgbClr val="567C75"/>
              </a:solidFill>
              <a:latin typeface="IBM Plex Sans KR Medium"/>
              <a:ea typeface="IBM Plex Sans KR Medium"/>
            </a:endParaRPr>
          </a:p>
        </p:txBody>
      </p:sp>
      <p:pic>
        <p:nvPicPr>
          <p:cNvPr id="131" name="Google Shape;131;p15">
            <a:extLst>
              <a:ext uri="{FF2B5EF4-FFF2-40B4-BE49-F238E27FC236}">
                <a16:creationId xmlns:a16="http://schemas.microsoft.com/office/drawing/2014/main" id="{82DE8E0F-3549-FBCD-474C-6614EC050C7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0100" y="8553450"/>
            <a:ext cx="16697325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>
            <a:extLst>
              <a:ext uri="{FF2B5EF4-FFF2-40B4-BE49-F238E27FC236}">
                <a16:creationId xmlns:a16="http://schemas.microsoft.com/office/drawing/2014/main" id="{0A53C7BA-C996-E677-083E-1B7BE393A145}"/>
              </a:ext>
            </a:extLst>
          </p:cNvPr>
          <p:cNvSpPr txBox="1"/>
          <p:nvPr/>
        </p:nvSpPr>
        <p:spPr>
          <a:xfrm>
            <a:off x="4295775" y="8686800"/>
            <a:ext cx="97059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lnSpc>
                <a:spcPct val="116199"/>
              </a:lnSpc>
            </a:pPr>
            <a:r>
              <a:rPr lang="ko-KR" altLang="en-US" sz="2450" b="1">
                <a:latin typeface="IBM Plex Sans KR Medium"/>
                <a:ea typeface="IBM Plex Sans KR Medium"/>
                <a:cs typeface="Lato"/>
              </a:rPr>
              <a:t>개인별 스트레스 수준</a:t>
            </a:r>
            <a:r>
              <a:rPr lang="ko-KR" altLang="en-US" sz="2450">
                <a:latin typeface="IBM Plex Sans KR Medium"/>
                <a:ea typeface="IBM Plex Sans KR Medium"/>
                <a:cs typeface="Lato"/>
              </a:rPr>
              <a:t>을 </a:t>
            </a:r>
            <a:r>
              <a:rPr lang="ko-KR" altLang="en-US" sz="2450" b="1">
                <a:latin typeface="IBM Plex Sans KR Medium"/>
                <a:ea typeface="IBM Plex Sans KR Medium"/>
                <a:cs typeface="Lato"/>
              </a:rPr>
              <a:t>예측</a:t>
            </a:r>
            <a:r>
              <a:rPr lang="ko-KR" altLang="en-US" sz="2450">
                <a:latin typeface="IBM Plex Sans KR Medium"/>
                <a:ea typeface="IBM Plex Sans KR Medium"/>
                <a:cs typeface="Lato"/>
              </a:rPr>
              <a:t>하여 </a:t>
            </a:r>
            <a:r>
              <a:rPr lang="ko-KR" altLang="en-US" sz="2450" b="1">
                <a:solidFill>
                  <a:srgbClr val="567C75"/>
                </a:solidFill>
                <a:latin typeface="IBM Plex Sans KR Medium"/>
                <a:ea typeface="IBM Plex Sans KR Medium"/>
                <a:cs typeface="Lato"/>
              </a:rPr>
              <a:t>예방 중심의 건강 관리</a:t>
            </a:r>
            <a:r>
              <a:rPr lang="ko-KR" altLang="en-US" sz="2450">
                <a:solidFill>
                  <a:srgbClr val="567C75"/>
                </a:solidFill>
                <a:latin typeface="IBM Plex Sans KR Medium"/>
                <a:ea typeface="IBM Plex Sans KR Medium"/>
                <a:cs typeface="Lato"/>
              </a:rPr>
              <a:t>를 </a:t>
            </a:r>
            <a:r>
              <a:rPr lang="ko-KR" altLang="en-US" sz="2450" b="1">
                <a:solidFill>
                  <a:srgbClr val="567C75"/>
                </a:solidFill>
                <a:latin typeface="IBM Plex Sans KR Medium"/>
                <a:ea typeface="IBM Plex Sans KR Medium"/>
                <a:cs typeface="Lato"/>
              </a:rPr>
              <a:t>지원</a:t>
            </a:r>
            <a:r>
              <a:rPr lang="ko-KR" altLang="en-US" sz="2450">
                <a:latin typeface="IBM Plex Sans KR Medium"/>
                <a:ea typeface="IBM Plex Sans KR Medium"/>
                <a:cs typeface="Lato"/>
              </a:rPr>
              <a:t>합니다.</a:t>
            </a:r>
            <a:endParaRPr lang="en-US" sz="2450">
              <a:latin typeface="IBM Plex Sans KR Medium"/>
              <a:ea typeface="IBM Plex Sans KR Medium"/>
              <a:cs typeface="Lato"/>
            </a:endParaRPr>
          </a:p>
        </p:txBody>
      </p:sp>
      <p:sp>
        <p:nvSpPr>
          <p:cNvPr id="133" name="Google Shape;133;p15">
            <a:extLst>
              <a:ext uri="{FF2B5EF4-FFF2-40B4-BE49-F238E27FC236}">
                <a16:creationId xmlns:a16="http://schemas.microsoft.com/office/drawing/2014/main" id="{FA584308-F381-80C7-C800-0E725C4BF0A0}"/>
              </a:ext>
            </a:extLst>
          </p:cNvPr>
          <p:cNvSpPr txBox="1"/>
          <p:nvPr/>
        </p:nvSpPr>
        <p:spPr>
          <a:xfrm>
            <a:off x="1195463" y="2363321"/>
            <a:ext cx="4552800" cy="5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4450" rIns="0" bIns="0" anchor="t" anchorCtr="0">
            <a:noAutofit/>
          </a:bodyPr>
          <a:lstStyle/>
          <a:p>
            <a:pPr algn="ctr">
              <a:lnSpc>
                <a:spcPct val="97940"/>
              </a:lnSpc>
            </a:pPr>
            <a:r>
              <a:rPr lang="en-US" altLang="ko-KR" sz="3150" b="1" err="1">
                <a:solidFill>
                  <a:srgbClr val="567C75"/>
                </a:solidFill>
                <a:latin typeface="IBM Plex Sans KR"/>
                <a:ea typeface="IBM Plex Sans KR"/>
              </a:rPr>
              <a:t>누구나</a:t>
            </a:r>
            <a:r>
              <a:rPr lang="en-US" altLang="ko-KR" sz="3150" b="1">
                <a:solidFill>
                  <a:srgbClr val="567C75"/>
                </a:solidFill>
                <a:latin typeface="IBM Plex Sans KR"/>
                <a:ea typeface="IBM Plex Sans KR"/>
              </a:rPr>
              <a:t> </a:t>
            </a:r>
            <a:r>
              <a:rPr lang="en-US" altLang="ko-KR" sz="3150" b="1" err="1">
                <a:solidFill>
                  <a:srgbClr val="567C75"/>
                </a:solidFill>
                <a:latin typeface="IBM Plex Sans KR"/>
                <a:ea typeface="IBM Plex Sans KR"/>
              </a:rPr>
              <a:t>경험하는</a:t>
            </a:r>
            <a:r>
              <a:rPr lang="en-US" altLang="ko-KR" sz="3150" b="1">
                <a:solidFill>
                  <a:srgbClr val="567C75"/>
                </a:solidFill>
                <a:latin typeface="IBM Plex Sans KR"/>
                <a:ea typeface="IBM Plex Sans KR"/>
              </a:rPr>
              <a:t> </a:t>
            </a:r>
            <a:r>
              <a:rPr lang="en-US" altLang="ko-KR" sz="3150" b="1" err="1">
                <a:solidFill>
                  <a:srgbClr val="567C75"/>
                </a:solidFill>
                <a:latin typeface="IBM Plex Sans KR"/>
                <a:ea typeface="IBM Plex Sans KR"/>
              </a:rPr>
              <a:t>스트레스</a:t>
            </a:r>
          </a:p>
        </p:txBody>
      </p:sp>
      <p:pic>
        <p:nvPicPr>
          <p:cNvPr id="136" name="Google Shape;136;p15">
            <a:extLst>
              <a:ext uri="{FF2B5EF4-FFF2-40B4-BE49-F238E27FC236}">
                <a16:creationId xmlns:a16="http://schemas.microsoft.com/office/drawing/2014/main" id="{5D53A4CD-A226-B29D-2528-4DCDFEA9EC40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687550" y="6781800"/>
            <a:ext cx="509587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5">
            <a:extLst>
              <a:ext uri="{FF2B5EF4-FFF2-40B4-BE49-F238E27FC236}">
                <a16:creationId xmlns:a16="http://schemas.microsoft.com/office/drawing/2014/main" id="{62CBCDC5-5E51-D666-586A-636A201846AB}"/>
              </a:ext>
            </a:extLst>
          </p:cNvPr>
          <p:cNvSpPr txBox="1"/>
          <p:nvPr/>
        </p:nvSpPr>
        <p:spPr>
          <a:xfrm>
            <a:off x="1195450" y="3190875"/>
            <a:ext cx="45528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4450" rIns="0" bIns="0" anchor="t" anchorCtr="0">
            <a:noAutofit/>
          </a:bodyPr>
          <a:lstStyle/>
          <a:p>
            <a:pPr algn="ctr">
              <a:lnSpc>
                <a:spcPct val="97940"/>
              </a:lnSpc>
            </a:pPr>
            <a:r>
              <a:rPr lang="ko-KR" altLang="en-US" sz="2400">
                <a:latin typeface="IBM Plex Sans KR"/>
                <a:ea typeface="IBM Plex Sans KR"/>
                <a:sym typeface="Hanken Grotesk"/>
              </a:rPr>
              <a:t>스트레스는 일상에서 흔히 경험하며</a:t>
            </a:r>
            <a:endParaRPr lang="en-US" altLang="ko-KR" sz="2400">
              <a:latin typeface="IBM Plex Sans KR"/>
              <a:ea typeface="IBM Plex Sans KR"/>
              <a:sym typeface="Hanken Grotesk"/>
            </a:endParaRPr>
          </a:p>
          <a:p>
            <a:pPr algn="ctr">
              <a:lnSpc>
                <a:spcPct val="97940"/>
              </a:lnSpc>
            </a:pPr>
            <a:r>
              <a:rPr lang="ko-KR" altLang="en-US" sz="2400">
                <a:latin typeface="IBM Plex Sans KR"/>
                <a:ea typeface="IBM Plex Sans KR"/>
              </a:rPr>
              <a:t>신체적・정신적 건강에 영향을 줍니다.</a:t>
            </a:r>
          </a:p>
        </p:txBody>
      </p:sp>
      <p:sp>
        <p:nvSpPr>
          <p:cNvPr id="2" name="Google Shape;133;p15">
            <a:extLst>
              <a:ext uri="{FF2B5EF4-FFF2-40B4-BE49-F238E27FC236}">
                <a16:creationId xmlns:a16="http://schemas.microsoft.com/office/drawing/2014/main" id="{11EF9A69-A2F5-8821-B97E-509DC34DA508}"/>
              </a:ext>
            </a:extLst>
          </p:cNvPr>
          <p:cNvSpPr txBox="1"/>
          <p:nvPr/>
        </p:nvSpPr>
        <p:spPr>
          <a:xfrm>
            <a:off x="6870121" y="2363321"/>
            <a:ext cx="4552800" cy="5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4450" rIns="0" bIns="0" anchor="t" anchorCtr="0">
            <a:noAutofit/>
          </a:bodyPr>
          <a:lstStyle/>
          <a:p>
            <a:pPr algn="ctr">
              <a:lnSpc>
                <a:spcPct val="97940"/>
              </a:lnSpc>
            </a:pPr>
            <a:r>
              <a:rPr lang="ko-KR" altLang="en-US" sz="3150" b="1">
                <a:solidFill>
                  <a:srgbClr val="567C75"/>
                </a:solidFill>
                <a:latin typeface="IBM Plex Sans KR"/>
                <a:ea typeface="IBM Plex Sans KR"/>
              </a:rPr>
              <a:t>건강 데이터 기반 분석</a:t>
            </a:r>
          </a:p>
        </p:txBody>
      </p:sp>
      <p:sp>
        <p:nvSpPr>
          <p:cNvPr id="3" name="Google Shape;137;p15">
            <a:extLst>
              <a:ext uri="{FF2B5EF4-FFF2-40B4-BE49-F238E27FC236}">
                <a16:creationId xmlns:a16="http://schemas.microsoft.com/office/drawing/2014/main" id="{EE06D33E-AAF9-1575-322A-500C28D21A3F}"/>
              </a:ext>
            </a:extLst>
          </p:cNvPr>
          <p:cNvSpPr txBox="1"/>
          <p:nvPr/>
        </p:nvSpPr>
        <p:spPr>
          <a:xfrm>
            <a:off x="6870108" y="3085219"/>
            <a:ext cx="45528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4450" rIns="0" bIns="0" anchor="t" anchorCtr="0">
            <a:noAutofit/>
          </a:bodyPr>
          <a:lstStyle/>
          <a:p>
            <a:pPr algn="ctr">
              <a:lnSpc>
                <a:spcPct val="97940"/>
              </a:lnSpc>
            </a:pPr>
            <a:r>
              <a:rPr lang="ko-KR" altLang="en-US" sz="2400">
                <a:latin typeface="IBM Plex Sans KR"/>
                <a:ea typeface="IBM Plex Sans KR"/>
              </a:rPr>
              <a:t>신체 정보와 생활 습관을 활용하면</a:t>
            </a:r>
          </a:p>
          <a:p>
            <a:pPr algn="ctr">
              <a:lnSpc>
                <a:spcPct val="97940"/>
              </a:lnSpc>
            </a:pPr>
            <a:r>
              <a:rPr lang="ko-KR" altLang="en-US" sz="2400">
                <a:latin typeface="IBM Plex Sans KR"/>
                <a:ea typeface="IBM Plex Sans KR"/>
              </a:rPr>
              <a:t>스트레스 수준을 객관적으로 </a:t>
            </a:r>
          </a:p>
          <a:p>
            <a:pPr algn="ctr">
              <a:lnSpc>
                <a:spcPct val="97940"/>
              </a:lnSpc>
            </a:pPr>
            <a:r>
              <a:rPr lang="ko-KR" altLang="en-US" sz="2400">
                <a:latin typeface="IBM Plex Sans KR"/>
                <a:ea typeface="IBM Plex Sans KR"/>
              </a:rPr>
              <a:t>분석할 수 있습니다.</a:t>
            </a:r>
          </a:p>
        </p:txBody>
      </p:sp>
      <p:sp>
        <p:nvSpPr>
          <p:cNvPr id="6" name="Google Shape;133;p15">
            <a:extLst>
              <a:ext uri="{FF2B5EF4-FFF2-40B4-BE49-F238E27FC236}">
                <a16:creationId xmlns:a16="http://schemas.microsoft.com/office/drawing/2014/main" id="{492B9EA3-0E2F-8D89-7DD2-B58EB08CEC6A}"/>
              </a:ext>
            </a:extLst>
          </p:cNvPr>
          <p:cNvSpPr txBox="1"/>
          <p:nvPr/>
        </p:nvSpPr>
        <p:spPr>
          <a:xfrm>
            <a:off x="12413190" y="2363321"/>
            <a:ext cx="4552800" cy="5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4450" rIns="0" bIns="0" anchor="t" anchorCtr="0">
            <a:noAutofit/>
          </a:bodyPr>
          <a:lstStyle/>
          <a:p>
            <a:pPr algn="ctr">
              <a:lnSpc>
                <a:spcPct val="97940"/>
              </a:lnSpc>
            </a:pPr>
            <a:r>
              <a:rPr lang="en-US" altLang="ko-KR" sz="3150" b="1">
                <a:solidFill>
                  <a:srgbClr val="567C75"/>
                </a:solidFill>
                <a:latin typeface="IBM Plex Sans KR"/>
                <a:ea typeface="IBM Plex Sans KR"/>
              </a:rPr>
              <a:t>AI </a:t>
            </a:r>
            <a:r>
              <a:rPr lang="en-US" altLang="ko-KR" sz="3150" b="1" err="1">
                <a:solidFill>
                  <a:srgbClr val="567C75"/>
                </a:solidFill>
                <a:latin typeface="IBM Plex Sans KR"/>
                <a:ea typeface="IBM Plex Sans KR"/>
              </a:rPr>
              <a:t>스트레스</a:t>
            </a:r>
            <a:r>
              <a:rPr lang="en-US" altLang="ko-KR" sz="3150" b="1">
                <a:solidFill>
                  <a:srgbClr val="567C75"/>
                </a:solidFill>
                <a:latin typeface="IBM Plex Sans KR"/>
                <a:ea typeface="IBM Plex Sans KR"/>
              </a:rPr>
              <a:t> </a:t>
            </a:r>
            <a:r>
              <a:rPr lang="en-US" altLang="ko-KR" sz="3150" b="1" err="1">
                <a:solidFill>
                  <a:srgbClr val="567C75"/>
                </a:solidFill>
                <a:latin typeface="IBM Plex Sans KR"/>
                <a:ea typeface="IBM Plex Sans KR"/>
              </a:rPr>
              <a:t>점수</a:t>
            </a:r>
            <a:r>
              <a:rPr lang="en-US" altLang="ko-KR" sz="3150" b="1">
                <a:solidFill>
                  <a:srgbClr val="567C75"/>
                </a:solidFill>
                <a:latin typeface="IBM Plex Sans KR"/>
                <a:ea typeface="IBM Plex Sans KR"/>
              </a:rPr>
              <a:t> </a:t>
            </a:r>
            <a:r>
              <a:rPr lang="en-US" altLang="ko-KR" sz="3150" b="1" err="1">
                <a:solidFill>
                  <a:srgbClr val="567C75"/>
                </a:solidFill>
                <a:latin typeface="IBM Plex Sans KR"/>
                <a:ea typeface="IBM Plex Sans KR"/>
              </a:rPr>
              <a:t>예측</a:t>
            </a:r>
          </a:p>
        </p:txBody>
      </p:sp>
      <p:sp>
        <p:nvSpPr>
          <p:cNvPr id="7" name="Google Shape;137;p15">
            <a:extLst>
              <a:ext uri="{FF2B5EF4-FFF2-40B4-BE49-F238E27FC236}">
                <a16:creationId xmlns:a16="http://schemas.microsoft.com/office/drawing/2014/main" id="{9FE8A490-2A85-171F-2BB9-51647A53A0AD}"/>
              </a:ext>
            </a:extLst>
          </p:cNvPr>
          <p:cNvSpPr txBox="1"/>
          <p:nvPr/>
        </p:nvSpPr>
        <p:spPr>
          <a:xfrm>
            <a:off x="12422702" y="3084978"/>
            <a:ext cx="45528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4450" rIns="0" bIns="0" anchor="t" anchorCtr="0">
            <a:noAutofit/>
          </a:bodyPr>
          <a:lstStyle/>
          <a:p>
            <a:pPr algn="ctr">
              <a:lnSpc>
                <a:spcPct val="97940"/>
              </a:lnSpc>
            </a:pPr>
            <a:r>
              <a:rPr lang="ko-KR" altLang="en-US" sz="2400">
                <a:latin typeface="IBM Plex Sans KR"/>
                <a:ea typeface="IBM Plex Sans KR"/>
              </a:rPr>
              <a:t>개인의 건강・생활 데이터를 기반으로</a:t>
            </a:r>
          </a:p>
          <a:p>
            <a:pPr algn="ctr">
              <a:lnSpc>
                <a:spcPct val="97940"/>
              </a:lnSpc>
            </a:pPr>
            <a:r>
              <a:rPr lang="ko-KR" altLang="en-US" sz="2400">
                <a:latin typeface="IBM Plex Sans KR"/>
                <a:ea typeface="IBM Plex Sans KR"/>
              </a:rPr>
              <a:t>0~1 범위의 스트레스 점수를 </a:t>
            </a:r>
          </a:p>
          <a:p>
            <a:pPr algn="ctr">
              <a:lnSpc>
                <a:spcPct val="97940"/>
              </a:lnSpc>
            </a:pPr>
            <a:r>
              <a:rPr lang="ko-KR" altLang="en-US" sz="2400">
                <a:latin typeface="IBM Plex Sans KR"/>
                <a:ea typeface="IBM Plex Sans KR"/>
              </a:rPr>
              <a:t>예측합니다.</a:t>
            </a:r>
          </a:p>
        </p:txBody>
      </p:sp>
      <p:pic>
        <p:nvPicPr>
          <p:cNvPr id="4" name="그림 3" descr="이미지 미리 보기">
            <a:extLst>
              <a:ext uri="{FF2B5EF4-FFF2-40B4-BE49-F238E27FC236}">
                <a16:creationId xmlns:a16="http://schemas.microsoft.com/office/drawing/2014/main" id="{0C53AD70-E263-CEA6-0D1C-0191E5CEBB9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7410" t="9929" r="14815" b="14355"/>
          <a:stretch>
            <a:fillRect/>
          </a:stretch>
        </p:blipFill>
        <p:spPr>
          <a:xfrm>
            <a:off x="7631194" y="4362269"/>
            <a:ext cx="3042253" cy="3499927"/>
          </a:xfrm>
          <a:prstGeom prst="rect">
            <a:avLst/>
          </a:prstGeom>
        </p:spPr>
      </p:pic>
      <p:pic>
        <p:nvPicPr>
          <p:cNvPr id="5" name="그림 4" descr="이미지 미리 보기">
            <a:extLst>
              <a:ext uri="{FF2B5EF4-FFF2-40B4-BE49-F238E27FC236}">
                <a16:creationId xmlns:a16="http://schemas.microsoft.com/office/drawing/2014/main" id="{0138E56D-3C03-0A74-1136-702692A3207C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5250" t="9246" r="3127" b="12986"/>
          <a:stretch>
            <a:fillRect/>
          </a:stretch>
        </p:blipFill>
        <p:spPr>
          <a:xfrm>
            <a:off x="12709072" y="4444037"/>
            <a:ext cx="3989538" cy="3318526"/>
          </a:xfrm>
          <a:prstGeom prst="rect">
            <a:avLst/>
          </a:prstGeom>
        </p:spPr>
      </p:pic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50D3532B-B980-54CA-342B-C2B0417FED7D}"/>
              </a:ext>
            </a:extLst>
          </p:cNvPr>
          <p:cNvSpPr/>
          <p:nvPr/>
        </p:nvSpPr>
        <p:spPr>
          <a:xfrm>
            <a:off x="594360" y="1353311"/>
            <a:ext cx="13323498" cy="73152"/>
          </a:xfrm>
          <a:prstGeom prst="roundRect">
            <a:avLst/>
          </a:prstGeom>
          <a:solidFill>
            <a:srgbClr val="E8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IBM Plex Sans KR" panose="020B0503050203000203" pitchFamily="34" charset="-127"/>
              <a:ea typeface="IBM Plex Sans KR" panose="020B0503050203000203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85701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8CA9EA8A-C319-16B6-8841-B7CD97D17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30;p15">
            <a:extLst>
              <a:ext uri="{FF2B5EF4-FFF2-40B4-BE49-F238E27FC236}">
                <a16:creationId xmlns:a16="http://schemas.microsoft.com/office/drawing/2014/main" id="{51D9618B-14A6-42E4-251D-1A9A0E3A4BEF}"/>
              </a:ext>
            </a:extLst>
          </p:cNvPr>
          <p:cNvSpPr txBox="1"/>
          <p:nvPr/>
        </p:nvSpPr>
        <p:spPr>
          <a:xfrm>
            <a:off x="962025" y="571500"/>
            <a:ext cx="9715500" cy="7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9100" rIns="0" bIns="0" anchor="t" anchorCtr="0">
            <a:noAutofit/>
          </a:bodyPr>
          <a:lstStyle/>
          <a:p>
            <a:pPr>
              <a:lnSpc>
                <a:spcPct val="97940"/>
              </a:lnSpc>
            </a:pPr>
            <a:r>
              <a:rPr lang="en-US" sz="4200" b="1">
                <a:solidFill>
                  <a:srgbClr val="567C75"/>
                </a:solidFill>
                <a:latin typeface="IBM Plex Sans KR Medium"/>
                <a:ea typeface="IBM Plex Sans KR Medium"/>
                <a:cs typeface="Hanken Grotesk ExtraBold"/>
                <a:sym typeface="Hanken Grotesk ExtraBold"/>
              </a:rPr>
              <a:t>01  </a:t>
            </a:r>
            <a:r>
              <a:rPr lang="en-US" sz="4200" b="1" err="1">
                <a:solidFill>
                  <a:srgbClr val="567C75"/>
                </a:solidFill>
                <a:latin typeface="IBM Plex Sans KR Medium"/>
                <a:ea typeface="IBM Plex Sans KR Medium"/>
                <a:cs typeface="Hanken Grotesk ExtraBold"/>
                <a:sym typeface="Hanken Grotesk ExtraBold"/>
              </a:rPr>
              <a:t>프로젝트</a:t>
            </a:r>
            <a:r>
              <a:rPr lang="en-US" sz="4200" b="1">
                <a:solidFill>
                  <a:srgbClr val="567C75"/>
                </a:solidFill>
                <a:latin typeface="IBM Plex Sans KR Medium"/>
                <a:ea typeface="IBM Plex Sans KR Medium"/>
                <a:cs typeface="Hanken Grotesk ExtraBold"/>
                <a:sym typeface="Hanken Grotesk ExtraBold"/>
              </a:rPr>
              <a:t> </a:t>
            </a:r>
            <a:r>
              <a:rPr lang="en-US" sz="4200" b="1" err="1">
                <a:solidFill>
                  <a:srgbClr val="567C75"/>
                </a:solidFill>
                <a:latin typeface="IBM Plex Sans KR Medium"/>
                <a:ea typeface="IBM Plex Sans KR Medium"/>
                <a:cs typeface="Hanken Grotesk ExtraBold"/>
                <a:sym typeface="Hanken Grotesk ExtraBold"/>
              </a:rPr>
              <a:t>소개</a:t>
            </a:r>
            <a:r>
              <a:rPr lang="en-US" sz="4200" b="1">
                <a:solidFill>
                  <a:srgbClr val="567C75"/>
                </a:solidFill>
                <a:latin typeface="IBM Plex Sans KR Medium"/>
                <a:ea typeface="IBM Plex Sans KR Medium"/>
                <a:cs typeface="Hanken Grotesk ExtraBold"/>
                <a:sym typeface="Hanken Grotesk ExtraBold"/>
              </a:rPr>
              <a:t> </a:t>
            </a:r>
            <a:r>
              <a:rPr lang="en-US" sz="2400">
                <a:solidFill>
                  <a:srgbClr val="567C75"/>
                </a:solidFill>
                <a:latin typeface="IBM Plex Sans KR Medium"/>
                <a:ea typeface="IBM Plex Sans KR Medium"/>
                <a:cs typeface="Hanken Grotesk ExtraBold"/>
                <a:sym typeface="Hanken Grotesk ExtraBold"/>
              </a:rPr>
              <a:t>- </a:t>
            </a:r>
            <a:r>
              <a:rPr lang="ko-KR" altLang="en-US" sz="2400">
                <a:solidFill>
                  <a:srgbClr val="567C75"/>
                </a:solidFill>
                <a:latin typeface="IBM Plex Sans KR Medium"/>
                <a:ea typeface="IBM Plex Sans KR Medium"/>
                <a:cs typeface="Hanken Grotesk ExtraBold"/>
                <a:sym typeface="Hanken Grotesk ExtraBold"/>
              </a:rPr>
              <a:t>팀</a:t>
            </a:r>
            <a:r>
              <a:rPr lang="en-US" sz="2400">
                <a:solidFill>
                  <a:srgbClr val="567C75"/>
                </a:solidFill>
                <a:latin typeface="IBM Plex Sans KR Medium"/>
                <a:ea typeface="IBM Plex Sans KR Medium"/>
                <a:cs typeface="Hanken Grotesk ExtraBold"/>
                <a:sym typeface="Hanken Grotesk ExtraBold"/>
              </a:rPr>
              <a:t> </a:t>
            </a:r>
            <a:r>
              <a:rPr lang="ko-KR" altLang="en-US" sz="2400">
                <a:solidFill>
                  <a:srgbClr val="567C75"/>
                </a:solidFill>
                <a:latin typeface="IBM Plex Sans KR Medium"/>
                <a:ea typeface="IBM Plex Sans KR Medium"/>
                <a:cs typeface="Hanken Grotesk ExtraBold"/>
                <a:sym typeface="Hanken Grotesk ExtraBold"/>
              </a:rPr>
              <a:t>역할</a:t>
            </a:r>
            <a:r>
              <a:rPr lang="en-US" altLang="ko-KR" sz="2400">
                <a:solidFill>
                  <a:srgbClr val="567C75"/>
                </a:solidFill>
                <a:latin typeface="IBM Plex Sans KR Medium"/>
                <a:ea typeface="IBM Plex Sans KR Medium"/>
                <a:cs typeface="Hanken Grotesk ExtraBold"/>
                <a:sym typeface="Hanken Grotesk ExtraBold"/>
              </a:rPr>
              <a:t> 및 </a:t>
            </a:r>
            <a:r>
              <a:rPr lang="en-US" altLang="ko-KR" sz="2400" err="1">
                <a:solidFill>
                  <a:srgbClr val="567C75"/>
                </a:solidFill>
                <a:latin typeface="IBM Plex Sans KR Medium"/>
                <a:ea typeface="IBM Plex Sans KR Medium"/>
                <a:cs typeface="Hanken Grotesk ExtraBold"/>
                <a:sym typeface="Hanken Grotesk ExtraBold"/>
              </a:rPr>
              <a:t>협업</a:t>
            </a:r>
            <a:r>
              <a:rPr lang="en-US" altLang="ko-KR" sz="2400">
                <a:solidFill>
                  <a:srgbClr val="567C75"/>
                </a:solidFill>
                <a:latin typeface="IBM Plex Sans KR Medium"/>
                <a:ea typeface="IBM Plex Sans KR Medium"/>
                <a:cs typeface="Hanken Grotesk ExtraBold"/>
                <a:sym typeface="Hanken Grotesk ExtraBold"/>
              </a:rPr>
              <a:t> </a:t>
            </a:r>
            <a:r>
              <a:rPr lang="en-US" altLang="ko-KR" sz="2400" err="1">
                <a:solidFill>
                  <a:srgbClr val="567C75"/>
                </a:solidFill>
                <a:latin typeface="IBM Plex Sans KR Medium"/>
                <a:ea typeface="IBM Plex Sans KR Medium"/>
                <a:cs typeface="Hanken Grotesk ExtraBold"/>
                <a:sym typeface="Hanken Grotesk ExtraBold"/>
              </a:rPr>
              <a:t>방식</a:t>
            </a:r>
            <a:endParaRPr lang="en-US" altLang="ko-KR" sz="2400" err="1">
              <a:solidFill>
                <a:srgbClr val="567C75"/>
              </a:solidFill>
              <a:latin typeface="IBM Plex Sans KR Medium"/>
              <a:ea typeface="IBM Plex Sans KR Medium"/>
            </a:endParaRPr>
          </a:p>
        </p:txBody>
      </p:sp>
      <p:sp>
        <p:nvSpPr>
          <p:cNvPr id="18" name="Google Shape;137;p15">
            <a:extLst>
              <a:ext uri="{FF2B5EF4-FFF2-40B4-BE49-F238E27FC236}">
                <a16:creationId xmlns:a16="http://schemas.microsoft.com/office/drawing/2014/main" id="{427F7DCE-265D-1CB3-05F0-E64A983A039B}"/>
              </a:ext>
            </a:extLst>
          </p:cNvPr>
          <p:cNvSpPr txBox="1"/>
          <p:nvPr/>
        </p:nvSpPr>
        <p:spPr>
          <a:xfrm>
            <a:off x="3071695" y="6339516"/>
            <a:ext cx="11734290" cy="592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4450" rIns="0" bIns="0" anchor="t" anchorCtr="0">
            <a:noAutofit/>
          </a:bodyPr>
          <a:lstStyle/>
          <a:p>
            <a:pPr algn="ctr">
              <a:lnSpc>
                <a:spcPct val="97940"/>
              </a:lnSpc>
            </a:pPr>
            <a:r>
              <a:rPr lang="ko-KR" altLang="en-US" sz="2800">
                <a:latin typeface="IBM Plex Sans KR"/>
                <a:ea typeface="IBM Plex Sans KR"/>
              </a:rPr>
              <a:t>가설 공유 ⇒ 개별 실험 </a:t>
            </a:r>
            <a:r>
              <a:rPr lang="ko-KR" sz="2800">
                <a:latin typeface="IBM Plex Sans KR"/>
                <a:ea typeface="IBM Plex Sans KR"/>
              </a:rPr>
              <a:t>⇒</a:t>
            </a:r>
            <a:r>
              <a:rPr lang="ko-KR" altLang="en-US" sz="2800">
                <a:latin typeface="IBM Plex Sans KR"/>
                <a:ea typeface="IBM Plex Sans KR"/>
              </a:rPr>
              <a:t> 결과 비교 </a:t>
            </a:r>
            <a:r>
              <a:rPr lang="ko-KR" sz="2800">
                <a:latin typeface="IBM Plex Sans KR"/>
                <a:ea typeface="IBM Plex Sans KR"/>
              </a:rPr>
              <a:t>⇒ 개선안 </a:t>
            </a:r>
            <a:r>
              <a:rPr lang="ko-KR" altLang="en-US" sz="2800">
                <a:latin typeface="IBM Plex Sans KR"/>
                <a:ea typeface="IBM Plex Sans KR"/>
              </a:rPr>
              <a:t>축적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C7C54C5A-EA35-04BB-05FB-9DB5F3C68A53}"/>
              </a:ext>
            </a:extLst>
          </p:cNvPr>
          <p:cNvSpPr/>
          <p:nvPr/>
        </p:nvSpPr>
        <p:spPr>
          <a:xfrm>
            <a:off x="1133060" y="7136295"/>
            <a:ext cx="16399565" cy="176916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Google Shape;137;p15">
            <a:extLst>
              <a:ext uri="{FF2B5EF4-FFF2-40B4-BE49-F238E27FC236}">
                <a16:creationId xmlns:a16="http://schemas.microsoft.com/office/drawing/2014/main" id="{32EA8BB6-2BCF-A09D-1889-11085A83846C}"/>
              </a:ext>
            </a:extLst>
          </p:cNvPr>
          <p:cNvSpPr txBox="1"/>
          <p:nvPr/>
        </p:nvSpPr>
        <p:spPr>
          <a:xfrm>
            <a:off x="3071695" y="9466591"/>
            <a:ext cx="11734290" cy="592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4450" rIns="0" bIns="0" anchor="t" anchorCtr="0">
            <a:noAutofit/>
          </a:bodyPr>
          <a:lstStyle/>
          <a:p>
            <a:pPr algn="ctr">
              <a:lnSpc>
                <a:spcPct val="97940"/>
              </a:lnSpc>
            </a:pPr>
            <a:r>
              <a:rPr lang="ko-KR" sz="2400">
                <a:ea typeface="IBM Plex Sans KR"/>
              </a:rPr>
              <a:t>Notion과 ZEP으로 소통하고, GitHub 저장소를 </a:t>
            </a:r>
            <a:r>
              <a:rPr lang="ko-KR" altLang="en-US" sz="2400">
                <a:ea typeface="IBM Plex Sans KR"/>
              </a:rPr>
              <a:t>통해 </a:t>
            </a:r>
            <a:r>
              <a:rPr lang="ko-KR" sz="2400">
                <a:ea typeface="IBM Plex Sans KR"/>
              </a:rPr>
              <a:t>코드와 실험 결과를 공유했습니다.</a:t>
            </a: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ACA71736-485E-D8A2-DE4F-6C187191B883}"/>
              </a:ext>
            </a:extLst>
          </p:cNvPr>
          <p:cNvGrpSpPr/>
          <p:nvPr/>
        </p:nvGrpSpPr>
        <p:grpSpPr>
          <a:xfrm>
            <a:off x="1138498" y="1906625"/>
            <a:ext cx="5287617" cy="3856382"/>
            <a:chOff x="426819" y="1906625"/>
            <a:chExt cx="5287617" cy="3856382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0E826DA3-9A1B-F216-FA43-5A4DD90D1EAE}"/>
                </a:ext>
              </a:extLst>
            </p:cNvPr>
            <p:cNvSpPr/>
            <p:nvPr/>
          </p:nvSpPr>
          <p:spPr>
            <a:xfrm>
              <a:off x="426819" y="1906625"/>
              <a:ext cx="5287617" cy="3856382"/>
            </a:xfrm>
            <a:prstGeom prst="roundRect">
              <a:avLst/>
            </a:prstGeom>
            <a:solidFill>
              <a:srgbClr val="EEF4F2"/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Google Shape;133;p15">
              <a:extLst>
                <a:ext uri="{FF2B5EF4-FFF2-40B4-BE49-F238E27FC236}">
                  <a16:creationId xmlns:a16="http://schemas.microsoft.com/office/drawing/2014/main" id="{30CFA887-31AD-89F9-8965-7FD1E3552A87}"/>
                </a:ext>
              </a:extLst>
            </p:cNvPr>
            <p:cNvSpPr txBox="1"/>
            <p:nvPr/>
          </p:nvSpPr>
          <p:spPr>
            <a:xfrm>
              <a:off x="656312" y="2341755"/>
              <a:ext cx="4552800" cy="57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4450" rIns="0" bIns="0" anchor="t" anchorCtr="0">
              <a:noAutofit/>
            </a:bodyPr>
            <a:lstStyle/>
            <a:p>
              <a:pPr algn="ctr">
                <a:lnSpc>
                  <a:spcPct val="97940"/>
                </a:lnSpc>
              </a:pPr>
              <a:r>
                <a:rPr lang="en-US" altLang="ko-KR" sz="3150" b="1">
                  <a:solidFill>
                    <a:srgbClr val="567C75"/>
                  </a:solidFill>
                  <a:latin typeface="IBM Plex Sans KR"/>
                  <a:ea typeface="IBM Plex Sans KR"/>
                </a:rPr>
                <a:t>Notion</a:t>
              </a:r>
              <a:endParaRPr lang="ko-KR" altLang="en-US"/>
            </a:p>
          </p:txBody>
        </p:sp>
        <p:sp>
          <p:nvSpPr>
            <p:cNvPr id="11" name="Google Shape;137;p15">
              <a:extLst>
                <a:ext uri="{FF2B5EF4-FFF2-40B4-BE49-F238E27FC236}">
                  <a16:creationId xmlns:a16="http://schemas.microsoft.com/office/drawing/2014/main" id="{0D20CBD1-F621-5A00-FB6B-B8384B0254B0}"/>
                </a:ext>
              </a:extLst>
            </p:cNvPr>
            <p:cNvSpPr txBox="1"/>
            <p:nvPr/>
          </p:nvSpPr>
          <p:spPr>
            <a:xfrm>
              <a:off x="656299" y="3190875"/>
              <a:ext cx="4552800" cy="19510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4450" rIns="0" bIns="0" anchor="t" anchorCtr="0">
              <a:noAutofit/>
            </a:bodyPr>
            <a:lstStyle/>
            <a:p>
              <a:pPr algn="ctr">
                <a:lnSpc>
                  <a:spcPct val="200000"/>
                </a:lnSpc>
              </a:pPr>
              <a:r>
                <a:rPr lang="ko-KR" altLang="en-US" sz="2400">
                  <a:latin typeface="IBM Plex Sans KR"/>
                  <a:ea typeface="IBM Plex Sans KR"/>
                </a:rPr>
                <a:t>일정 공유 및 링크 공유, </a:t>
              </a:r>
              <a:endParaRPr lang="ko-KR"/>
            </a:p>
            <a:p>
              <a:pPr algn="ctr">
                <a:lnSpc>
                  <a:spcPct val="200000"/>
                </a:lnSpc>
              </a:pPr>
              <a:r>
                <a:rPr lang="ko-KR" altLang="en-US" sz="2400">
                  <a:latin typeface="IBM Plex Sans KR"/>
                  <a:ea typeface="IBM Plex Sans KR"/>
                </a:rPr>
                <a:t>아이디어 및 모델 성능 기록</a:t>
              </a:r>
            </a:p>
          </p:txBody>
        </p:sp>
        <p:pic>
          <p:nvPicPr>
            <p:cNvPr id="26" name="그림 25" descr="Notion 아이콘, 로고, 기호 – PNG, SVG 무료 다운로드">
              <a:extLst>
                <a:ext uri="{FF2B5EF4-FFF2-40B4-BE49-F238E27FC236}">
                  <a16:creationId xmlns:a16="http://schemas.microsoft.com/office/drawing/2014/main" id="{9AF4B44A-2CE1-D494-51BE-AF93DBD6DE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1204" y="2165949"/>
              <a:ext cx="874145" cy="895711"/>
            </a:xfrm>
            <a:prstGeom prst="rect">
              <a:avLst/>
            </a:prstGeom>
          </p:spPr>
        </p:pic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44C24956-F521-1EF8-F7D6-B92C8352530E}"/>
              </a:ext>
            </a:extLst>
          </p:cNvPr>
          <p:cNvGrpSpPr/>
          <p:nvPr/>
        </p:nvGrpSpPr>
        <p:grpSpPr>
          <a:xfrm>
            <a:off x="6691753" y="1906625"/>
            <a:ext cx="5287617" cy="3856382"/>
            <a:chOff x="6314347" y="1906625"/>
            <a:chExt cx="5287617" cy="3856382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EE637071-B60B-7FE5-3971-7A9869CCD1C4}"/>
                </a:ext>
              </a:extLst>
            </p:cNvPr>
            <p:cNvSpPr/>
            <p:nvPr/>
          </p:nvSpPr>
          <p:spPr>
            <a:xfrm>
              <a:off x="6314347" y="1906625"/>
              <a:ext cx="5287617" cy="3856382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Google Shape;133;p15">
              <a:extLst>
                <a:ext uri="{FF2B5EF4-FFF2-40B4-BE49-F238E27FC236}">
                  <a16:creationId xmlns:a16="http://schemas.microsoft.com/office/drawing/2014/main" id="{26BCFA8E-E8C7-6F4C-8317-9476BBF8D0A5}"/>
                </a:ext>
              </a:extLst>
            </p:cNvPr>
            <p:cNvSpPr txBox="1"/>
            <p:nvPr/>
          </p:nvSpPr>
          <p:spPr>
            <a:xfrm>
              <a:off x="7880934" y="2363321"/>
              <a:ext cx="2051140" cy="57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4450" rIns="0" bIns="0" anchor="t" anchorCtr="0">
              <a:noAutofit/>
            </a:bodyPr>
            <a:lstStyle/>
            <a:p>
              <a:pPr algn="ctr">
                <a:lnSpc>
                  <a:spcPct val="97940"/>
                </a:lnSpc>
              </a:pPr>
              <a:r>
                <a:rPr lang="en-US" altLang="ko-KR" sz="3150" b="1" err="1">
                  <a:solidFill>
                    <a:srgbClr val="31859B"/>
                  </a:solidFill>
                  <a:latin typeface="IBM Plex Sans KR"/>
                  <a:ea typeface="IBM Plex Sans KR"/>
                </a:rPr>
                <a:t>GitHu</a:t>
              </a:r>
              <a:r>
                <a:rPr lang="en-US" altLang="ko-KR" sz="3150" b="1">
                  <a:solidFill>
                    <a:srgbClr val="31859B"/>
                  </a:solidFill>
                  <a:latin typeface="IBM Plex Sans KR"/>
                  <a:ea typeface="IBM Plex Sans KR"/>
                </a:rPr>
                <a:t>b</a:t>
              </a:r>
            </a:p>
          </p:txBody>
        </p:sp>
        <p:sp>
          <p:nvSpPr>
            <p:cNvPr id="15" name="Google Shape;137;p15">
              <a:extLst>
                <a:ext uri="{FF2B5EF4-FFF2-40B4-BE49-F238E27FC236}">
                  <a16:creationId xmlns:a16="http://schemas.microsoft.com/office/drawing/2014/main" id="{950B2713-9387-3E2E-7DAC-A5310336C6E0}"/>
                </a:ext>
              </a:extLst>
            </p:cNvPr>
            <p:cNvSpPr txBox="1"/>
            <p:nvPr/>
          </p:nvSpPr>
          <p:spPr>
            <a:xfrm>
              <a:off x="6673223" y="3212441"/>
              <a:ext cx="4552800" cy="22744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4450" rIns="0" bIns="0" anchor="t" anchorCtr="0">
              <a:noAutofit/>
            </a:bodyPr>
            <a:lstStyle/>
            <a:p>
              <a:pPr algn="ctr">
                <a:lnSpc>
                  <a:spcPct val="200000"/>
                </a:lnSpc>
              </a:pPr>
              <a:r>
                <a:rPr lang="ko-KR" altLang="en-US" sz="2400">
                  <a:latin typeface="IBM Plex Sans KR"/>
                  <a:ea typeface="IBM Plex Sans KR"/>
                </a:rPr>
                <a:t>코드 및 작업 파일 공유</a:t>
              </a:r>
              <a:endParaRPr lang="ko-KR"/>
            </a:p>
            <a:p>
              <a:pPr algn="ctr">
                <a:lnSpc>
                  <a:spcPct val="200000"/>
                </a:lnSpc>
              </a:pPr>
              <a:r>
                <a:rPr lang="ko-KR" altLang="en-US" sz="2400">
                  <a:latin typeface="IBM Plex Sans KR"/>
                  <a:ea typeface="IBM Plex Sans KR"/>
                </a:rPr>
                <a:t>실험 코드・ 설정 관리</a:t>
              </a:r>
            </a:p>
            <a:p>
              <a:pPr algn="ctr">
                <a:lnSpc>
                  <a:spcPct val="200000"/>
                </a:lnSpc>
              </a:pPr>
              <a:r>
                <a:rPr lang="ko-KR" altLang="en-US" sz="2400">
                  <a:latin typeface="IBM Plex Sans KR"/>
                  <a:ea typeface="IBM Plex Sans KR"/>
                </a:rPr>
                <a:t>로컬 실험 결과를 저장소에 기록</a:t>
              </a:r>
            </a:p>
          </p:txBody>
        </p:sp>
        <p:pic>
          <p:nvPicPr>
            <p:cNvPr id="27" name="그림 26" descr="Github 로고 - 무료 소셜 미디어개 아이콘">
              <a:extLst>
                <a:ext uri="{FF2B5EF4-FFF2-40B4-BE49-F238E27FC236}">
                  <a16:creationId xmlns:a16="http://schemas.microsoft.com/office/drawing/2014/main" id="{2E3335EC-59A5-5464-9946-938975A200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05600" y="2187515"/>
              <a:ext cx="852579" cy="895711"/>
            </a:xfrm>
            <a:prstGeom prst="rect">
              <a:avLst/>
            </a:prstGeom>
          </p:spPr>
        </p:pic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B9ADD213-ED60-FBEC-2F2A-14882A0026C6}"/>
              </a:ext>
            </a:extLst>
          </p:cNvPr>
          <p:cNvGrpSpPr/>
          <p:nvPr/>
        </p:nvGrpSpPr>
        <p:grpSpPr>
          <a:xfrm>
            <a:off x="12245007" y="1906624"/>
            <a:ext cx="5287617" cy="3856382"/>
            <a:chOff x="12158743" y="1777228"/>
            <a:chExt cx="5287617" cy="3856382"/>
          </a:xfrm>
        </p:grpSpPr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8DD77746-217A-C4C4-7E8D-8A58581FFCF1}"/>
                </a:ext>
              </a:extLst>
            </p:cNvPr>
            <p:cNvSpPr/>
            <p:nvPr/>
          </p:nvSpPr>
          <p:spPr>
            <a:xfrm>
              <a:off x="12158743" y="1777228"/>
              <a:ext cx="5287617" cy="3856382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Google Shape;133;p15">
              <a:extLst>
                <a:ext uri="{FF2B5EF4-FFF2-40B4-BE49-F238E27FC236}">
                  <a16:creationId xmlns:a16="http://schemas.microsoft.com/office/drawing/2014/main" id="{0492B3D5-14D8-BDC6-B6AB-C1E3641446F3}"/>
                </a:ext>
              </a:extLst>
            </p:cNvPr>
            <p:cNvSpPr txBox="1"/>
            <p:nvPr/>
          </p:nvSpPr>
          <p:spPr>
            <a:xfrm>
              <a:off x="13833159" y="2298622"/>
              <a:ext cx="1900178" cy="57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4450" rIns="0" bIns="0" anchor="t" anchorCtr="0">
              <a:noAutofit/>
            </a:bodyPr>
            <a:lstStyle/>
            <a:p>
              <a:pPr algn="ctr">
                <a:lnSpc>
                  <a:spcPct val="97940"/>
                </a:lnSpc>
              </a:pPr>
              <a:r>
                <a:rPr lang="en-US" altLang="ko-KR" sz="3150" b="1">
                  <a:solidFill>
                    <a:srgbClr val="E36C09"/>
                  </a:solidFill>
                  <a:latin typeface="IBM Plex Sans KR"/>
                  <a:ea typeface="IBM Plex Sans KR"/>
                </a:rPr>
                <a:t>ZEP</a:t>
              </a:r>
            </a:p>
          </p:txBody>
        </p:sp>
        <p:sp>
          <p:nvSpPr>
            <p:cNvPr id="17" name="Google Shape;137;p15">
              <a:extLst>
                <a:ext uri="{FF2B5EF4-FFF2-40B4-BE49-F238E27FC236}">
                  <a16:creationId xmlns:a16="http://schemas.microsoft.com/office/drawing/2014/main" id="{2CBB5299-D999-1958-8231-3AC891C7E88A}"/>
                </a:ext>
              </a:extLst>
            </p:cNvPr>
            <p:cNvSpPr txBox="1"/>
            <p:nvPr/>
          </p:nvSpPr>
          <p:spPr>
            <a:xfrm>
              <a:off x="12496053" y="3104610"/>
              <a:ext cx="4595932" cy="22529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4450" rIns="0" bIns="0" anchor="t" anchorCtr="0">
              <a:noAutofit/>
            </a:bodyPr>
            <a:lstStyle/>
            <a:p>
              <a:pPr algn="ctr">
                <a:lnSpc>
                  <a:spcPct val="200000"/>
                </a:lnSpc>
              </a:pPr>
              <a:r>
                <a:rPr lang="ko-KR" altLang="en-US" sz="2400">
                  <a:latin typeface="IBM Plex Sans KR"/>
                  <a:ea typeface="IBM Plex Sans KR"/>
                </a:rPr>
                <a:t>팀원별 실험 결과 비교</a:t>
              </a:r>
            </a:p>
            <a:p>
              <a:pPr algn="ctr">
                <a:lnSpc>
                  <a:spcPct val="200000"/>
                </a:lnSpc>
              </a:pPr>
              <a:r>
                <a:rPr lang="ko-KR" altLang="en-US" sz="2400">
                  <a:latin typeface="IBM Plex Sans KR"/>
                  <a:ea typeface="IBM Plex Sans KR"/>
                </a:rPr>
                <a:t>효과가 확인된 개선안 공유</a:t>
              </a:r>
            </a:p>
            <a:p>
              <a:pPr algn="ctr">
                <a:lnSpc>
                  <a:spcPct val="200000"/>
                </a:lnSpc>
              </a:pPr>
              <a:r>
                <a:rPr lang="ko-KR" altLang="en-US" sz="2400">
                  <a:latin typeface="IBM Plex Sans KR"/>
                  <a:ea typeface="IBM Plex Sans KR"/>
                </a:rPr>
                <a:t>다음 실험 방향 결정</a:t>
              </a:r>
            </a:p>
          </p:txBody>
        </p:sp>
        <p:pic>
          <p:nvPicPr>
            <p:cNvPr id="28" name="그림 27" descr="주식회사 젭 - AI·XR 얼라이언스 운영 사무국">
              <a:extLst>
                <a:ext uri="{FF2B5EF4-FFF2-40B4-BE49-F238E27FC236}">
                  <a16:creationId xmlns:a16="http://schemas.microsoft.com/office/drawing/2014/main" id="{22D373D9-AD2A-2EF5-EFCA-648B4F6CCEB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59403" b="-2161"/>
            <a:stretch>
              <a:fillRect/>
            </a:stretch>
          </p:blipFill>
          <p:spPr>
            <a:xfrm>
              <a:off x="12516929" y="1943849"/>
              <a:ext cx="1113662" cy="1281014"/>
            </a:xfrm>
            <a:prstGeom prst="rect">
              <a:avLst/>
            </a:prstGeom>
          </p:spPr>
        </p:pic>
      </p:grpSp>
      <p:pic>
        <p:nvPicPr>
          <p:cNvPr id="31" name="그림 30">
            <a:extLst>
              <a:ext uri="{FF2B5EF4-FFF2-40B4-BE49-F238E27FC236}">
                <a16:creationId xmlns:a16="http://schemas.microsoft.com/office/drawing/2014/main" id="{B9774019-1F0B-3B68-94F5-1F9D71E1D4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4893" y="7401226"/>
            <a:ext cx="1170193" cy="1191758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E52B690D-63B8-9584-EB0D-CF8584E5FD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5963" y="7404999"/>
            <a:ext cx="1184137" cy="1189981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8D08E7EA-6A10-E7F1-2E98-EE345A091A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25540" y="7429802"/>
            <a:ext cx="1192731" cy="1189981"/>
          </a:xfrm>
          <a:prstGeom prst="rect">
            <a:avLst/>
          </a:prstGeom>
        </p:spPr>
      </p:pic>
      <p:sp>
        <p:nvSpPr>
          <p:cNvPr id="37" name="타원 36">
            <a:extLst>
              <a:ext uri="{FF2B5EF4-FFF2-40B4-BE49-F238E27FC236}">
                <a16:creationId xmlns:a16="http://schemas.microsoft.com/office/drawing/2014/main" id="{BE386398-2EDB-475B-A9F0-ECEE7D81FF0D}"/>
              </a:ext>
            </a:extLst>
          </p:cNvPr>
          <p:cNvSpPr/>
          <p:nvPr/>
        </p:nvSpPr>
        <p:spPr>
          <a:xfrm>
            <a:off x="1481117" y="7440585"/>
            <a:ext cx="1117061" cy="1117570"/>
          </a:xfrm>
          <a:prstGeom prst="ellipse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F4D61793-5840-BD1C-2F8F-C9AB8A01B5A5}"/>
              </a:ext>
            </a:extLst>
          </p:cNvPr>
          <p:cNvSpPr/>
          <p:nvPr/>
        </p:nvSpPr>
        <p:spPr>
          <a:xfrm>
            <a:off x="6490620" y="7444358"/>
            <a:ext cx="1117061" cy="1117570"/>
          </a:xfrm>
          <a:prstGeom prst="ellipse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AA86FEDE-1592-84CB-0347-4FBF1E592EB7}"/>
              </a:ext>
            </a:extLst>
          </p:cNvPr>
          <p:cNvSpPr/>
          <p:nvPr/>
        </p:nvSpPr>
        <p:spPr>
          <a:xfrm>
            <a:off x="12165581" y="7455141"/>
            <a:ext cx="1117061" cy="1117570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Google Shape;103;p14">
            <a:extLst>
              <a:ext uri="{FF2B5EF4-FFF2-40B4-BE49-F238E27FC236}">
                <a16:creationId xmlns:a16="http://schemas.microsoft.com/office/drawing/2014/main" id="{60403A3B-786E-78B0-16AC-559DAA928EC9}"/>
              </a:ext>
            </a:extLst>
          </p:cNvPr>
          <p:cNvSpPr txBox="1"/>
          <p:nvPr/>
        </p:nvSpPr>
        <p:spPr>
          <a:xfrm>
            <a:off x="2767219" y="7493728"/>
            <a:ext cx="3025351" cy="100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600" rIns="0" bIns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>
                <a:latin typeface="IBM Plex Sans KR"/>
                <a:ea typeface="IBM Plex Sans KR"/>
              </a:rPr>
              <a:t>김지현 / 팀장</a:t>
            </a:r>
            <a:endParaRPr lang="ko-KR" sz="1800"/>
          </a:p>
          <a:p>
            <a:pPr marL="285750" indent="-285750">
              <a:lnSpc>
                <a:spcPct val="150000"/>
              </a:lnSpc>
              <a:buChar char="•"/>
            </a:pPr>
            <a:r>
              <a:rPr lang="ko-KR" altLang="en-US" sz="1800">
                <a:latin typeface="IBM Plex Sans KR"/>
                <a:ea typeface="IBM Plex Sans KR"/>
              </a:rPr>
              <a:t>프로젝트 일정 조율</a:t>
            </a:r>
            <a:endParaRPr lang="ko-KR" sz="1800">
              <a:ea typeface="IBM Plex Sans KR"/>
            </a:endParaRPr>
          </a:p>
          <a:p>
            <a:pPr marL="285750" indent="-285750">
              <a:lnSpc>
                <a:spcPct val="150000"/>
              </a:lnSpc>
              <a:buChar char="•"/>
            </a:pPr>
            <a:r>
              <a:rPr lang="ko-KR" altLang="en-US" sz="1800">
                <a:latin typeface="IBM Plex Sans KR"/>
                <a:ea typeface="IBM Plex Sans KR"/>
              </a:rPr>
              <a:t>파생변수 ・ 모델 개선</a:t>
            </a:r>
            <a:endParaRPr lang="ko-KR" sz="1800"/>
          </a:p>
        </p:txBody>
      </p:sp>
      <p:sp>
        <p:nvSpPr>
          <p:cNvPr id="50" name="Google Shape;103;p14">
            <a:extLst>
              <a:ext uri="{FF2B5EF4-FFF2-40B4-BE49-F238E27FC236}">
                <a16:creationId xmlns:a16="http://schemas.microsoft.com/office/drawing/2014/main" id="{F8449793-874C-F97E-6DA1-1B357184D0AB}"/>
              </a:ext>
            </a:extLst>
          </p:cNvPr>
          <p:cNvSpPr txBox="1"/>
          <p:nvPr/>
        </p:nvSpPr>
        <p:spPr>
          <a:xfrm>
            <a:off x="7813672" y="7515294"/>
            <a:ext cx="3025351" cy="100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600" rIns="0" bIns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>
                <a:latin typeface="IBM Plex Sans KR"/>
                <a:ea typeface="IBM Plex Sans KR"/>
              </a:rPr>
              <a:t>박빛샘</a:t>
            </a:r>
            <a:endParaRPr lang="ko-KR"/>
          </a:p>
          <a:p>
            <a:pPr marL="285750" indent="-285750">
              <a:lnSpc>
                <a:spcPct val="150000"/>
              </a:lnSpc>
              <a:buChar char="•"/>
            </a:pPr>
            <a:r>
              <a:rPr lang="ko-KR" altLang="en-US" sz="1800">
                <a:latin typeface="IBM Plex Sans KR"/>
                <a:ea typeface="IBM Plex Sans KR"/>
              </a:rPr>
              <a:t>발표 자료 제작</a:t>
            </a:r>
          </a:p>
          <a:p>
            <a:pPr marL="285750" indent="-285750">
              <a:lnSpc>
                <a:spcPct val="150000"/>
              </a:lnSpc>
              <a:buChar char="•"/>
            </a:pPr>
            <a:r>
              <a:rPr lang="ko-KR" altLang="en-US" sz="1800">
                <a:latin typeface="IBM Plex Sans KR"/>
                <a:ea typeface="IBM Plex Sans KR"/>
              </a:rPr>
              <a:t>ExtraTrees ・ 분위수 조정</a:t>
            </a:r>
            <a:endParaRPr lang="ko-KR" sz="1800"/>
          </a:p>
        </p:txBody>
      </p:sp>
      <p:sp>
        <p:nvSpPr>
          <p:cNvPr id="51" name="Google Shape;103;p14">
            <a:extLst>
              <a:ext uri="{FF2B5EF4-FFF2-40B4-BE49-F238E27FC236}">
                <a16:creationId xmlns:a16="http://schemas.microsoft.com/office/drawing/2014/main" id="{DED570C3-DCEF-5751-D86A-36E08F39C223}"/>
              </a:ext>
            </a:extLst>
          </p:cNvPr>
          <p:cNvSpPr txBox="1"/>
          <p:nvPr/>
        </p:nvSpPr>
        <p:spPr>
          <a:xfrm>
            <a:off x="13593369" y="7493728"/>
            <a:ext cx="3154747" cy="100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600" rIns="0" bIns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>
                <a:latin typeface="IBM Plex Sans KR"/>
                <a:ea typeface="IBM Plex Sans KR"/>
              </a:rPr>
              <a:t>안상균</a:t>
            </a:r>
          </a:p>
          <a:p>
            <a:pPr marL="285750" indent="-285750">
              <a:lnSpc>
                <a:spcPct val="150000"/>
              </a:lnSpc>
              <a:buChar char="•"/>
            </a:pPr>
            <a:r>
              <a:rPr lang="ko-KR" altLang="en-US" sz="1800">
                <a:latin typeface="IBM Plex Sans KR"/>
                <a:ea typeface="IBM Plex Sans KR"/>
              </a:rPr>
              <a:t>GitHub &amp; Notion 관리</a:t>
            </a:r>
          </a:p>
          <a:p>
            <a:pPr marL="285750" indent="-285750">
              <a:lnSpc>
                <a:spcPct val="150000"/>
              </a:lnSpc>
              <a:buChar char="•"/>
            </a:pPr>
            <a:r>
              <a:rPr lang="ko-KR" altLang="en-US" sz="1800">
                <a:latin typeface="IBM Plex Sans KR"/>
                <a:ea typeface="IBM Plex Sans KR"/>
              </a:rPr>
              <a:t>대안 모델 ・ 튜닝</a:t>
            </a:r>
          </a:p>
        </p:txBody>
      </p:sp>
      <p:sp>
        <p:nvSpPr>
          <p:cNvPr id="2" name="Rounded Rectangle 3">
            <a:extLst>
              <a:ext uri="{FF2B5EF4-FFF2-40B4-BE49-F238E27FC236}">
                <a16:creationId xmlns:a16="http://schemas.microsoft.com/office/drawing/2014/main" id="{2D97F9B8-D817-1BEA-DE11-8293B377A815}"/>
              </a:ext>
            </a:extLst>
          </p:cNvPr>
          <p:cNvSpPr/>
          <p:nvPr/>
        </p:nvSpPr>
        <p:spPr>
          <a:xfrm>
            <a:off x="594360" y="1353311"/>
            <a:ext cx="13323498" cy="73152"/>
          </a:xfrm>
          <a:prstGeom prst="roundRect">
            <a:avLst/>
          </a:prstGeom>
          <a:solidFill>
            <a:srgbClr val="E8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IBM Plex Sans KR" panose="020B0503050203000203" pitchFamily="34" charset="-127"/>
              <a:ea typeface="IBM Plex Sans KR" panose="020B0503050203000203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398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D62B50FC-0311-CFA2-6F27-CD308BEB0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30;p15">
            <a:extLst>
              <a:ext uri="{FF2B5EF4-FFF2-40B4-BE49-F238E27FC236}">
                <a16:creationId xmlns:a16="http://schemas.microsoft.com/office/drawing/2014/main" id="{F2E34210-F628-3C25-72A5-3C1C7536A03E}"/>
              </a:ext>
            </a:extLst>
          </p:cNvPr>
          <p:cNvSpPr txBox="1"/>
          <p:nvPr/>
        </p:nvSpPr>
        <p:spPr>
          <a:xfrm>
            <a:off x="962025" y="571500"/>
            <a:ext cx="9715500" cy="7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9100" rIns="0" bIns="0" anchor="t" anchorCtr="0">
            <a:noAutofit/>
          </a:bodyPr>
          <a:lstStyle/>
          <a:p>
            <a:pPr>
              <a:lnSpc>
                <a:spcPct val="97940"/>
              </a:lnSpc>
            </a:pPr>
            <a:r>
              <a:rPr lang="en-US" sz="4200" b="1">
                <a:solidFill>
                  <a:srgbClr val="567C75"/>
                </a:solidFill>
                <a:latin typeface="IBM Plex Sans KR Medium"/>
                <a:ea typeface="IBM Plex Sans KR Medium"/>
                <a:cs typeface="Hanken Grotesk ExtraBold"/>
                <a:sym typeface="Hanken Grotesk ExtraBold"/>
              </a:rPr>
              <a:t>01  </a:t>
            </a:r>
            <a:r>
              <a:rPr lang="en-US" sz="4200" b="1" err="1">
                <a:solidFill>
                  <a:srgbClr val="567C75"/>
                </a:solidFill>
                <a:latin typeface="IBM Plex Sans KR Medium"/>
                <a:ea typeface="IBM Plex Sans KR Medium"/>
                <a:cs typeface="Hanken Grotesk ExtraBold"/>
                <a:sym typeface="Hanken Grotesk ExtraBold"/>
              </a:rPr>
              <a:t>프로젝트</a:t>
            </a:r>
            <a:r>
              <a:rPr lang="en-US" sz="4200" b="1">
                <a:solidFill>
                  <a:srgbClr val="567C75"/>
                </a:solidFill>
                <a:latin typeface="IBM Plex Sans KR Medium"/>
                <a:ea typeface="IBM Plex Sans KR Medium"/>
                <a:cs typeface="Hanken Grotesk ExtraBold"/>
                <a:sym typeface="Hanken Grotesk ExtraBold"/>
              </a:rPr>
              <a:t> </a:t>
            </a:r>
            <a:r>
              <a:rPr lang="en-US" sz="4200" b="1" err="1">
                <a:solidFill>
                  <a:srgbClr val="567C75"/>
                </a:solidFill>
                <a:latin typeface="IBM Plex Sans KR Medium"/>
                <a:ea typeface="IBM Plex Sans KR Medium"/>
                <a:cs typeface="Hanken Grotesk ExtraBold"/>
                <a:sym typeface="Hanken Grotesk ExtraBold"/>
              </a:rPr>
              <a:t>소개</a:t>
            </a:r>
            <a:r>
              <a:rPr lang="en-US" sz="4200" b="1">
                <a:solidFill>
                  <a:srgbClr val="567C75"/>
                </a:solidFill>
                <a:latin typeface="IBM Plex Sans KR Medium"/>
                <a:ea typeface="IBM Plex Sans KR Medium"/>
                <a:cs typeface="Hanken Grotesk ExtraBold"/>
                <a:sym typeface="Hanken Grotesk ExtraBold"/>
              </a:rPr>
              <a:t> </a:t>
            </a:r>
            <a:r>
              <a:rPr lang="en-US" sz="2400">
                <a:solidFill>
                  <a:srgbClr val="567C75"/>
                </a:solidFill>
                <a:latin typeface="IBM Plex Sans KR Medium"/>
                <a:ea typeface="IBM Plex Sans KR Medium"/>
                <a:cs typeface="Hanken Grotesk ExtraBold"/>
                <a:sym typeface="Hanken Grotesk ExtraBold"/>
              </a:rPr>
              <a:t>- </a:t>
            </a:r>
            <a:r>
              <a:rPr lang="ko-KR" altLang="en-US" sz="2400">
                <a:solidFill>
                  <a:srgbClr val="567C75"/>
                </a:solidFill>
                <a:latin typeface="IBM Plex Sans KR Medium"/>
                <a:ea typeface="IBM Plex Sans KR Medium"/>
                <a:cs typeface="Hanken Grotesk ExtraBold"/>
                <a:sym typeface="Hanken Grotesk ExtraBold"/>
              </a:rPr>
              <a:t>팀</a:t>
            </a:r>
            <a:r>
              <a:rPr lang="en-US" sz="2400">
                <a:solidFill>
                  <a:srgbClr val="567C75"/>
                </a:solidFill>
                <a:latin typeface="IBM Plex Sans KR Medium"/>
                <a:ea typeface="IBM Plex Sans KR Medium"/>
                <a:cs typeface="Hanken Grotesk ExtraBold"/>
                <a:sym typeface="Hanken Grotesk ExtraBold"/>
              </a:rPr>
              <a:t> </a:t>
            </a:r>
            <a:r>
              <a:rPr lang="ko-KR" altLang="en-US" sz="2400">
                <a:solidFill>
                  <a:srgbClr val="567C75"/>
                </a:solidFill>
                <a:latin typeface="IBM Plex Sans KR Medium"/>
                <a:ea typeface="IBM Plex Sans KR Medium"/>
                <a:cs typeface="Hanken Grotesk ExtraBold"/>
                <a:sym typeface="Hanken Grotesk ExtraBold"/>
              </a:rPr>
              <a:t>역할</a:t>
            </a:r>
            <a:r>
              <a:rPr lang="en-US" altLang="ko-KR" sz="2400">
                <a:solidFill>
                  <a:srgbClr val="567C75"/>
                </a:solidFill>
                <a:latin typeface="IBM Plex Sans KR Medium"/>
                <a:ea typeface="IBM Plex Sans KR Medium"/>
                <a:cs typeface="Hanken Grotesk ExtraBold"/>
                <a:sym typeface="Hanken Grotesk ExtraBold"/>
              </a:rPr>
              <a:t> 및 </a:t>
            </a:r>
            <a:r>
              <a:rPr lang="en-US" altLang="ko-KR" sz="2400" err="1">
                <a:solidFill>
                  <a:srgbClr val="567C75"/>
                </a:solidFill>
                <a:latin typeface="IBM Plex Sans KR Medium"/>
                <a:ea typeface="IBM Plex Sans KR Medium"/>
                <a:cs typeface="Hanken Grotesk ExtraBold"/>
                <a:sym typeface="Hanken Grotesk ExtraBold"/>
              </a:rPr>
              <a:t>협업</a:t>
            </a:r>
            <a:r>
              <a:rPr lang="en-US" altLang="ko-KR" sz="2400">
                <a:solidFill>
                  <a:srgbClr val="567C75"/>
                </a:solidFill>
                <a:latin typeface="IBM Plex Sans KR Medium"/>
                <a:ea typeface="IBM Plex Sans KR Medium"/>
                <a:cs typeface="Hanken Grotesk ExtraBold"/>
                <a:sym typeface="Hanken Grotesk ExtraBold"/>
              </a:rPr>
              <a:t> </a:t>
            </a:r>
            <a:r>
              <a:rPr lang="en-US" altLang="ko-KR" sz="2400" err="1">
                <a:solidFill>
                  <a:srgbClr val="567C75"/>
                </a:solidFill>
                <a:latin typeface="IBM Plex Sans KR Medium"/>
                <a:ea typeface="IBM Plex Sans KR Medium"/>
                <a:cs typeface="Hanken Grotesk ExtraBold"/>
                <a:sym typeface="Hanken Grotesk ExtraBold"/>
              </a:rPr>
              <a:t>방식</a:t>
            </a:r>
            <a:endParaRPr lang="en-US" altLang="ko-KR" sz="2400" err="1">
              <a:solidFill>
                <a:srgbClr val="567C75"/>
              </a:solidFill>
              <a:latin typeface="IBM Plex Sans KR Medium"/>
              <a:ea typeface="IBM Plex Sans KR Medium"/>
            </a:endParaRPr>
          </a:p>
        </p:txBody>
      </p:sp>
      <p:sp>
        <p:nvSpPr>
          <p:cNvPr id="18" name="Google Shape;137;p15">
            <a:extLst>
              <a:ext uri="{FF2B5EF4-FFF2-40B4-BE49-F238E27FC236}">
                <a16:creationId xmlns:a16="http://schemas.microsoft.com/office/drawing/2014/main" id="{1169A570-814A-8CFF-9C36-E483D2E7B9FA}"/>
              </a:ext>
            </a:extLst>
          </p:cNvPr>
          <p:cNvSpPr txBox="1"/>
          <p:nvPr/>
        </p:nvSpPr>
        <p:spPr>
          <a:xfrm>
            <a:off x="3071695" y="6339516"/>
            <a:ext cx="11734290" cy="592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4450" rIns="0" bIns="0" anchor="t" anchorCtr="0">
            <a:noAutofit/>
          </a:bodyPr>
          <a:lstStyle/>
          <a:p>
            <a:pPr algn="ctr">
              <a:lnSpc>
                <a:spcPct val="97940"/>
              </a:lnSpc>
            </a:pPr>
            <a:r>
              <a:rPr lang="ko-KR" altLang="en-US" sz="2800">
                <a:latin typeface="IBM Plex Sans KR"/>
                <a:ea typeface="IBM Plex Sans KR"/>
              </a:rPr>
              <a:t>가설 공유 ⇒ 개별 실험 </a:t>
            </a:r>
            <a:r>
              <a:rPr lang="ko-KR" sz="2800">
                <a:latin typeface="IBM Plex Sans KR"/>
                <a:ea typeface="IBM Plex Sans KR"/>
              </a:rPr>
              <a:t>⇒</a:t>
            </a:r>
            <a:r>
              <a:rPr lang="ko-KR" altLang="en-US" sz="2800">
                <a:latin typeface="IBM Plex Sans KR"/>
                <a:ea typeface="IBM Plex Sans KR"/>
              </a:rPr>
              <a:t> 결과 비교 </a:t>
            </a:r>
            <a:r>
              <a:rPr lang="ko-KR" sz="2800">
                <a:latin typeface="IBM Plex Sans KR"/>
                <a:ea typeface="IBM Plex Sans KR"/>
              </a:rPr>
              <a:t>⇒ 개선안 </a:t>
            </a:r>
            <a:r>
              <a:rPr lang="ko-KR" altLang="en-US" sz="2800">
                <a:latin typeface="IBM Plex Sans KR"/>
                <a:ea typeface="IBM Plex Sans KR"/>
              </a:rPr>
              <a:t>축적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A3281A3-B524-C784-D00C-8E025DB14750}"/>
              </a:ext>
            </a:extLst>
          </p:cNvPr>
          <p:cNvSpPr/>
          <p:nvPr/>
        </p:nvSpPr>
        <p:spPr>
          <a:xfrm>
            <a:off x="1133060" y="7136295"/>
            <a:ext cx="16399565" cy="176916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Google Shape;137;p15">
            <a:extLst>
              <a:ext uri="{FF2B5EF4-FFF2-40B4-BE49-F238E27FC236}">
                <a16:creationId xmlns:a16="http://schemas.microsoft.com/office/drawing/2014/main" id="{7F3B7B48-17EA-FD3A-1134-2E2CCEC3E89B}"/>
              </a:ext>
            </a:extLst>
          </p:cNvPr>
          <p:cNvSpPr txBox="1"/>
          <p:nvPr/>
        </p:nvSpPr>
        <p:spPr>
          <a:xfrm>
            <a:off x="3071695" y="9466591"/>
            <a:ext cx="11734290" cy="592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4450" rIns="0" bIns="0" anchor="t" anchorCtr="0">
            <a:noAutofit/>
          </a:bodyPr>
          <a:lstStyle/>
          <a:p>
            <a:pPr algn="ctr">
              <a:lnSpc>
                <a:spcPct val="97940"/>
              </a:lnSpc>
            </a:pPr>
            <a:r>
              <a:rPr lang="ko-KR" sz="2400">
                <a:ea typeface="IBM Plex Sans KR"/>
              </a:rPr>
              <a:t>Notion과 ZEP으로 소통하고, GitHub 저장소를 </a:t>
            </a:r>
            <a:r>
              <a:rPr lang="ko-KR" altLang="en-US" sz="2400">
                <a:ea typeface="IBM Plex Sans KR"/>
              </a:rPr>
              <a:t>통해 </a:t>
            </a:r>
            <a:r>
              <a:rPr lang="ko-KR" sz="2400">
                <a:ea typeface="IBM Plex Sans KR"/>
              </a:rPr>
              <a:t>코드와 실험 결과를 공유했습니다.</a:t>
            </a: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16D6C9EE-7A32-A817-296D-C6431D7CAD1F}"/>
              </a:ext>
            </a:extLst>
          </p:cNvPr>
          <p:cNvGrpSpPr/>
          <p:nvPr/>
        </p:nvGrpSpPr>
        <p:grpSpPr>
          <a:xfrm>
            <a:off x="1138498" y="1906625"/>
            <a:ext cx="5287617" cy="3856382"/>
            <a:chOff x="426819" y="1906625"/>
            <a:chExt cx="5287617" cy="3856382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FB7D268B-FDA6-68F8-FC18-A8B7596BDC40}"/>
                </a:ext>
              </a:extLst>
            </p:cNvPr>
            <p:cNvSpPr/>
            <p:nvPr/>
          </p:nvSpPr>
          <p:spPr>
            <a:xfrm>
              <a:off x="426819" y="1906625"/>
              <a:ext cx="5287617" cy="3856382"/>
            </a:xfrm>
            <a:prstGeom prst="roundRect">
              <a:avLst/>
            </a:prstGeom>
            <a:solidFill>
              <a:srgbClr val="EEF4F2"/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Google Shape;133;p15">
              <a:extLst>
                <a:ext uri="{FF2B5EF4-FFF2-40B4-BE49-F238E27FC236}">
                  <a16:creationId xmlns:a16="http://schemas.microsoft.com/office/drawing/2014/main" id="{CAA6CB6D-979D-6A11-C281-28D64E2B60DD}"/>
                </a:ext>
              </a:extLst>
            </p:cNvPr>
            <p:cNvSpPr txBox="1"/>
            <p:nvPr/>
          </p:nvSpPr>
          <p:spPr>
            <a:xfrm>
              <a:off x="656312" y="2341755"/>
              <a:ext cx="4552800" cy="57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4450" rIns="0" bIns="0" anchor="t" anchorCtr="0">
              <a:noAutofit/>
            </a:bodyPr>
            <a:lstStyle/>
            <a:p>
              <a:pPr algn="ctr">
                <a:lnSpc>
                  <a:spcPct val="97940"/>
                </a:lnSpc>
              </a:pPr>
              <a:r>
                <a:rPr lang="en-US" altLang="ko-KR" sz="3150" b="1">
                  <a:solidFill>
                    <a:srgbClr val="567C75"/>
                  </a:solidFill>
                  <a:latin typeface="IBM Plex Sans KR"/>
                  <a:ea typeface="IBM Plex Sans KR"/>
                </a:rPr>
                <a:t>Notion</a:t>
              </a:r>
              <a:endParaRPr lang="ko-KR" altLang="en-US"/>
            </a:p>
          </p:txBody>
        </p:sp>
        <p:sp>
          <p:nvSpPr>
            <p:cNvPr id="11" name="Google Shape;137;p15">
              <a:extLst>
                <a:ext uri="{FF2B5EF4-FFF2-40B4-BE49-F238E27FC236}">
                  <a16:creationId xmlns:a16="http://schemas.microsoft.com/office/drawing/2014/main" id="{F9DAFB14-4992-C2BD-EFF1-1B5A473105FB}"/>
                </a:ext>
              </a:extLst>
            </p:cNvPr>
            <p:cNvSpPr txBox="1"/>
            <p:nvPr/>
          </p:nvSpPr>
          <p:spPr>
            <a:xfrm>
              <a:off x="656299" y="3190875"/>
              <a:ext cx="4552800" cy="19510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4450" rIns="0" bIns="0" anchor="t" anchorCtr="0">
              <a:noAutofit/>
            </a:bodyPr>
            <a:lstStyle/>
            <a:p>
              <a:pPr algn="ctr">
                <a:lnSpc>
                  <a:spcPct val="200000"/>
                </a:lnSpc>
              </a:pPr>
              <a:r>
                <a:rPr lang="ko-KR" altLang="en-US" sz="2400">
                  <a:latin typeface="IBM Plex Sans KR"/>
                  <a:ea typeface="IBM Plex Sans KR"/>
                </a:rPr>
                <a:t>일정 공유 및 링크 공유, </a:t>
              </a:r>
              <a:endParaRPr lang="ko-KR"/>
            </a:p>
            <a:p>
              <a:pPr algn="ctr">
                <a:lnSpc>
                  <a:spcPct val="200000"/>
                </a:lnSpc>
              </a:pPr>
              <a:r>
                <a:rPr lang="ko-KR" altLang="en-US" sz="2400">
                  <a:latin typeface="IBM Plex Sans KR"/>
                  <a:ea typeface="IBM Plex Sans KR"/>
                </a:rPr>
                <a:t>아이디어 및 모델 성능 기록</a:t>
              </a:r>
            </a:p>
          </p:txBody>
        </p:sp>
        <p:pic>
          <p:nvPicPr>
            <p:cNvPr id="26" name="그림 25" descr="Notion 아이콘, 로고, 기호 – PNG, SVG 무료 다운로드">
              <a:extLst>
                <a:ext uri="{FF2B5EF4-FFF2-40B4-BE49-F238E27FC236}">
                  <a16:creationId xmlns:a16="http://schemas.microsoft.com/office/drawing/2014/main" id="{FC7E66B0-59FB-95B3-41B2-0BC33B2EE8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1204" y="2165949"/>
              <a:ext cx="874145" cy="895711"/>
            </a:xfrm>
            <a:prstGeom prst="rect">
              <a:avLst/>
            </a:prstGeom>
          </p:spPr>
        </p:pic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E2FB33E5-918C-E054-DBDC-BFB9DD70542D}"/>
              </a:ext>
            </a:extLst>
          </p:cNvPr>
          <p:cNvGrpSpPr/>
          <p:nvPr/>
        </p:nvGrpSpPr>
        <p:grpSpPr>
          <a:xfrm>
            <a:off x="6691753" y="1906625"/>
            <a:ext cx="5287617" cy="3856382"/>
            <a:chOff x="6314347" y="1906625"/>
            <a:chExt cx="5287617" cy="3856382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EAD3276B-F18B-2B07-FF68-F869ADD6F7BD}"/>
                </a:ext>
              </a:extLst>
            </p:cNvPr>
            <p:cNvSpPr/>
            <p:nvPr/>
          </p:nvSpPr>
          <p:spPr>
            <a:xfrm>
              <a:off x="6314347" y="1906625"/>
              <a:ext cx="5287617" cy="3856382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Google Shape;133;p15">
              <a:extLst>
                <a:ext uri="{FF2B5EF4-FFF2-40B4-BE49-F238E27FC236}">
                  <a16:creationId xmlns:a16="http://schemas.microsoft.com/office/drawing/2014/main" id="{41092F0B-F97C-40CC-A302-14BE6393C6E7}"/>
                </a:ext>
              </a:extLst>
            </p:cNvPr>
            <p:cNvSpPr txBox="1"/>
            <p:nvPr/>
          </p:nvSpPr>
          <p:spPr>
            <a:xfrm>
              <a:off x="7880934" y="2363321"/>
              <a:ext cx="2051140" cy="57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4450" rIns="0" bIns="0" anchor="t" anchorCtr="0">
              <a:noAutofit/>
            </a:bodyPr>
            <a:lstStyle/>
            <a:p>
              <a:pPr algn="ctr">
                <a:lnSpc>
                  <a:spcPct val="97940"/>
                </a:lnSpc>
              </a:pPr>
              <a:r>
                <a:rPr lang="en-US" altLang="ko-KR" sz="3150" b="1" err="1">
                  <a:solidFill>
                    <a:srgbClr val="31859B"/>
                  </a:solidFill>
                  <a:latin typeface="IBM Plex Sans KR"/>
                  <a:ea typeface="IBM Plex Sans KR"/>
                </a:rPr>
                <a:t>GitHu</a:t>
              </a:r>
              <a:r>
                <a:rPr lang="en-US" altLang="ko-KR" sz="3150" b="1">
                  <a:solidFill>
                    <a:srgbClr val="31859B"/>
                  </a:solidFill>
                  <a:latin typeface="IBM Plex Sans KR"/>
                  <a:ea typeface="IBM Plex Sans KR"/>
                </a:rPr>
                <a:t>b</a:t>
              </a:r>
            </a:p>
          </p:txBody>
        </p:sp>
        <p:sp>
          <p:nvSpPr>
            <p:cNvPr id="15" name="Google Shape;137;p15">
              <a:extLst>
                <a:ext uri="{FF2B5EF4-FFF2-40B4-BE49-F238E27FC236}">
                  <a16:creationId xmlns:a16="http://schemas.microsoft.com/office/drawing/2014/main" id="{F19A8C80-708F-C674-DACB-95603ECA9428}"/>
                </a:ext>
              </a:extLst>
            </p:cNvPr>
            <p:cNvSpPr txBox="1"/>
            <p:nvPr/>
          </p:nvSpPr>
          <p:spPr>
            <a:xfrm>
              <a:off x="6673223" y="3212441"/>
              <a:ext cx="4552800" cy="22744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4450" rIns="0" bIns="0" anchor="t" anchorCtr="0">
              <a:noAutofit/>
            </a:bodyPr>
            <a:lstStyle/>
            <a:p>
              <a:pPr algn="ctr">
                <a:lnSpc>
                  <a:spcPct val="200000"/>
                </a:lnSpc>
              </a:pPr>
              <a:r>
                <a:rPr lang="ko-KR" altLang="en-US" sz="2400">
                  <a:latin typeface="IBM Plex Sans KR"/>
                  <a:ea typeface="IBM Plex Sans KR"/>
                </a:rPr>
                <a:t>코드 및 작업 파일 공유</a:t>
              </a:r>
              <a:endParaRPr lang="ko-KR"/>
            </a:p>
            <a:p>
              <a:pPr algn="ctr">
                <a:lnSpc>
                  <a:spcPct val="200000"/>
                </a:lnSpc>
              </a:pPr>
              <a:r>
                <a:rPr lang="ko-KR" altLang="en-US" sz="2400">
                  <a:latin typeface="IBM Plex Sans KR"/>
                  <a:ea typeface="IBM Plex Sans KR"/>
                </a:rPr>
                <a:t>실험 코드・ 설정 관리</a:t>
              </a:r>
            </a:p>
            <a:p>
              <a:pPr algn="ctr">
                <a:lnSpc>
                  <a:spcPct val="200000"/>
                </a:lnSpc>
              </a:pPr>
              <a:r>
                <a:rPr lang="ko-KR" altLang="en-US" sz="2400">
                  <a:latin typeface="IBM Plex Sans KR"/>
                  <a:ea typeface="IBM Plex Sans KR"/>
                </a:rPr>
                <a:t>로컬 실험 결과를 저장소에 기록</a:t>
              </a:r>
            </a:p>
          </p:txBody>
        </p:sp>
        <p:pic>
          <p:nvPicPr>
            <p:cNvPr id="27" name="그림 26" descr="Github 로고 - 무료 소셜 미디어개 아이콘">
              <a:extLst>
                <a:ext uri="{FF2B5EF4-FFF2-40B4-BE49-F238E27FC236}">
                  <a16:creationId xmlns:a16="http://schemas.microsoft.com/office/drawing/2014/main" id="{740A35CD-48C9-F0C2-9FF2-FA69A87A12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05600" y="2187515"/>
              <a:ext cx="852579" cy="895711"/>
            </a:xfrm>
            <a:prstGeom prst="rect">
              <a:avLst/>
            </a:prstGeom>
          </p:spPr>
        </p:pic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B9AA8C5B-0460-8CD1-5190-F89A639D0B49}"/>
              </a:ext>
            </a:extLst>
          </p:cNvPr>
          <p:cNvGrpSpPr/>
          <p:nvPr/>
        </p:nvGrpSpPr>
        <p:grpSpPr>
          <a:xfrm>
            <a:off x="12245007" y="1906624"/>
            <a:ext cx="5287617" cy="3856382"/>
            <a:chOff x="12158743" y="1777228"/>
            <a:chExt cx="5287617" cy="3856382"/>
          </a:xfrm>
        </p:grpSpPr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794692DD-890F-3BE6-3DE3-77C0A5523650}"/>
                </a:ext>
              </a:extLst>
            </p:cNvPr>
            <p:cNvSpPr/>
            <p:nvPr/>
          </p:nvSpPr>
          <p:spPr>
            <a:xfrm>
              <a:off x="12158743" y="1777228"/>
              <a:ext cx="5287617" cy="3856382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Google Shape;133;p15">
              <a:extLst>
                <a:ext uri="{FF2B5EF4-FFF2-40B4-BE49-F238E27FC236}">
                  <a16:creationId xmlns:a16="http://schemas.microsoft.com/office/drawing/2014/main" id="{4F560CF6-3129-3CD7-40CD-28CA21563D85}"/>
                </a:ext>
              </a:extLst>
            </p:cNvPr>
            <p:cNvSpPr txBox="1"/>
            <p:nvPr/>
          </p:nvSpPr>
          <p:spPr>
            <a:xfrm>
              <a:off x="13833159" y="2298622"/>
              <a:ext cx="1900178" cy="57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4450" rIns="0" bIns="0" anchor="t" anchorCtr="0">
              <a:noAutofit/>
            </a:bodyPr>
            <a:lstStyle/>
            <a:p>
              <a:pPr algn="ctr">
                <a:lnSpc>
                  <a:spcPct val="97940"/>
                </a:lnSpc>
              </a:pPr>
              <a:r>
                <a:rPr lang="en-US" altLang="ko-KR" sz="3150" b="1">
                  <a:solidFill>
                    <a:srgbClr val="E36C09"/>
                  </a:solidFill>
                  <a:latin typeface="IBM Plex Sans KR"/>
                  <a:ea typeface="IBM Plex Sans KR"/>
                </a:rPr>
                <a:t>ZEP</a:t>
              </a:r>
            </a:p>
          </p:txBody>
        </p:sp>
        <p:sp>
          <p:nvSpPr>
            <p:cNvPr id="17" name="Google Shape;137;p15">
              <a:extLst>
                <a:ext uri="{FF2B5EF4-FFF2-40B4-BE49-F238E27FC236}">
                  <a16:creationId xmlns:a16="http://schemas.microsoft.com/office/drawing/2014/main" id="{E2FE6EC4-3F81-187E-754F-A834953CF027}"/>
                </a:ext>
              </a:extLst>
            </p:cNvPr>
            <p:cNvSpPr txBox="1"/>
            <p:nvPr/>
          </p:nvSpPr>
          <p:spPr>
            <a:xfrm>
              <a:off x="12496053" y="3104610"/>
              <a:ext cx="4595932" cy="22529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44450" rIns="0" bIns="0" anchor="t" anchorCtr="0">
              <a:noAutofit/>
            </a:bodyPr>
            <a:lstStyle/>
            <a:p>
              <a:pPr algn="ctr">
                <a:lnSpc>
                  <a:spcPct val="200000"/>
                </a:lnSpc>
              </a:pPr>
              <a:r>
                <a:rPr lang="ko-KR" altLang="en-US" sz="2400">
                  <a:latin typeface="IBM Plex Sans KR"/>
                  <a:ea typeface="IBM Plex Sans KR"/>
                </a:rPr>
                <a:t>팀원별 실험 결과 비교</a:t>
              </a:r>
            </a:p>
            <a:p>
              <a:pPr algn="ctr">
                <a:lnSpc>
                  <a:spcPct val="200000"/>
                </a:lnSpc>
              </a:pPr>
              <a:r>
                <a:rPr lang="ko-KR" altLang="en-US" sz="2400">
                  <a:latin typeface="IBM Plex Sans KR"/>
                  <a:ea typeface="IBM Plex Sans KR"/>
                </a:rPr>
                <a:t>효과가 확인된 개선안 공유</a:t>
              </a:r>
            </a:p>
            <a:p>
              <a:pPr algn="ctr">
                <a:lnSpc>
                  <a:spcPct val="200000"/>
                </a:lnSpc>
              </a:pPr>
              <a:r>
                <a:rPr lang="ko-KR" altLang="en-US" sz="2400">
                  <a:latin typeface="IBM Plex Sans KR"/>
                  <a:ea typeface="IBM Plex Sans KR"/>
                </a:rPr>
                <a:t>다음 실험 방향 결정</a:t>
              </a:r>
            </a:p>
          </p:txBody>
        </p:sp>
        <p:pic>
          <p:nvPicPr>
            <p:cNvPr id="28" name="그림 27" descr="주식회사 젭 - AI·XR 얼라이언스 운영 사무국">
              <a:extLst>
                <a:ext uri="{FF2B5EF4-FFF2-40B4-BE49-F238E27FC236}">
                  <a16:creationId xmlns:a16="http://schemas.microsoft.com/office/drawing/2014/main" id="{C108E0AF-95D3-734F-7E1F-02A5A8D418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59403" b="-2161"/>
            <a:stretch>
              <a:fillRect/>
            </a:stretch>
          </p:blipFill>
          <p:spPr>
            <a:xfrm>
              <a:off x="12516929" y="1943849"/>
              <a:ext cx="1113662" cy="1281014"/>
            </a:xfrm>
            <a:prstGeom prst="rect">
              <a:avLst/>
            </a:prstGeom>
          </p:spPr>
        </p:pic>
      </p:grpSp>
      <p:pic>
        <p:nvPicPr>
          <p:cNvPr id="31" name="그림 30">
            <a:extLst>
              <a:ext uri="{FF2B5EF4-FFF2-40B4-BE49-F238E27FC236}">
                <a16:creationId xmlns:a16="http://schemas.microsoft.com/office/drawing/2014/main" id="{D38D789C-F330-A7F5-33B1-8ED436A091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4893" y="7401226"/>
            <a:ext cx="1170193" cy="1191758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40E949B6-CD34-8F42-7768-37F1D91F22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5963" y="7404999"/>
            <a:ext cx="1184137" cy="1189981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94F3C270-2AFD-7332-5121-3F5A9A977CA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25540" y="7429802"/>
            <a:ext cx="1192731" cy="1189981"/>
          </a:xfrm>
          <a:prstGeom prst="rect">
            <a:avLst/>
          </a:prstGeom>
        </p:spPr>
      </p:pic>
      <p:sp>
        <p:nvSpPr>
          <p:cNvPr id="37" name="타원 36">
            <a:extLst>
              <a:ext uri="{FF2B5EF4-FFF2-40B4-BE49-F238E27FC236}">
                <a16:creationId xmlns:a16="http://schemas.microsoft.com/office/drawing/2014/main" id="{71C240CE-CEB6-8496-875F-22912C7EEAC0}"/>
              </a:ext>
            </a:extLst>
          </p:cNvPr>
          <p:cNvSpPr/>
          <p:nvPr/>
        </p:nvSpPr>
        <p:spPr>
          <a:xfrm>
            <a:off x="1481117" y="7440585"/>
            <a:ext cx="1117061" cy="1117570"/>
          </a:xfrm>
          <a:prstGeom prst="ellipse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2114E794-3216-D298-506F-28EF21A1E039}"/>
              </a:ext>
            </a:extLst>
          </p:cNvPr>
          <p:cNvSpPr/>
          <p:nvPr/>
        </p:nvSpPr>
        <p:spPr>
          <a:xfrm>
            <a:off x="6490620" y="7444358"/>
            <a:ext cx="1117061" cy="1117570"/>
          </a:xfrm>
          <a:prstGeom prst="ellipse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DF8B95F5-4F2D-876B-CF43-DB985D14D883}"/>
              </a:ext>
            </a:extLst>
          </p:cNvPr>
          <p:cNvSpPr/>
          <p:nvPr/>
        </p:nvSpPr>
        <p:spPr>
          <a:xfrm>
            <a:off x="12165581" y="7455141"/>
            <a:ext cx="1117061" cy="1117570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Google Shape;103;p14">
            <a:extLst>
              <a:ext uri="{FF2B5EF4-FFF2-40B4-BE49-F238E27FC236}">
                <a16:creationId xmlns:a16="http://schemas.microsoft.com/office/drawing/2014/main" id="{9920A7DA-459C-B265-CB28-DA1A3F661661}"/>
              </a:ext>
            </a:extLst>
          </p:cNvPr>
          <p:cNvSpPr txBox="1"/>
          <p:nvPr/>
        </p:nvSpPr>
        <p:spPr>
          <a:xfrm>
            <a:off x="2767219" y="7493728"/>
            <a:ext cx="3025351" cy="100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600" rIns="0" bIns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>
                <a:latin typeface="IBM Plex Sans KR"/>
                <a:ea typeface="IBM Plex Sans KR"/>
              </a:rPr>
              <a:t>김지현 / 팀장</a:t>
            </a:r>
            <a:endParaRPr lang="ko-KR" sz="1800"/>
          </a:p>
          <a:p>
            <a:pPr marL="285750" indent="-285750">
              <a:lnSpc>
                <a:spcPct val="150000"/>
              </a:lnSpc>
              <a:buChar char="•"/>
            </a:pPr>
            <a:r>
              <a:rPr lang="ko-KR" altLang="en-US" sz="1800">
                <a:latin typeface="IBM Plex Sans KR"/>
                <a:ea typeface="IBM Plex Sans KR"/>
              </a:rPr>
              <a:t>프로젝트 일정 조율</a:t>
            </a:r>
            <a:endParaRPr lang="ko-KR" sz="1800">
              <a:ea typeface="IBM Plex Sans KR"/>
            </a:endParaRPr>
          </a:p>
          <a:p>
            <a:pPr marL="285750" indent="-285750">
              <a:lnSpc>
                <a:spcPct val="150000"/>
              </a:lnSpc>
              <a:buChar char="•"/>
            </a:pPr>
            <a:r>
              <a:rPr lang="ko-KR" altLang="en-US" sz="1800">
                <a:latin typeface="IBM Plex Sans KR"/>
                <a:ea typeface="IBM Plex Sans KR"/>
              </a:rPr>
              <a:t>파생변수 ・ 모델 개선</a:t>
            </a:r>
            <a:endParaRPr lang="ko-KR" sz="1800"/>
          </a:p>
        </p:txBody>
      </p:sp>
      <p:sp>
        <p:nvSpPr>
          <p:cNvPr id="50" name="Google Shape;103;p14">
            <a:extLst>
              <a:ext uri="{FF2B5EF4-FFF2-40B4-BE49-F238E27FC236}">
                <a16:creationId xmlns:a16="http://schemas.microsoft.com/office/drawing/2014/main" id="{244468A5-6D43-A813-E582-A365E3D79922}"/>
              </a:ext>
            </a:extLst>
          </p:cNvPr>
          <p:cNvSpPr txBox="1"/>
          <p:nvPr/>
        </p:nvSpPr>
        <p:spPr>
          <a:xfrm>
            <a:off x="7813672" y="7515294"/>
            <a:ext cx="3025351" cy="100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600" rIns="0" bIns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>
                <a:latin typeface="IBM Plex Sans KR"/>
                <a:ea typeface="IBM Plex Sans KR"/>
              </a:rPr>
              <a:t>박빛샘</a:t>
            </a:r>
            <a:endParaRPr lang="ko-KR"/>
          </a:p>
          <a:p>
            <a:pPr marL="285750" indent="-285750">
              <a:lnSpc>
                <a:spcPct val="150000"/>
              </a:lnSpc>
              <a:buChar char="•"/>
            </a:pPr>
            <a:r>
              <a:rPr lang="ko-KR" altLang="en-US" sz="1800">
                <a:latin typeface="IBM Plex Sans KR"/>
                <a:ea typeface="IBM Plex Sans KR"/>
              </a:rPr>
              <a:t>발표 자료 제작</a:t>
            </a:r>
          </a:p>
          <a:p>
            <a:pPr marL="285750" indent="-285750">
              <a:lnSpc>
                <a:spcPct val="150000"/>
              </a:lnSpc>
              <a:buChar char="•"/>
            </a:pPr>
            <a:r>
              <a:rPr lang="ko-KR" altLang="en-US" sz="1800">
                <a:latin typeface="IBM Plex Sans KR"/>
                <a:ea typeface="IBM Plex Sans KR"/>
              </a:rPr>
              <a:t>ExtraTrees ・ 분위수 조정</a:t>
            </a:r>
            <a:endParaRPr lang="ko-KR" sz="1800"/>
          </a:p>
        </p:txBody>
      </p:sp>
      <p:sp>
        <p:nvSpPr>
          <p:cNvPr id="51" name="Google Shape;103;p14">
            <a:extLst>
              <a:ext uri="{FF2B5EF4-FFF2-40B4-BE49-F238E27FC236}">
                <a16:creationId xmlns:a16="http://schemas.microsoft.com/office/drawing/2014/main" id="{ADAFA822-4F19-1FCD-FB98-74D9E98D6F73}"/>
              </a:ext>
            </a:extLst>
          </p:cNvPr>
          <p:cNvSpPr txBox="1"/>
          <p:nvPr/>
        </p:nvSpPr>
        <p:spPr>
          <a:xfrm>
            <a:off x="13593369" y="7493728"/>
            <a:ext cx="3154747" cy="100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600" rIns="0" bIns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>
                <a:latin typeface="IBM Plex Sans KR"/>
                <a:ea typeface="IBM Plex Sans KR"/>
              </a:rPr>
              <a:t>안상균</a:t>
            </a:r>
          </a:p>
          <a:p>
            <a:pPr marL="285750" indent="-285750">
              <a:lnSpc>
                <a:spcPct val="150000"/>
              </a:lnSpc>
              <a:buChar char="•"/>
            </a:pPr>
            <a:r>
              <a:rPr lang="ko-KR" altLang="en-US" sz="1800">
                <a:latin typeface="IBM Plex Sans KR"/>
                <a:ea typeface="IBM Plex Sans KR"/>
              </a:rPr>
              <a:t>GitHub &amp; Notion 관리</a:t>
            </a:r>
          </a:p>
          <a:p>
            <a:pPr marL="285750" indent="-285750">
              <a:lnSpc>
                <a:spcPct val="150000"/>
              </a:lnSpc>
              <a:buChar char="•"/>
            </a:pPr>
            <a:r>
              <a:rPr lang="ko-KR" altLang="en-US" sz="1800">
                <a:latin typeface="IBM Plex Sans KR"/>
                <a:ea typeface="IBM Plex Sans KR"/>
              </a:rPr>
              <a:t>대안 모델 ・ 튜닝</a:t>
            </a:r>
          </a:p>
        </p:txBody>
      </p:sp>
      <p:sp>
        <p:nvSpPr>
          <p:cNvPr id="2" name="Rounded Rectangle 3">
            <a:extLst>
              <a:ext uri="{FF2B5EF4-FFF2-40B4-BE49-F238E27FC236}">
                <a16:creationId xmlns:a16="http://schemas.microsoft.com/office/drawing/2014/main" id="{E7CCDBF7-B215-3C4F-5449-E8BFD5089FB6}"/>
              </a:ext>
            </a:extLst>
          </p:cNvPr>
          <p:cNvSpPr/>
          <p:nvPr/>
        </p:nvSpPr>
        <p:spPr>
          <a:xfrm>
            <a:off x="594360" y="1353311"/>
            <a:ext cx="13323498" cy="73152"/>
          </a:xfrm>
          <a:prstGeom prst="roundRect">
            <a:avLst/>
          </a:prstGeom>
          <a:solidFill>
            <a:srgbClr val="E8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IBM Plex Sans KR" panose="020B0503050203000203" pitchFamily="34" charset="-127"/>
              <a:ea typeface="IBM Plex Sans KR" panose="020B0503050203000203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55783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030075" y="1914525"/>
            <a:ext cx="5343525" cy="626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0100" y="1914525"/>
            <a:ext cx="5343525" cy="6267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1143000" y="2114550"/>
            <a:ext cx="4981500" cy="58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IBM Plex Sans KR"/>
              <a:ea typeface="IBM Plex Sans KR"/>
              <a:cs typeface="Calibri"/>
              <a:sym typeface="Calibri"/>
            </a:endParaRPr>
          </a:p>
        </p:txBody>
      </p:sp>
      <p:pic>
        <p:nvPicPr>
          <p:cNvPr id="125" name="Google Shape;125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77000" y="1914525"/>
            <a:ext cx="5343525" cy="6267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962025" y="571500"/>
            <a:ext cx="9715500" cy="7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9100" rIns="0" bIns="0" anchor="t" anchorCtr="0">
            <a:noAutofit/>
          </a:bodyPr>
          <a:lstStyle/>
          <a:p>
            <a:pPr>
              <a:lnSpc>
                <a:spcPct val="97940"/>
              </a:lnSpc>
            </a:pPr>
            <a:r>
              <a:rPr lang="en-US" sz="4200" b="1">
                <a:solidFill>
                  <a:srgbClr val="567C75"/>
                </a:solidFill>
                <a:latin typeface="IBM Plex Sans KR Medium"/>
                <a:ea typeface="IBM Plex Sans KR Medium"/>
                <a:cs typeface="Hanken Grotesk ExtraBold"/>
                <a:sym typeface="Hanken Grotesk ExtraBold"/>
              </a:rPr>
              <a:t>01  </a:t>
            </a:r>
            <a:r>
              <a:rPr lang="en-US" sz="4200" b="1" err="1">
                <a:solidFill>
                  <a:srgbClr val="567C75"/>
                </a:solidFill>
                <a:latin typeface="IBM Plex Sans KR Medium"/>
                <a:ea typeface="IBM Plex Sans KR Medium"/>
                <a:cs typeface="Hanken Grotesk ExtraBold"/>
                <a:sym typeface="Hanken Grotesk ExtraBold"/>
              </a:rPr>
              <a:t>프로젝트</a:t>
            </a:r>
            <a:r>
              <a:rPr lang="en-US" sz="4200" b="1">
                <a:solidFill>
                  <a:srgbClr val="567C75"/>
                </a:solidFill>
                <a:latin typeface="IBM Plex Sans KR Medium"/>
                <a:ea typeface="IBM Plex Sans KR Medium"/>
                <a:cs typeface="Hanken Grotesk ExtraBold"/>
                <a:sym typeface="Hanken Grotesk ExtraBold"/>
              </a:rPr>
              <a:t> </a:t>
            </a:r>
            <a:r>
              <a:rPr lang="en-US" sz="4200" b="1" err="1">
                <a:solidFill>
                  <a:srgbClr val="567C75"/>
                </a:solidFill>
                <a:latin typeface="IBM Plex Sans KR Medium"/>
                <a:ea typeface="IBM Plex Sans KR Medium"/>
                <a:cs typeface="Hanken Grotesk ExtraBold"/>
                <a:sym typeface="Hanken Grotesk ExtraBold"/>
              </a:rPr>
              <a:t>소개</a:t>
            </a:r>
            <a:r>
              <a:rPr lang="en-US" sz="4200" b="1">
                <a:solidFill>
                  <a:srgbClr val="567C75"/>
                </a:solidFill>
                <a:latin typeface="IBM Plex Sans KR Medium"/>
                <a:ea typeface="IBM Plex Sans KR Medium"/>
                <a:cs typeface="Hanken Grotesk ExtraBold"/>
                <a:sym typeface="Hanken Grotesk ExtraBold"/>
              </a:rPr>
              <a:t> </a:t>
            </a:r>
            <a:r>
              <a:rPr lang="en-US" sz="2400">
                <a:solidFill>
                  <a:srgbClr val="567C75"/>
                </a:solidFill>
                <a:latin typeface="IBM Plex Sans KR Medium"/>
                <a:ea typeface="IBM Plex Sans KR Medium"/>
                <a:cs typeface="Hanken Grotesk ExtraBold"/>
                <a:sym typeface="Hanken Grotesk ExtraBold"/>
              </a:rPr>
              <a:t>- </a:t>
            </a:r>
            <a:r>
              <a:rPr lang="ko-KR" altLang="en-US" sz="2400">
                <a:solidFill>
                  <a:srgbClr val="567C75"/>
                </a:solidFill>
                <a:latin typeface="IBM Plex Sans KR Medium"/>
                <a:ea typeface="IBM Plex Sans KR Medium"/>
                <a:cs typeface="Hanken Grotesk ExtraBold"/>
                <a:sym typeface="Hanken Grotesk ExtraBold"/>
              </a:rPr>
              <a:t>데이터</a:t>
            </a:r>
            <a:r>
              <a:rPr lang="en-US" sz="2400">
                <a:solidFill>
                  <a:srgbClr val="567C75"/>
                </a:solidFill>
                <a:latin typeface="IBM Plex Sans KR Medium"/>
                <a:ea typeface="IBM Plex Sans KR Medium"/>
                <a:cs typeface="Hanken Grotesk ExtraBold"/>
                <a:sym typeface="Hanken Grotesk ExtraBold"/>
              </a:rPr>
              <a:t> </a:t>
            </a:r>
            <a:r>
              <a:rPr lang="ko-KR" altLang="en-US" sz="2400">
                <a:solidFill>
                  <a:srgbClr val="567C75"/>
                </a:solidFill>
                <a:latin typeface="IBM Plex Sans KR Medium"/>
                <a:ea typeface="IBM Plex Sans KR Medium"/>
                <a:cs typeface="Hanken Grotesk ExtraBold"/>
                <a:sym typeface="Hanken Grotesk ExtraBold"/>
              </a:rPr>
              <a:t>구성</a:t>
            </a:r>
            <a:r>
              <a:rPr lang="en-US" sz="2400">
                <a:solidFill>
                  <a:srgbClr val="567C75"/>
                </a:solidFill>
                <a:latin typeface="IBM Plex Sans KR Medium"/>
                <a:ea typeface="IBM Plex Sans KR Medium"/>
                <a:cs typeface="Hanken Grotesk ExtraBold"/>
                <a:sym typeface="Hanken Grotesk ExtraBold"/>
              </a:rPr>
              <a:t> </a:t>
            </a:r>
            <a:r>
              <a:rPr lang="ko-KR" altLang="en-US" sz="2400">
                <a:solidFill>
                  <a:srgbClr val="567C75"/>
                </a:solidFill>
                <a:latin typeface="IBM Plex Sans KR Medium"/>
                <a:ea typeface="IBM Plex Sans KR Medium"/>
                <a:cs typeface="Hanken Grotesk ExtraBold"/>
                <a:sym typeface="Hanken Grotesk ExtraBold"/>
              </a:rPr>
              <a:t>및</a:t>
            </a:r>
            <a:r>
              <a:rPr lang="en-US" sz="2400">
                <a:solidFill>
                  <a:srgbClr val="567C75"/>
                </a:solidFill>
                <a:latin typeface="IBM Plex Sans KR Medium"/>
                <a:ea typeface="IBM Plex Sans KR Medium"/>
                <a:cs typeface="Hanken Grotesk ExtraBold"/>
                <a:sym typeface="Hanken Grotesk ExtraBold"/>
              </a:rPr>
              <a:t> </a:t>
            </a:r>
            <a:r>
              <a:rPr lang="ko-KR" altLang="en-US" sz="2400">
                <a:solidFill>
                  <a:srgbClr val="567C75"/>
                </a:solidFill>
                <a:latin typeface="IBM Plex Sans KR Medium"/>
                <a:ea typeface="IBM Plex Sans KR Medium"/>
                <a:cs typeface="Hanken Grotesk ExtraBold"/>
                <a:sym typeface="Hanken Grotesk ExtraBold"/>
              </a:rPr>
              <a:t>평가</a:t>
            </a:r>
            <a:r>
              <a:rPr lang="en-US" sz="2400">
                <a:solidFill>
                  <a:srgbClr val="567C75"/>
                </a:solidFill>
                <a:latin typeface="IBM Plex Sans KR Medium"/>
                <a:ea typeface="IBM Plex Sans KR Medium"/>
                <a:cs typeface="Hanken Grotesk ExtraBold"/>
                <a:sym typeface="Hanken Grotesk ExtraBold"/>
              </a:rPr>
              <a:t> </a:t>
            </a:r>
            <a:r>
              <a:rPr lang="ko-KR" altLang="en-US" sz="2400">
                <a:solidFill>
                  <a:srgbClr val="567C75"/>
                </a:solidFill>
                <a:latin typeface="IBM Plex Sans KR Medium"/>
                <a:ea typeface="IBM Plex Sans KR Medium"/>
                <a:cs typeface="Hanken Grotesk ExtraBold"/>
                <a:sym typeface="Hanken Grotesk ExtraBold"/>
              </a:rPr>
              <a:t>지표</a:t>
            </a:r>
            <a:endParaRPr lang="en-US" altLang="ko-KR" sz="2400">
              <a:solidFill>
                <a:srgbClr val="567C75"/>
              </a:solidFill>
              <a:latin typeface="IBM Plex Sans KR Medium"/>
              <a:ea typeface="IBM Plex Sans KR Medium"/>
            </a:endParaRPr>
          </a:p>
        </p:txBody>
      </p:sp>
      <p:pic>
        <p:nvPicPr>
          <p:cNvPr id="131" name="Google Shape;131;p1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0100" y="8553450"/>
            <a:ext cx="16697325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4295775" y="8686800"/>
            <a:ext cx="97059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lnSpc>
                <a:spcPct val="116199"/>
              </a:lnSpc>
            </a:pPr>
            <a:r>
              <a:rPr lang="ko-KR" altLang="en-US" sz="2450">
                <a:latin typeface="IBM Plex Sans KR Medium"/>
                <a:ea typeface="IBM Plex Sans KR Medium"/>
                <a:cs typeface="Lato"/>
              </a:rPr>
              <a:t>개인의 신체・생활 정보를 활용하여 </a:t>
            </a:r>
            <a:r>
              <a:rPr lang="ko-KR" altLang="en-US" sz="2450" b="1">
                <a:solidFill>
                  <a:srgbClr val="567C75"/>
                </a:solidFill>
                <a:latin typeface="IBM Plex Sans KR Medium"/>
                <a:ea typeface="IBM Plex Sans KR Medium"/>
                <a:cs typeface="Lato"/>
              </a:rPr>
              <a:t>0-1 범위</a:t>
            </a:r>
            <a:r>
              <a:rPr lang="ko-KR" altLang="en-US" sz="2450">
                <a:latin typeface="IBM Plex Sans KR Medium"/>
                <a:ea typeface="IBM Plex Sans KR Medium"/>
                <a:cs typeface="Lato"/>
              </a:rPr>
              <a:t>의 스트레스 점수를 </a:t>
            </a:r>
            <a:r>
              <a:rPr lang="ko-KR" altLang="en-US" sz="2450" b="1">
                <a:solidFill>
                  <a:srgbClr val="567C75"/>
                </a:solidFill>
                <a:latin typeface="IBM Plex Sans KR Medium"/>
                <a:ea typeface="IBM Plex Sans KR Medium"/>
                <a:cs typeface="Lato"/>
              </a:rPr>
              <a:t>예측</a:t>
            </a:r>
            <a:r>
              <a:rPr lang="ko-KR" altLang="en-US" sz="2450">
                <a:latin typeface="IBM Plex Sans KR Medium"/>
                <a:ea typeface="IBM Plex Sans KR Medium"/>
                <a:cs typeface="Lato"/>
              </a:rPr>
              <a:t>합니다. </a:t>
            </a:r>
          </a:p>
        </p:txBody>
      </p:sp>
      <p:sp>
        <p:nvSpPr>
          <p:cNvPr id="133" name="Google Shape;133;p15"/>
          <p:cNvSpPr txBox="1"/>
          <p:nvPr/>
        </p:nvSpPr>
        <p:spPr>
          <a:xfrm>
            <a:off x="1195463" y="2324900"/>
            <a:ext cx="4552800" cy="5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4450" rIns="0" bIns="0" anchor="t" anchorCtr="0">
            <a:noAutofit/>
          </a:bodyPr>
          <a:lstStyle/>
          <a:p>
            <a:pPr algn="ctr">
              <a:lnSpc>
                <a:spcPct val="97940"/>
              </a:lnSpc>
            </a:pPr>
            <a:r>
              <a:rPr lang="en-US" sz="3150" b="1">
                <a:solidFill>
                  <a:srgbClr val="567C75"/>
                </a:solidFill>
                <a:latin typeface="IBM Plex Sans KR"/>
                <a:ea typeface="IBM Plex Sans KR"/>
                <a:sym typeface="Hanken Grotesk"/>
              </a:rPr>
              <a:t>Train</a:t>
            </a:r>
            <a:r>
              <a:rPr lang="en-US" altLang="ko-KR" sz="3150" b="1">
                <a:solidFill>
                  <a:srgbClr val="567C75"/>
                </a:solidFill>
                <a:latin typeface="IBM Plex Sans KR"/>
                <a:ea typeface="IBM Plex Sans KR"/>
                <a:sym typeface="Hanken Grotesk"/>
              </a:rPr>
              <a:t> Data</a:t>
            </a:r>
            <a:endParaRPr lang="ko-KR" altLang="en-US"/>
          </a:p>
        </p:txBody>
      </p:sp>
      <p:sp>
        <p:nvSpPr>
          <p:cNvPr id="137" name="Google Shape;137;p15"/>
          <p:cNvSpPr txBox="1"/>
          <p:nvPr/>
        </p:nvSpPr>
        <p:spPr>
          <a:xfrm>
            <a:off x="1435576" y="3152455"/>
            <a:ext cx="3140859" cy="83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4450" rIns="0" bIns="0" anchor="t" anchorCtr="0">
            <a:noAutofit/>
          </a:bodyPr>
          <a:lstStyle/>
          <a:p>
            <a:pPr marL="342900" indent="-342900">
              <a:lnSpc>
                <a:spcPct val="97940"/>
              </a:lnSpc>
              <a:buFont typeface="Calibri"/>
              <a:buChar char="-"/>
            </a:pPr>
            <a:r>
              <a:rPr lang="en-US" sz="2400">
                <a:latin typeface="IBM Plex Sans KR"/>
                <a:ea typeface="IBM Plex Sans KR"/>
                <a:sym typeface="Hanken Grotesk"/>
              </a:rPr>
              <a:t>3,000</a:t>
            </a:r>
            <a:r>
              <a:rPr lang="ko-KR" altLang="en-US" sz="2400">
                <a:latin typeface="IBM Plex Sans KR"/>
                <a:ea typeface="IBM Plex Sans KR"/>
                <a:sym typeface="Hanken Grotesk"/>
              </a:rPr>
              <a:t>건</a:t>
            </a:r>
            <a:r>
              <a:rPr lang="en-US" sz="2400">
                <a:latin typeface="IBM Plex Sans KR"/>
                <a:ea typeface="IBM Plex Sans KR"/>
                <a:sym typeface="Hanken Grotesk"/>
              </a:rPr>
              <a:t> X 18</a:t>
            </a:r>
            <a:r>
              <a:rPr lang="ko-KR" altLang="en-US" sz="2400">
                <a:latin typeface="IBM Plex Sans KR"/>
                <a:ea typeface="IBM Plex Sans KR"/>
                <a:sym typeface="Hanken Grotesk"/>
              </a:rPr>
              <a:t>개</a:t>
            </a:r>
            <a:r>
              <a:rPr lang="en-US" sz="2400">
                <a:latin typeface="IBM Plex Sans KR"/>
                <a:ea typeface="IBM Plex Sans KR"/>
                <a:sym typeface="Hanken Grotesk"/>
              </a:rPr>
              <a:t> </a:t>
            </a:r>
            <a:r>
              <a:rPr lang="ko-KR" altLang="en-US" sz="2400">
                <a:latin typeface="IBM Plex Sans KR"/>
                <a:ea typeface="IBM Plex Sans KR"/>
                <a:sym typeface="Hanken Grotesk"/>
              </a:rPr>
              <a:t>컬럼</a:t>
            </a:r>
            <a:endParaRPr lang="en-US" altLang="ko-KR">
              <a:ea typeface="IBM Plex Sans KR"/>
            </a:endParaRPr>
          </a:p>
          <a:p>
            <a:pPr marL="342900" indent="-342900">
              <a:lnSpc>
                <a:spcPct val="97940"/>
              </a:lnSpc>
              <a:buFont typeface="Calibri"/>
              <a:buChar char="-"/>
            </a:pPr>
            <a:r>
              <a:rPr lang="en-US" sz="2400" err="1">
                <a:latin typeface="IBM Plex Sans KR"/>
                <a:ea typeface="IBM Plex Sans KR"/>
              </a:rPr>
              <a:t>stress_score</a:t>
            </a:r>
            <a:r>
              <a:rPr lang="en-US" sz="2400">
                <a:latin typeface="IBM Plex Sans KR"/>
                <a:ea typeface="IBM Plex Sans KR"/>
              </a:rPr>
              <a:t> </a:t>
            </a:r>
            <a:r>
              <a:rPr lang="ko-KR" altLang="en-US" sz="2400" err="1">
                <a:latin typeface="IBM Plex Sans KR"/>
                <a:ea typeface="IBM Plex Sans KR"/>
              </a:rPr>
              <a:t>포함</a:t>
            </a:r>
            <a:r>
              <a:rPr lang="en-US" sz="2400">
                <a:latin typeface="IBM Plex Sans KR"/>
                <a:ea typeface="IBM Plex Sans KR"/>
              </a:rPr>
              <a:t> </a:t>
            </a:r>
            <a:endParaRPr lang="en-US" altLang="ko-KR" sz="2400">
              <a:latin typeface="IBM Plex Sans KR"/>
              <a:ea typeface="IBM Plex Sans KR"/>
            </a:endParaRPr>
          </a:p>
        </p:txBody>
      </p:sp>
      <p:sp>
        <p:nvSpPr>
          <p:cNvPr id="2" name="Google Shape;133;p15">
            <a:extLst>
              <a:ext uri="{FF2B5EF4-FFF2-40B4-BE49-F238E27FC236}">
                <a16:creationId xmlns:a16="http://schemas.microsoft.com/office/drawing/2014/main" id="{93C01A53-3EC7-D53E-34FC-AA065B6B587D}"/>
              </a:ext>
            </a:extLst>
          </p:cNvPr>
          <p:cNvSpPr txBox="1"/>
          <p:nvPr/>
        </p:nvSpPr>
        <p:spPr>
          <a:xfrm>
            <a:off x="6870121" y="2324900"/>
            <a:ext cx="4552800" cy="5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4450" rIns="0" bIns="0" anchor="t" anchorCtr="0">
            <a:noAutofit/>
          </a:bodyPr>
          <a:lstStyle/>
          <a:p>
            <a:pPr algn="ctr">
              <a:lnSpc>
                <a:spcPct val="97940"/>
              </a:lnSpc>
            </a:pPr>
            <a:r>
              <a:rPr lang="ko-KR" altLang="en-US" sz="3150" b="1">
                <a:solidFill>
                  <a:srgbClr val="567C75"/>
                </a:solidFill>
                <a:latin typeface="IBM Plex Sans KR"/>
                <a:ea typeface="IBM Plex Sans KR"/>
              </a:rPr>
              <a:t>Test Data</a:t>
            </a:r>
            <a:endParaRPr lang="ko-KR"/>
          </a:p>
        </p:txBody>
      </p:sp>
      <p:sp>
        <p:nvSpPr>
          <p:cNvPr id="3" name="Google Shape;137;p15">
            <a:extLst>
              <a:ext uri="{FF2B5EF4-FFF2-40B4-BE49-F238E27FC236}">
                <a16:creationId xmlns:a16="http://schemas.microsoft.com/office/drawing/2014/main" id="{83B465C4-6800-C8B0-B478-1F5810AD0CF6}"/>
              </a:ext>
            </a:extLst>
          </p:cNvPr>
          <p:cNvSpPr txBox="1"/>
          <p:nvPr/>
        </p:nvSpPr>
        <p:spPr>
          <a:xfrm>
            <a:off x="7177469" y="3152454"/>
            <a:ext cx="3649927" cy="83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4450" rIns="0" bIns="0" anchor="t" anchorCtr="0">
            <a:noAutofit/>
          </a:bodyPr>
          <a:lstStyle/>
          <a:p>
            <a:pPr marL="342900" indent="-342900">
              <a:lnSpc>
                <a:spcPct val="97940"/>
              </a:lnSpc>
              <a:buFont typeface="Calibri"/>
              <a:buChar char="-"/>
            </a:pPr>
            <a:r>
              <a:rPr lang="ko-KR" altLang="en-US" sz="2400">
                <a:latin typeface="IBM Plex Sans KR"/>
                <a:ea typeface="IBM Plex Sans KR"/>
              </a:rPr>
              <a:t>3,000건 X 17개 컬럼</a:t>
            </a:r>
            <a:endParaRPr lang="ko-KR">
              <a:ea typeface="IBM Plex Sans KR"/>
            </a:endParaRPr>
          </a:p>
          <a:p>
            <a:pPr marL="342900" indent="-342900">
              <a:lnSpc>
                <a:spcPct val="97940"/>
              </a:lnSpc>
              <a:buFont typeface="Calibri"/>
              <a:buChar char="-"/>
            </a:pPr>
            <a:r>
              <a:rPr lang="ko-KR" altLang="en-US" sz="2400">
                <a:latin typeface="IBM Plex Sans KR"/>
                <a:ea typeface="IBM Plex Sans KR"/>
              </a:rPr>
              <a:t>stress_score 예측 대상</a:t>
            </a:r>
          </a:p>
        </p:txBody>
      </p:sp>
      <p:sp>
        <p:nvSpPr>
          <p:cNvPr id="6" name="Google Shape;133;p15">
            <a:extLst>
              <a:ext uri="{FF2B5EF4-FFF2-40B4-BE49-F238E27FC236}">
                <a16:creationId xmlns:a16="http://schemas.microsoft.com/office/drawing/2014/main" id="{BC01EA4B-F88E-AAF9-688E-A6409D85BEE4}"/>
              </a:ext>
            </a:extLst>
          </p:cNvPr>
          <p:cNvSpPr txBox="1"/>
          <p:nvPr/>
        </p:nvSpPr>
        <p:spPr>
          <a:xfrm>
            <a:off x="12413190" y="2324900"/>
            <a:ext cx="4552800" cy="5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4450" rIns="0" bIns="0" anchor="t" anchorCtr="0">
            <a:noAutofit/>
          </a:bodyPr>
          <a:lstStyle/>
          <a:p>
            <a:pPr algn="ctr">
              <a:lnSpc>
                <a:spcPct val="97940"/>
              </a:lnSpc>
            </a:pPr>
            <a:r>
              <a:rPr lang="en-US" altLang="ko-KR" sz="3150" b="1" err="1">
                <a:solidFill>
                  <a:srgbClr val="567C75"/>
                </a:solidFill>
                <a:latin typeface="IBM Plex Sans KR"/>
                <a:ea typeface="IBM Plex Sans KR"/>
              </a:rPr>
              <a:t>평가</a:t>
            </a:r>
            <a:r>
              <a:rPr lang="en-US" altLang="ko-KR" sz="3150" b="1">
                <a:solidFill>
                  <a:srgbClr val="567C75"/>
                </a:solidFill>
                <a:latin typeface="IBM Plex Sans KR"/>
                <a:ea typeface="IBM Plex Sans KR"/>
              </a:rPr>
              <a:t> </a:t>
            </a:r>
            <a:r>
              <a:rPr lang="en-US" altLang="ko-KR" sz="3150" b="1" err="1">
                <a:solidFill>
                  <a:srgbClr val="567C75"/>
                </a:solidFill>
                <a:latin typeface="IBM Plex Sans KR"/>
                <a:ea typeface="IBM Plex Sans KR"/>
              </a:rPr>
              <a:t>지표</a:t>
            </a:r>
            <a:r>
              <a:rPr lang="en-US" altLang="ko-KR" sz="3150" b="1">
                <a:solidFill>
                  <a:srgbClr val="567C75"/>
                </a:solidFill>
                <a:latin typeface="IBM Plex Sans KR"/>
                <a:ea typeface="IBM Plex Sans KR"/>
              </a:rPr>
              <a:t>: MAE</a:t>
            </a:r>
          </a:p>
        </p:txBody>
      </p:sp>
      <p:sp>
        <p:nvSpPr>
          <p:cNvPr id="7" name="Google Shape;137;p15">
            <a:extLst>
              <a:ext uri="{FF2B5EF4-FFF2-40B4-BE49-F238E27FC236}">
                <a16:creationId xmlns:a16="http://schemas.microsoft.com/office/drawing/2014/main" id="{5F1D1C6E-0A06-F6E5-A29D-3CBE07A1665B}"/>
              </a:ext>
            </a:extLst>
          </p:cNvPr>
          <p:cNvSpPr txBox="1"/>
          <p:nvPr/>
        </p:nvSpPr>
        <p:spPr>
          <a:xfrm>
            <a:off x="12710853" y="3152213"/>
            <a:ext cx="4187808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4450" rIns="0" bIns="0" anchor="t" anchorCtr="0">
            <a:noAutofit/>
          </a:bodyPr>
          <a:lstStyle/>
          <a:p>
            <a:pPr marL="342900" indent="-342900">
              <a:lnSpc>
                <a:spcPct val="97940"/>
              </a:lnSpc>
              <a:buFont typeface="Calibri"/>
              <a:buChar char="-"/>
            </a:pPr>
            <a:r>
              <a:rPr lang="ko-KR" altLang="en-US" sz="2400">
                <a:latin typeface="IBM Plex Sans KR"/>
                <a:ea typeface="IBM Plex Sans KR"/>
              </a:rPr>
              <a:t>실제 점수와 예측 점수 차이의 </a:t>
            </a:r>
            <a:r>
              <a:rPr lang="ko-KR" altLang="en-US" sz="2400" b="1">
                <a:latin typeface="IBM Plex Sans KR"/>
                <a:ea typeface="IBM Plex Sans KR"/>
              </a:rPr>
              <a:t>절댓값 평균</a:t>
            </a:r>
          </a:p>
          <a:p>
            <a:pPr marL="342900" indent="-342900">
              <a:lnSpc>
                <a:spcPct val="97940"/>
              </a:lnSpc>
              <a:buFont typeface="Calibri"/>
              <a:buChar char="-"/>
            </a:pPr>
            <a:r>
              <a:rPr lang="ko-KR" altLang="en-US" sz="2400">
                <a:latin typeface="IBM Plex Sans KR"/>
                <a:ea typeface="IBM Plex Sans KR"/>
              </a:rPr>
              <a:t>값이 </a:t>
            </a:r>
            <a:r>
              <a:rPr lang="ko-KR" altLang="en-US" sz="2400" b="1">
                <a:latin typeface="IBM Plex Sans KR"/>
                <a:ea typeface="IBM Plex Sans KR"/>
              </a:rPr>
              <a:t>낮을수록</a:t>
            </a:r>
            <a:r>
              <a:rPr lang="ko-KR" altLang="en-US" sz="2400">
                <a:latin typeface="IBM Plex Sans KR"/>
                <a:ea typeface="IBM Plex Sans KR"/>
              </a:rPr>
              <a:t> 성능이 우수</a:t>
            </a:r>
          </a:p>
          <a:p>
            <a:pPr>
              <a:lnSpc>
                <a:spcPct val="97940"/>
              </a:lnSpc>
            </a:pPr>
            <a:endParaRPr lang="ko-KR" altLang="en-US" sz="2400">
              <a:latin typeface="IBM Plex Sans KR"/>
              <a:ea typeface="IBM Plex Sans KR"/>
            </a:endParaRPr>
          </a:p>
        </p:txBody>
      </p:sp>
      <p:pic>
        <p:nvPicPr>
          <p:cNvPr id="10" name="그림 9" descr="이미지 미리 보기">
            <a:extLst>
              <a:ext uri="{FF2B5EF4-FFF2-40B4-BE49-F238E27FC236}">
                <a16:creationId xmlns:a16="http://schemas.microsoft.com/office/drawing/2014/main" id="{2625B307-3FD4-071A-1FB2-303E3950E7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310" y="3997818"/>
            <a:ext cx="4849826" cy="4193162"/>
          </a:xfrm>
          <a:prstGeom prst="rect">
            <a:avLst/>
          </a:prstGeom>
        </p:spPr>
      </p:pic>
      <p:pic>
        <p:nvPicPr>
          <p:cNvPr id="11" name="그림 10" descr="이미지 미리 보기">
            <a:extLst>
              <a:ext uri="{FF2B5EF4-FFF2-40B4-BE49-F238E27FC236}">
                <a16:creationId xmlns:a16="http://schemas.microsoft.com/office/drawing/2014/main" id="{E5A13BFE-3753-2A7B-128C-1FB9665D17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75582" y="3930584"/>
            <a:ext cx="4346442" cy="4318027"/>
          </a:xfrm>
          <a:prstGeom prst="rect">
            <a:avLst/>
          </a:prstGeom>
        </p:spPr>
      </p:pic>
      <p:pic>
        <p:nvPicPr>
          <p:cNvPr id="12" name="그림 11" descr="이미지 미리 보기">
            <a:extLst>
              <a:ext uri="{FF2B5EF4-FFF2-40B4-BE49-F238E27FC236}">
                <a16:creationId xmlns:a16="http://schemas.microsoft.com/office/drawing/2014/main" id="{9EE2C2F5-D88B-AFD0-89A7-841135A9B44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15998" y="4052968"/>
            <a:ext cx="4540224" cy="4198124"/>
          </a:xfrm>
          <a:prstGeom prst="rect">
            <a:avLst/>
          </a:prstGeom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60BF117-4A1F-ABB8-5B16-2A4712F7AB31}"/>
              </a:ext>
            </a:extLst>
          </p:cNvPr>
          <p:cNvSpPr/>
          <p:nvPr/>
        </p:nvSpPr>
        <p:spPr>
          <a:xfrm>
            <a:off x="1709697" y="3573075"/>
            <a:ext cx="1882588" cy="384201"/>
          </a:xfrm>
          <a:prstGeom prst="roundRect">
            <a:avLst/>
          </a:prstGeom>
          <a:solidFill>
            <a:srgbClr val="567C75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88A04D6-2326-19C6-0A32-208241AAE1FA}"/>
              </a:ext>
            </a:extLst>
          </p:cNvPr>
          <p:cNvSpPr/>
          <p:nvPr/>
        </p:nvSpPr>
        <p:spPr>
          <a:xfrm>
            <a:off x="7443906" y="3573074"/>
            <a:ext cx="1882588" cy="384201"/>
          </a:xfrm>
          <a:prstGeom prst="roundRect">
            <a:avLst/>
          </a:prstGeom>
          <a:solidFill>
            <a:srgbClr val="567C75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E0E682-920E-8E72-174A-F8D622129804}"/>
              </a:ext>
            </a:extLst>
          </p:cNvPr>
          <p:cNvSpPr/>
          <p:nvPr/>
        </p:nvSpPr>
        <p:spPr>
          <a:xfrm>
            <a:off x="594360" y="1353311"/>
            <a:ext cx="13323498" cy="73152"/>
          </a:xfrm>
          <a:prstGeom prst="roundRect">
            <a:avLst/>
          </a:prstGeom>
          <a:solidFill>
            <a:srgbClr val="E8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IBM Plex Sans KR" panose="020B0503050203000203" pitchFamily="34" charset="-127"/>
              <a:ea typeface="IBM Plex Sans KR" panose="020B0503050203000203" pitchFamily="34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94;p18" descr="직사각형, 스크린샷, 프레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2055862-52BD-04F0-C54C-A5C124D7E46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099" y="2030425"/>
            <a:ext cx="8160762" cy="3068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94;p18" descr="직사각형, 스크린샷, 프레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3D55CAE-5F11-65F0-5DCE-A7CE15345B5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3538" y="5872440"/>
            <a:ext cx="8160762" cy="3068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94;p18" descr="직사각형, 스크린샷, 프레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D606088-9CB4-2B7A-8AC2-637EA33BC65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11553" y="2155290"/>
            <a:ext cx="8160762" cy="3068011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8"/>
          <p:cNvSpPr txBox="1"/>
          <p:nvPr/>
        </p:nvSpPr>
        <p:spPr>
          <a:xfrm>
            <a:off x="1143000" y="2345711"/>
            <a:ext cx="3486300" cy="71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IBM Plex Sans KR Medium"/>
              <a:ea typeface="IBM Plex Sans KR Medium"/>
              <a:cs typeface="Calibri"/>
              <a:sym typeface="Calibri"/>
            </a:endParaRPr>
          </a:p>
        </p:txBody>
      </p:sp>
      <p:pic>
        <p:nvPicPr>
          <p:cNvPr id="194" name="Google Shape;19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51361" y="5872442"/>
            <a:ext cx="8189577" cy="3048801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8"/>
          <p:cNvSpPr txBox="1"/>
          <p:nvPr/>
        </p:nvSpPr>
        <p:spPr>
          <a:xfrm>
            <a:off x="962025" y="571500"/>
            <a:ext cx="9715500" cy="7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9100" rIns="0" bIns="0" anchor="t" anchorCtr="0">
            <a:noAutofit/>
          </a:bodyPr>
          <a:lstStyle/>
          <a:p>
            <a:r>
              <a:rPr lang="en-US" sz="4200">
                <a:solidFill>
                  <a:srgbClr val="567C75"/>
                </a:solidFill>
                <a:latin typeface="IBM Plex Sans KR Medium"/>
                <a:ea typeface="IBM Plex Sans KR Medium"/>
                <a:sym typeface="Hanken Grotesk ExtraBold"/>
              </a:rPr>
              <a:t>02 </a:t>
            </a:r>
            <a:r>
              <a:rPr lang="en-US" altLang="ko-KR" sz="4200">
                <a:solidFill>
                  <a:srgbClr val="567C75"/>
                </a:solidFill>
                <a:latin typeface="IBM Plex Sans KR Medium"/>
                <a:ea typeface="IBM Plex Sans KR Medium"/>
                <a:sym typeface="Hanken Grotesk ExtraBold"/>
              </a:rPr>
              <a:t> </a:t>
            </a:r>
            <a:r>
              <a:rPr lang="ko-KR" altLang="en-US" sz="4200">
                <a:solidFill>
                  <a:srgbClr val="567C75"/>
                </a:solidFill>
                <a:latin typeface="IBM Plex Sans KR Medium"/>
                <a:ea typeface="IBM Plex Sans KR Medium"/>
                <a:sym typeface="Hanken Grotesk ExtraBold"/>
              </a:rPr>
              <a:t>데이터</a:t>
            </a:r>
            <a:r>
              <a:rPr lang="en-US" altLang="ko-KR" sz="4200">
                <a:solidFill>
                  <a:srgbClr val="567C75"/>
                </a:solidFill>
                <a:latin typeface="IBM Plex Sans KR Medium"/>
                <a:ea typeface="IBM Plex Sans KR Medium"/>
                <a:sym typeface="Hanken Grotesk ExtraBold"/>
              </a:rPr>
              <a:t> </a:t>
            </a:r>
            <a:r>
              <a:rPr lang="ko-KR" altLang="en-US" sz="4200">
                <a:solidFill>
                  <a:srgbClr val="567C75"/>
                </a:solidFill>
                <a:latin typeface="IBM Plex Sans KR Medium"/>
                <a:ea typeface="IBM Plex Sans KR Medium"/>
                <a:sym typeface="Hanken Grotesk ExtraBold"/>
              </a:rPr>
              <a:t>분석</a:t>
            </a:r>
            <a:r>
              <a:rPr lang="en-US" altLang="ko-KR" sz="4200">
                <a:solidFill>
                  <a:srgbClr val="567C75"/>
                </a:solidFill>
                <a:latin typeface="IBM Plex Sans KR Medium"/>
                <a:ea typeface="IBM Plex Sans KR Medium"/>
                <a:sym typeface="Hanken Grotesk ExtraBold"/>
              </a:rPr>
              <a:t> </a:t>
            </a:r>
            <a:r>
              <a:rPr lang="ko-KR" altLang="en-US" sz="4200">
                <a:solidFill>
                  <a:srgbClr val="567C75"/>
                </a:solidFill>
                <a:latin typeface="IBM Plex Sans KR Medium"/>
                <a:ea typeface="IBM Plex Sans KR Medium"/>
                <a:sym typeface="Hanken Grotesk ExtraBold"/>
              </a:rPr>
              <a:t>및</a:t>
            </a:r>
            <a:r>
              <a:rPr lang="en-US" altLang="ko-KR" sz="4200">
                <a:solidFill>
                  <a:srgbClr val="567C75"/>
                </a:solidFill>
                <a:latin typeface="IBM Plex Sans KR Medium"/>
                <a:ea typeface="IBM Plex Sans KR Medium"/>
                <a:sym typeface="Hanken Grotesk ExtraBold"/>
              </a:rPr>
              <a:t> </a:t>
            </a:r>
            <a:r>
              <a:rPr lang="ko-KR" altLang="en-US" sz="4200">
                <a:solidFill>
                  <a:srgbClr val="567C75"/>
                </a:solidFill>
                <a:latin typeface="IBM Plex Sans KR Medium"/>
                <a:ea typeface="IBM Plex Sans KR Medium"/>
                <a:sym typeface="Hanken Grotesk ExtraBold"/>
              </a:rPr>
              <a:t>전처리</a:t>
            </a:r>
            <a:endParaRPr lang="en-US" sz="4200">
              <a:latin typeface="IBM Plex Sans KR Medium"/>
              <a:ea typeface="IBM Plex Sans KR Medium"/>
              <a:sym typeface="Hanken Grotesk ExtraBold"/>
            </a:endParaRPr>
          </a:p>
          <a:p>
            <a:pPr marL="0" marR="0" lvl="0" indent="0" algn="l">
              <a:lnSpc>
                <a:spcPct val="9794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4200">
              <a:solidFill>
                <a:srgbClr val="567C75"/>
              </a:solidFill>
              <a:latin typeface="Hanken Grotesk ExtraBold"/>
            </a:endParaRPr>
          </a:p>
        </p:txBody>
      </p:sp>
      <p:sp>
        <p:nvSpPr>
          <p:cNvPr id="201" name="Google Shape;201;p18"/>
          <p:cNvSpPr txBox="1"/>
          <p:nvPr/>
        </p:nvSpPr>
        <p:spPr>
          <a:xfrm>
            <a:off x="4118481" y="2285759"/>
            <a:ext cx="4443302" cy="2566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700" rIns="0" bIns="0" anchor="t" anchorCtr="0">
            <a:noAutofit/>
          </a:bodyPr>
          <a:lstStyle/>
          <a:p>
            <a:pPr marL="457200" indent="-457200">
              <a:lnSpc>
                <a:spcPct val="150000"/>
              </a:lnSpc>
              <a:buFont typeface="Courier New"/>
              <a:buChar char="o"/>
            </a:pPr>
            <a:r>
              <a:rPr lang="ko-KR" altLang="en-US" sz="2000">
                <a:latin typeface="IBM Plex Sans KR Medium"/>
                <a:ea typeface="IBM Plex Sans KR Medium"/>
              </a:rPr>
              <a:t>신체 정보 : 키, 몸무게, 혈압, 골밀도 등</a:t>
            </a:r>
            <a:endParaRPr lang="ko-KR"/>
          </a:p>
          <a:p>
            <a:pPr marL="457200" indent="-457200">
              <a:lnSpc>
                <a:spcPct val="150000"/>
              </a:lnSpc>
              <a:buFont typeface="Courier New"/>
              <a:buChar char="o"/>
            </a:pPr>
            <a:r>
              <a:rPr lang="ko-KR" altLang="en-US" sz="2000">
                <a:latin typeface="IBM Plex Sans KR Medium"/>
                <a:ea typeface="IBM Plex Sans KR Medium"/>
              </a:rPr>
              <a:t>건강 정보 : 혈당, 콜레스테롤 등</a:t>
            </a:r>
          </a:p>
          <a:p>
            <a:pPr marL="457200" indent="-457200">
              <a:lnSpc>
                <a:spcPct val="150000"/>
              </a:lnSpc>
              <a:buFont typeface="Courier New"/>
              <a:buChar char="o"/>
            </a:pPr>
            <a:r>
              <a:rPr lang="ko-KR" altLang="en-US" sz="2000">
                <a:latin typeface="IBM Plex Sans KR Medium"/>
                <a:ea typeface="IBM Plex Sans KR Medium"/>
              </a:rPr>
              <a:t>생활 습관 : 활동량, 근무시간 등</a:t>
            </a:r>
          </a:p>
          <a:p>
            <a:pPr marL="457200" indent="-457200">
              <a:lnSpc>
                <a:spcPct val="150000"/>
              </a:lnSpc>
              <a:buFont typeface="Courier New"/>
              <a:buChar char="o"/>
            </a:pPr>
            <a:r>
              <a:rPr lang="ko-KR" altLang="en-US" sz="2000">
                <a:latin typeface="IBM Plex Sans KR Medium"/>
                <a:ea typeface="IBM Plex Sans KR Medium"/>
              </a:rPr>
              <a:t>범주형・수치형 변수가 함께 존재</a:t>
            </a:r>
          </a:p>
          <a:p>
            <a:pPr marL="457200" indent="-457200">
              <a:lnSpc>
                <a:spcPct val="150000"/>
              </a:lnSpc>
              <a:buFont typeface="Courier New"/>
              <a:buChar char="o"/>
            </a:pPr>
            <a:r>
              <a:rPr lang="ko-KR" altLang="en-US" sz="2000">
                <a:latin typeface="IBM Plex Sans KR Medium"/>
                <a:ea typeface="IBM Plex Sans KR Medium"/>
              </a:rPr>
              <a:t>일부 변수에 결측치가 존재 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666BB5D7-C255-A545-63D4-CB7A26980553}"/>
              </a:ext>
            </a:extLst>
          </p:cNvPr>
          <p:cNvSpPr/>
          <p:nvPr/>
        </p:nvSpPr>
        <p:spPr>
          <a:xfrm>
            <a:off x="1143000" y="1748116"/>
            <a:ext cx="2843092" cy="787613"/>
          </a:xfrm>
          <a:prstGeom prst="roundRect">
            <a:avLst/>
          </a:prstGeom>
          <a:solidFill>
            <a:srgbClr val="567C75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>
                <a:latin typeface="IBM Plex Sans KR Medium"/>
                <a:ea typeface="IBM Plex Sans KR Medium"/>
              </a:rPr>
              <a:t>데이터 구성</a:t>
            </a:r>
          </a:p>
        </p:txBody>
      </p:sp>
      <p:pic>
        <p:nvPicPr>
          <p:cNvPr id="3" name="그림 2" descr="이미지 미리 보기">
            <a:extLst>
              <a:ext uri="{FF2B5EF4-FFF2-40B4-BE49-F238E27FC236}">
                <a16:creationId xmlns:a16="http://schemas.microsoft.com/office/drawing/2014/main" id="{288FFAB6-2AB8-B77F-A5A7-1AD423BB40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0786" y="2572149"/>
            <a:ext cx="2297127" cy="2193953"/>
          </a:xfrm>
          <a:prstGeom prst="rect">
            <a:avLst/>
          </a:prstGeom>
        </p:spPr>
      </p:pic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C91AA40-1545-79F2-F017-E7BAAD4DBE68}"/>
              </a:ext>
            </a:extLst>
          </p:cNvPr>
          <p:cNvSpPr/>
          <p:nvPr/>
        </p:nvSpPr>
        <p:spPr>
          <a:xfrm>
            <a:off x="1142999" y="5474872"/>
            <a:ext cx="2843092" cy="787613"/>
          </a:xfrm>
          <a:prstGeom prst="roundRect">
            <a:avLst/>
          </a:prstGeom>
          <a:solidFill>
            <a:srgbClr val="567C75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2800">
                <a:latin typeface="IBM Plex Sans KR Medium"/>
                <a:ea typeface="IBM Plex Sans KR Medium"/>
              </a:rPr>
              <a:t>결측치 처리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20CDD6A-9525-B444-7C0D-CCDE56B3069B}"/>
              </a:ext>
            </a:extLst>
          </p:cNvPr>
          <p:cNvSpPr/>
          <p:nvPr/>
        </p:nvSpPr>
        <p:spPr>
          <a:xfrm>
            <a:off x="10018058" y="1575225"/>
            <a:ext cx="2843092" cy="787613"/>
          </a:xfrm>
          <a:prstGeom prst="roundRect">
            <a:avLst/>
          </a:prstGeom>
          <a:solidFill>
            <a:srgbClr val="567C75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2800">
                <a:latin typeface="IBM Plex Sans KR Medium"/>
                <a:ea typeface="IBM Plex Sans KR Medium"/>
              </a:rPr>
              <a:t>범주형 변수 처리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F805BD9-F4BA-75EF-2A3B-B5BE3487C5AE}"/>
              </a:ext>
            </a:extLst>
          </p:cNvPr>
          <p:cNvSpPr/>
          <p:nvPr/>
        </p:nvSpPr>
        <p:spPr>
          <a:xfrm>
            <a:off x="10018057" y="5474871"/>
            <a:ext cx="2843092" cy="787613"/>
          </a:xfrm>
          <a:prstGeom prst="roundRect">
            <a:avLst/>
          </a:prstGeom>
          <a:solidFill>
            <a:srgbClr val="567C75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2800">
                <a:latin typeface="IBM Plex Sans KR Medium"/>
                <a:ea typeface="IBM Plex Sans KR Medium"/>
              </a:rPr>
              <a:t>데이터 누수 방지</a:t>
            </a:r>
          </a:p>
        </p:txBody>
      </p:sp>
      <p:pic>
        <p:nvPicPr>
          <p:cNvPr id="8" name="그림 7" descr="이미지 미리 보기">
            <a:extLst>
              <a:ext uri="{FF2B5EF4-FFF2-40B4-BE49-F238E27FC236}">
                <a16:creationId xmlns:a16="http://schemas.microsoft.com/office/drawing/2014/main" id="{CF4D6D9D-936B-A0FF-9B24-2A3563C35D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4820" y="6573451"/>
            <a:ext cx="3560831" cy="2029066"/>
          </a:xfrm>
          <a:prstGeom prst="rect">
            <a:avLst/>
          </a:prstGeom>
        </p:spPr>
      </p:pic>
      <p:pic>
        <p:nvPicPr>
          <p:cNvPr id="9" name="그림 8" descr="이미지 미리 보기">
            <a:extLst>
              <a:ext uri="{FF2B5EF4-FFF2-40B4-BE49-F238E27FC236}">
                <a16:creationId xmlns:a16="http://schemas.microsoft.com/office/drawing/2014/main" id="{96B6C382-4333-93D0-DD95-B0A1EFB99D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9693" y="2704500"/>
            <a:ext cx="3808640" cy="2063724"/>
          </a:xfrm>
          <a:prstGeom prst="rect">
            <a:avLst/>
          </a:prstGeom>
        </p:spPr>
      </p:pic>
      <p:pic>
        <p:nvPicPr>
          <p:cNvPr id="10" name="그림 9" descr="이미지 미리 보기">
            <a:extLst>
              <a:ext uri="{FF2B5EF4-FFF2-40B4-BE49-F238E27FC236}">
                <a16:creationId xmlns:a16="http://schemas.microsoft.com/office/drawing/2014/main" id="{DF15EAD3-F064-DF93-98A1-80E6547939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6180" y="6889777"/>
            <a:ext cx="3360405" cy="1204314"/>
          </a:xfrm>
          <a:prstGeom prst="rect">
            <a:avLst/>
          </a:prstGeom>
        </p:spPr>
      </p:pic>
      <p:sp>
        <p:nvSpPr>
          <p:cNvPr id="14" name="Google Shape;201;p18">
            <a:extLst>
              <a:ext uri="{FF2B5EF4-FFF2-40B4-BE49-F238E27FC236}">
                <a16:creationId xmlns:a16="http://schemas.microsoft.com/office/drawing/2014/main" id="{01AE1D97-C4D8-5059-80F6-4C540460213A}"/>
              </a:ext>
            </a:extLst>
          </p:cNvPr>
          <p:cNvSpPr txBox="1"/>
          <p:nvPr/>
        </p:nvSpPr>
        <p:spPr>
          <a:xfrm>
            <a:off x="958421" y="6569607"/>
            <a:ext cx="3694109" cy="2614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700" rIns="0" bIns="0" anchor="t" anchorCtr="0">
            <a:noAutofit/>
          </a:bodyPr>
          <a:lstStyle/>
          <a:p>
            <a:pPr marL="457200" indent="-457200">
              <a:lnSpc>
                <a:spcPct val="150000"/>
              </a:lnSpc>
              <a:buFont typeface="Courier New"/>
              <a:buChar char="o"/>
            </a:pPr>
            <a:r>
              <a:rPr lang="ko-KR" altLang="en-US" sz="2000">
                <a:latin typeface="IBM Plex Sans KR Medium"/>
                <a:ea typeface="IBM Plex Sans KR Medium"/>
              </a:rPr>
              <a:t>수치형 변수 : 중앙값 대체</a:t>
            </a:r>
          </a:p>
          <a:p>
            <a:pPr marL="457200" indent="-457200">
              <a:lnSpc>
                <a:spcPct val="150000"/>
              </a:lnSpc>
              <a:buFont typeface="Courier New"/>
              <a:buChar char="o"/>
            </a:pPr>
            <a:r>
              <a:rPr lang="ko-KR" altLang="en-US" sz="2000">
                <a:latin typeface="IBM Plex Sans KR Medium"/>
                <a:ea typeface="IBM Plex Sans KR Medium"/>
              </a:rPr>
              <a:t>범주형 변수 : missing 이라는 별도 범주로 대체</a:t>
            </a:r>
          </a:p>
          <a:p>
            <a:pPr marL="457200" indent="-457200">
              <a:lnSpc>
                <a:spcPct val="150000"/>
              </a:lnSpc>
              <a:buFont typeface="Courier New"/>
              <a:buChar char="o"/>
            </a:pPr>
            <a:r>
              <a:rPr lang="ko-KR" altLang="en-US" sz="2000">
                <a:latin typeface="IBM Plex Sans KR Medium"/>
                <a:ea typeface="IBM Plex Sans KR Medium"/>
              </a:rPr>
              <a:t>결측 여부를 추가 변수로 생성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36FC2F4-A122-860C-6FD3-BFB8643154A5}"/>
              </a:ext>
            </a:extLst>
          </p:cNvPr>
          <p:cNvSpPr/>
          <p:nvPr/>
        </p:nvSpPr>
        <p:spPr>
          <a:xfrm>
            <a:off x="2747041" y="7174965"/>
            <a:ext cx="998925" cy="384201"/>
          </a:xfrm>
          <a:prstGeom prst="roundRect">
            <a:avLst/>
          </a:prstGeom>
          <a:solidFill>
            <a:srgbClr val="567C75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Google Shape;201;p18">
            <a:extLst>
              <a:ext uri="{FF2B5EF4-FFF2-40B4-BE49-F238E27FC236}">
                <a16:creationId xmlns:a16="http://schemas.microsoft.com/office/drawing/2014/main" id="{5D538D4A-73FA-A17F-FAB8-710275ACA7D2}"/>
              </a:ext>
            </a:extLst>
          </p:cNvPr>
          <p:cNvSpPr txBox="1"/>
          <p:nvPr/>
        </p:nvSpPr>
        <p:spPr>
          <a:xfrm>
            <a:off x="13358530" y="2967717"/>
            <a:ext cx="4193571" cy="1529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700" rIns="0" bIns="0" anchor="t" anchorCtr="0">
            <a:noAutofit/>
          </a:bodyPr>
          <a:lstStyle/>
          <a:p>
            <a:pPr marL="457200" indent="-457200">
              <a:lnSpc>
                <a:spcPct val="150000"/>
              </a:lnSpc>
              <a:buFont typeface="Courier New"/>
              <a:buChar char="o"/>
            </a:pPr>
            <a:r>
              <a:rPr lang="ko-KR" altLang="en-US" sz="2000">
                <a:latin typeface="IBM Plex Sans KR Medium"/>
                <a:ea typeface="IBM Plex Sans KR Medium"/>
              </a:rPr>
              <a:t>One-Hot Encoding 적용</a:t>
            </a:r>
          </a:p>
          <a:p>
            <a:pPr marL="457200" indent="-457200">
              <a:lnSpc>
                <a:spcPct val="150000"/>
              </a:lnSpc>
              <a:buFont typeface="Courier New"/>
              <a:buChar char="o"/>
            </a:pPr>
            <a:r>
              <a:rPr lang="ko-KR" altLang="en-US" sz="2000">
                <a:latin typeface="IBM Plex Sans KR Medium"/>
                <a:ea typeface="IBM Plex Sans KR Medium"/>
              </a:rPr>
              <a:t>Train 데이터로만 인코더 학습</a:t>
            </a:r>
          </a:p>
          <a:p>
            <a:pPr marL="457200" indent="-457200">
              <a:lnSpc>
                <a:spcPct val="150000"/>
              </a:lnSpc>
              <a:buFont typeface="Courier New"/>
              <a:buChar char="o"/>
            </a:pPr>
            <a:r>
              <a:rPr lang="ko-KR" altLang="en-US" sz="2000">
                <a:latin typeface="IBM Plex Sans KR Medium"/>
                <a:ea typeface="IBM Plex Sans KR Medium"/>
              </a:rPr>
              <a:t>Test의 미확인 범주는 무시</a:t>
            </a:r>
          </a:p>
        </p:txBody>
      </p:sp>
      <p:sp>
        <p:nvSpPr>
          <p:cNvPr id="22" name="Google Shape;201;p18">
            <a:extLst>
              <a:ext uri="{FF2B5EF4-FFF2-40B4-BE49-F238E27FC236}">
                <a16:creationId xmlns:a16="http://schemas.microsoft.com/office/drawing/2014/main" id="{F201160C-100F-01FD-D354-EF5DCDCAD122}"/>
              </a:ext>
            </a:extLst>
          </p:cNvPr>
          <p:cNvSpPr txBox="1"/>
          <p:nvPr/>
        </p:nvSpPr>
        <p:spPr>
          <a:xfrm>
            <a:off x="13917858" y="6717764"/>
            <a:ext cx="2940586" cy="1740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700" rIns="0" bIns="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>
                <a:latin typeface="IBM Plex Sans KR Medium"/>
                <a:ea typeface="IBM Plex Sans KR Medium"/>
              </a:rPr>
              <a:t>Train</a:t>
            </a:r>
            <a:r>
              <a:rPr lang="ko-KR" altLang="en-US" sz="2000">
                <a:latin typeface="IBM Plex Sans KR Medium"/>
                <a:ea typeface="IBM Plex Sans KR Medium"/>
              </a:rPr>
              <a:t>으로 학습</a:t>
            </a:r>
            <a:endParaRPr lang="en-US" altLang="ko-KR" sz="2000">
              <a:latin typeface="IBM Plex Sans KR Medium"/>
              <a:ea typeface="IBM Plex Sans KR Medium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000">
                <a:latin typeface="IBM Plex Sans KR Medium"/>
                <a:ea typeface="IBM Plex Sans KR Medium"/>
              </a:rPr>
              <a:t>⇓</a:t>
            </a:r>
            <a:endParaRPr lang="en-US" altLang="ko-KR" sz="2000">
              <a:latin typeface="IBM Plex Sans KR Medium"/>
              <a:ea typeface="IBM Plex Sans KR Medium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000">
                <a:latin typeface="IBM Plex Sans KR Medium"/>
                <a:ea typeface="IBM Plex Sans KR Medium"/>
              </a:rPr>
              <a:t>Test</a:t>
            </a:r>
            <a:r>
              <a:rPr lang="ko-KR" altLang="en-US" sz="2000">
                <a:latin typeface="IBM Plex Sans KR Medium"/>
                <a:ea typeface="IBM Plex Sans KR Medium"/>
              </a:rPr>
              <a:t>는 변환만 적용</a:t>
            </a: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6FFD0C48-B158-6B2B-AD31-DCF996CF50ED}"/>
              </a:ext>
            </a:extLst>
          </p:cNvPr>
          <p:cNvSpPr/>
          <p:nvPr/>
        </p:nvSpPr>
        <p:spPr>
          <a:xfrm>
            <a:off x="594360" y="1353311"/>
            <a:ext cx="13323498" cy="73152"/>
          </a:xfrm>
          <a:prstGeom prst="roundRect">
            <a:avLst/>
          </a:prstGeom>
          <a:solidFill>
            <a:srgbClr val="E8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IBM Plex Sans KR" panose="020B0503050203000203" pitchFamily="34" charset="-127"/>
              <a:ea typeface="IBM Plex Sans KR" panose="020B0503050203000203" pitchFamily="34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/>
        </p:nvSpPr>
        <p:spPr>
          <a:xfrm>
            <a:off x="962025" y="571500"/>
            <a:ext cx="9715500" cy="7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9100" rIns="0" bIns="0" anchor="t" anchorCtr="0">
            <a:noAutofit/>
          </a:bodyPr>
          <a:lstStyle/>
          <a:p>
            <a:pPr>
              <a:lnSpc>
                <a:spcPct val="97940"/>
              </a:lnSpc>
            </a:pPr>
            <a:r>
              <a:rPr lang="en-US" altLang="ko-KR" sz="4200" b="1">
                <a:solidFill>
                  <a:srgbClr val="567C75"/>
                </a:solidFill>
                <a:latin typeface="IBM Plex Sans KR Medium"/>
                <a:ea typeface="IBM Plex Sans KR Medium"/>
              </a:rPr>
              <a:t>03  </a:t>
            </a:r>
            <a:r>
              <a:rPr lang="en-US" altLang="ko-KR" sz="4200" b="1" err="1">
                <a:solidFill>
                  <a:srgbClr val="567C75"/>
                </a:solidFill>
                <a:latin typeface="IBM Plex Sans KR Medium"/>
                <a:ea typeface="IBM Plex Sans KR Medium"/>
              </a:rPr>
              <a:t>모델링</a:t>
            </a:r>
            <a:r>
              <a:rPr lang="en-US" altLang="ko-KR" sz="4200" b="1">
                <a:solidFill>
                  <a:srgbClr val="567C75"/>
                </a:solidFill>
                <a:latin typeface="IBM Plex Sans KR Medium"/>
                <a:ea typeface="IBM Plex Sans KR Medium"/>
              </a:rPr>
              <a:t> </a:t>
            </a:r>
            <a:r>
              <a:rPr lang="en-US" altLang="ko-KR" sz="4200" b="1" err="1">
                <a:solidFill>
                  <a:srgbClr val="567C75"/>
                </a:solidFill>
                <a:latin typeface="IBM Plex Sans KR Medium"/>
                <a:ea typeface="IBM Plex Sans KR Medium"/>
              </a:rPr>
              <a:t>전략</a:t>
            </a:r>
            <a:endParaRPr lang="en-US" altLang="ko-KR" sz="4200" b="1">
              <a:solidFill>
                <a:srgbClr val="567C75"/>
              </a:solidFill>
              <a:latin typeface="IBM Plex Sans KR Medium"/>
              <a:ea typeface="IBM Plex Sans KR Medium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A0E4CBD0-1BD1-DDBE-D21C-F53B461CBFDD}"/>
              </a:ext>
            </a:extLst>
          </p:cNvPr>
          <p:cNvGrpSpPr/>
          <p:nvPr/>
        </p:nvGrpSpPr>
        <p:grpSpPr>
          <a:xfrm>
            <a:off x="802791" y="2166194"/>
            <a:ext cx="4458498" cy="3771629"/>
            <a:chOff x="1239050" y="4216613"/>
            <a:chExt cx="3629605" cy="3064889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70FAD3E4-92E7-6F95-ACF9-3F88C0E5E752}"/>
                </a:ext>
              </a:extLst>
            </p:cNvPr>
            <p:cNvGrpSpPr/>
            <p:nvPr/>
          </p:nvGrpSpPr>
          <p:grpSpPr>
            <a:xfrm rot="5400000">
              <a:off x="1239050" y="4216613"/>
              <a:ext cx="2743200" cy="2743200"/>
              <a:chOff x="3688336" y="3246504"/>
              <a:chExt cx="2743200" cy="2743200"/>
            </a:xfrm>
          </p:grpSpPr>
          <p:sp>
            <p:nvSpPr>
              <p:cNvPr id="2" name="타원 1">
                <a:extLst>
                  <a:ext uri="{FF2B5EF4-FFF2-40B4-BE49-F238E27FC236}">
                    <a16:creationId xmlns:a16="http://schemas.microsoft.com/office/drawing/2014/main" id="{B96FD125-77C9-A405-8C02-557420A2FE07}"/>
                  </a:ext>
                </a:extLst>
              </p:cNvPr>
              <p:cNvSpPr/>
              <p:nvPr/>
            </p:nvSpPr>
            <p:spPr>
              <a:xfrm rot="-5400000">
                <a:off x="3688336" y="3246504"/>
                <a:ext cx="2743200" cy="2743200"/>
              </a:xfrm>
              <a:prstGeom prst="pie">
                <a:avLst/>
              </a:prstGeom>
              <a:noFill/>
              <a:ln>
                <a:solidFill>
                  <a:srgbClr val="567C7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" name="타원 5">
                <a:extLst>
                  <a:ext uri="{FF2B5EF4-FFF2-40B4-BE49-F238E27FC236}">
                    <a16:creationId xmlns:a16="http://schemas.microsoft.com/office/drawing/2014/main" id="{E843B658-7401-25F5-6ADB-0311529CC759}"/>
                  </a:ext>
                </a:extLst>
              </p:cNvPr>
              <p:cNvSpPr/>
              <p:nvPr/>
            </p:nvSpPr>
            <p:spPr>
              <a:xfrm>
                <a:off x="3688336" y="3246504"/>
                <a:ext cx="2743200" cy="2743200"/>
              </a:xfrm>
              <a:prstGeom prst="ellipse">
                <a:avLst/>
              </a:prstGeom>
              <a:noFill/>
              <a:ln>
                <a:solidFill>
                  <a:srgbClr val="567C75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타원 1">
                <a:extLst>
                  <a:ext uri="{FF2B5EF4-FFF2-40B4-BE49-F238E27FC236}">
                    <a16:creationId xmlns:a16="http://schemas.microsoft.com/office/drawing/2014/main" id="{5AE76E90-2F1A-C5F4-3A75-C085E78334DB}"/>
                  </a:ext>
                </a:extLst>
              </p:cNvPr>
              <p:cNvSpPr/>
              <p:nvPr/>
            </p:nvSpPr>
            <p:spPr>
              <a:xfrm rot="16200000">
                <a:off x="3708276" y="3263526"/>
                <a:ext cx="2706239" cy="270769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3CB5A884-40DA-5C57-0ABC-DB08B5124EC1}"/>
                </a:ext>
              </a:extLst>
            </p:cNvPr>
            <p:cNvSpPr/>
            <p:nvPr/>
          </p:nvSpPr>
          <p:spPr>
            <a:xfrm>
              <a:off x="3844673" y="5454722"/>
              <a:ext cx="274320" cy="274320"/>
            </a:xfrm>
            <a:prstGeom prst="ellipse">
              <a:avLst/>
            </a:prstGeom>
            <a:solidFill>
              <a:srgbClr val="567C75"/>
            </a:solidFill>
            <a:ln>
              <a:solidFill>
                <a:srgbClr val="567C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E8EC0034-5F97-5C2C-8D54-F53475B9C6DC}"/>
                </a:ext>
              </a:extLst>
            </p:cNvPr>
            <p:cNvSpPr/>
            <p:nvPr/>
          </p:nvSpPr>
          <p:spPr>
            <a:xfrm>
              <a:off x="2295108" y="6641422"/>
              <a:ext cx="644691" cy="640080"/>
            </a:xfrm>
            <a:prstGeom prst="ellipse">
              <a:avLst/>
            </a:prstGeom>
            <a:solidFill>
              <a:srgbClr val="567C75"/>
            </a:solidFill>
            <a:ln>
              <a:solidFill>
                <a:srgbClr val="567C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ko-KR" altLang="en-US" sz="1800">
                  <a:latin typeface="Hanken Grotesk ExtraBold"/>
                  <a:ea typeface="IBM Plex Sans KR Medium"/>
                </a:rPr>
                <a:t>01</a:t>
              </a:r>
            </a:p>
          </p:txBody>
        </p: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B0C9A23A-35C2-D468-98E0-9C7BD2ECD555}"/>
                </a:ext>
              </a:extLst>
            </p:cNvPr>
            <p:cNvCxnSpPr/>
            <p:nvPr/>
          </p:nvCxnSpPr>
          <p:spPr>
            <a:xfrm>
              <a:off x="3969961" y="5592847"/>
              <a:ext cx="898694" cy="1760"/>
            </a:xfrm>
            <a:prstGeom prst="straightConnector1">
              <a:avLst/>
            </a:prstGeom>
            <a:ln w="57150">
              <a:solidFill>
                <a:srgbClr val="567C7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CA60494-B431-E2F1-3D32-C59667E2BA87}"/>
              </a:ext>
            </a:extLst>
          </p:cNvPr>
          <p:cNvGrpSpPr/>
          <p:nvPr/>
        </p:nvGrpSpPr>
        <p:grpSpPr>
          <a:xfrm>
            <a:off x="5261364" y="2166194"/>
            <a:ext cx="4458498" cy="3771629"/>
            <a:chOff x="1239050" y="4216613"/>
            <a:chExt cx="3629605" cy="3064889"/>
          </a:xfrm>
        </p:grpSpPr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B0E6B1EB-D788-9A8A-76F3-20F93D0558E7}"/>
                </a:ext>
              </a:extLst>
            </p:cNvPr>
            <p:cNvGrpSpPr/>
            <p:nvPr/>
          </p:nvGrpSpPr>
          <p:grpSpPr>
            <a:xfrm rot="5400000">
              <a:off x="1239050" y="4216613"/>
              <a:ext cx="2743200" cy="2743200"/>
              <a:chOff x="3688336" y="3246504"/>
              <a:chExt cx="2743200" cy="2743200"/>
            </a:xfrm>
          </p:grpSpPr>
          <p:sp>
            <p:nvSpPr>
              <p:cNvPr id="32" name="타원 1">
                <a:extLst>
                  <a:ext uri="{FF2B5EF4-FFF2-40B4-BE49-F238E27FC236}">
                    <a16:creationId xmlns:a16="http://schemas.microsoft.com/office/drawing/2014/main" id="{9B65BE7F-37FA-EC2E-96D4-369717BFD116}"/>
                  </a:ext>
                </a:extLst>
              </p:cNvPr>
              <p:cNvSpPr/>
              <p:nvPr/>
            </p:nvSpPr>
            <p:spPr>
              <a:xfrm rot="-5400000">
                <a:off x="3688336" y="3246504"/>
                <a:ext cx="2743200" cy="2743200"/>
              </a:xfrm>
              <a:prstGeom prst="pie">
                <a:avLst/>
              </a:prstGeom>
              <a:noFill/>
              <a:ln>
                <a:solidFill>
                  <a:srgbClr val="567C7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타원 32">
                <a:extLst>
                  <a:ext uri="{FF2B5EF4-FFF2-40B4-BE49-F238E27FC236}">
                    <a16:creationId xmlns:a16="http://schemas.microsoft.com/office/drawing/2014/main" id="{D91997C5-EF4C-6B3E-ED87-EEEAEA66035C}"/>
                  </a:ext>
                </a:extLst>
              </p:cNvPr>
              <p:cNvSpPr/>
              <p:nvPr/>
            </p:nvSpPr>
            <p:spPr>
              <a:xfrm>
                <a:off x="3688336" y="3246504"/>
                <a:ext cx="2743200" cy="2743200"/>
              </a:xfrm>
              <a:prstGeom prst="ellipse">
                <a:avLst/>
              </a:prstGeom>
              <a:noFill/>
              <a:ln>
                <a:solidFill>
                  <a:srgbClr val="567C75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" name="타원 1">
                <a:extLst>
                  <a:ext uri="{FF2B5EF4-FFF2-40B4-BE49-F238E27FC236}">
                    <a16:creationId xmlns:a16="http://schemas.microsoft.com/office/drawing/2014/main" id="{2B0271C6-F08C-8474-9DF9-CC9AF5D9D541}"/>
                  </a:ext>
                </a:extLst>
              </p:cNvPr>
              <p:cNvSpPr/>
              <p:nvPr/>
            </p:nvSpPr>
            <p:spPr>
              <a:xfrm rot="16200000">
                <a:off x="3708276" y="3263526"/>
                <a:ext cx="2706239" cy="270769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4B08D8FE-959D-8A26-DD92-9311D5B6C14A}"/>
                </a:ext>
              </a:extLst>
            </p:cNvPr>
            <p:cNvSpPr/>
            <p:nvPr/>
          </p:nvSpPr>
          <p:spPr>
            <a:xfrm>
              <a:off x="3844673" y="5454722"/>
              <a:ext cx="274320" cy="274320"/>
            </a:xfrm>
            <a:prstGeom prst="ellipse">
              <a:avLst/>
            </a:prstGeom>
            <a:solidFill>
              <a:srgbClr val="567C75"/>
            </a:solidFill>
            <a:ln>
              <a:solidFill>
                <a:srgbClr val="567C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FE4B9757-4ECA-54A9-4326-C402BD7FC17D}"/>
                </a:ext>
              </a:extLst>
            </p:cNvPr>
            <p:cNvSpPr/>
            <p:nvPr/>
          </p:nvSpPr>
          <p:spPr>
            <a:xfrm>
              <a:off x="2295108" y="6641422"/>
              <a:ext cx="644691" cy="640080"/>
            </a:xfrm>
            <a:prstGeom prst="ellipse">
              <a:avLst/>
            </a:prstGeom>
            <a:solidFill>
              <a:srgbClr val="567C75"/>
            </a:solidFill>
            <a:ln>
              <a:solidFill>
                <a:srgbClr val="567C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ko-KR" altLang="en-US" sz="1800">
                  <a:latin typeface="Hanken Grotesk ExtraBold"/>
                  <a:ea typeface="IBM Plex Sans KR Medium"/>
                </a:rPr>
                <a:t>02</a:t>
              </a:r>
            </a:p>
          </p:txBody>
        </p:sp>
        <p:cxnSp>
          <p:nvCxnSpPr>
            <p:cNvPr id="31" name="직선 화살표 연결선 30">
              <a:extLst>
                <a:ext uri="{FF2B5EF4-FFF2-40B4-BE49-F238E27FC236}">
                  <a16:creationId xmlns:a16="http://schemas.microsoft.com/office/drawing/2014/main" id="{BB6A905C-DE4E-AD70-D69C-ABEE05D084FB}"/>
                </a:ext>
              </a:extLst>
            </p:cNvPr>
            <p:cNvCxnSpPr>
              <a:cxnSpLocks/>
            </p:cNvCxnSpPr>
            <p:nvPr/>
          </p:nvCxnSpPr>
          <p:spPr>
            <a:xfrm>
              <a:off x="3969961" y="5592847"/>
              <a:ext cx="898694" cy="1760"/>
            </a:xfrm>
            <a:prstGeom prst="straightConnector1">
              <a:avLst/>
            </a:prstGeom>
            <a:ln w="57150">
              <a:solidFill>
                <a:srgbClr val="567C7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E8A7FC51-71C5-C32A-8EE8-187B6259D74D}"/>
              </a:ext>
            </a:extLst>
          </p:cNvPr>
          <p:cNvGrpSpPr/>
          <p:nvPr/>
        </p:nvGrpSpPr>
        <p:grpSpPr>
          <a:xfrm>
            <a:off x="9719936" y="2166194"/>
            <a:ext cx="4458498" cy="3771629"/>
            <a:chOff x="1239050" y="4216613"/>
            <a:chExt cx="3629605" cy="3064889"/>
          </a:xfrm>
        </p:grpSpPr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AC7EB8F3-AAAB-CA7C-9621-E773FDB5B0B4}"/>
                </a:ext>
              </a:extLst>
            </p:cNvPr>
            <p:cNvGrpSpPr/>
            <p:nvPr/>
          </p:nvGrpSpPr>
          <p:grpSpPr>
            <a:xfrm rot="5400000">
              <a:off x="1239050" y="4216613"/>
              <a:ext cx="2743200" cy="2743200"/>
              <a:chOff x="3688336" y="3246504"/>
              <a:chExt cx="2743200" cy="2743200"/>
            </a:xfrm>
          </p:grpSpPr>
          <p:sp>
            <p:nvSpPr>
              <p:cNvPr id="40" name="타원 1">
                <a:extLst>
                  <a:ext uri="{FF2B5EF4-FFF2-40B4-BE49-F238E27FC236}">
                    <a16:creationId xmlns:a16="http://schemas.microsoft.com/office/drawing/2014/main" id="{75881D38-9109-056A-7ACB-B25CD6C56198}"/>
                  </a:ext>
                </a:extLst>
              </p:cNvPr>
              <p:cNvSpPr/>
              <p:nvPr/>
            </p:nvSpPr>
            <p:spPr>
              <a:xfrm rot="-5400000">
                <a:off x="3688336" y="3246504"/>
                <a:ext cx="2743200" cy="2743200"/>
              </a:xfrm>
              <a:prstGeom prst="pie">
                <a:avLst/>
              </a:prstGeom>
              <a:noFill/>
              <a:ln>
                <a:solidFill>
                  <a:srgbClr val="567C7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" name="타원 40">
                <a:extLst>
                  <a:ext uri="{FF2B5EF4-FFF2-40B4-BE49-F238E27FC236}">
                    <a16:creationId xmlns:a16="http://schemas.microsoft.com/office/drawing/2014/main" id="{6C94638B-2D17-37C6-EDA0-D91B2426FDDD}"/>
                  </a:ext>
                </a:extLst>
              </p:cNvPr>
              <p:cNvSpPr/>
              <p:nvPr/>
            </p:nvSpPr>
            <p:spPr>
              <a:xfrm>
                <a:off x="3688336" y="3246504"/>
                <a:ext cx="2743200" cy="2743200"/>
              </a:xfrm>
              <a:prstGeom prst="ellipse">
                <a:avLst/>
              </a:prstGeom>
              <a:noFill/>
              <a:ln>
                <a:solidFill>
                  <a:srgbClr val="567C75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" name="타원 1">
                <a:extLst>
                  <a:ext uri="{FF2B5EF4-FFF2-40B4-BE49-F238E27FC236}">
                    <a16:creationId xmlns:a16="http://schemas.microsoft.com/office/drawing/2014/main" id="{04783BED-94D4-63BE-23D4-7DCEA560BBA0}"/>
                  </a:ext>
                </a:extLst>
              </p:cNvPr>
              <p:cNvSpPr/>
              <p:nvPr/>
            </p:nvSpPr>
            <p:spPr>
              <a:xfrm rot="16200000">
                <a:off x="3708276" y="3263526"/>
                <a:ext cx="2706239" cy="270769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3259D306-FDCF-BA4F-B1FD-A8B3B3205EB6}"/>
                </a:ext>
              </a:extLst>
            </p:cNvPr>
            <p:cNvSpPr/>
            <p:nvPr/>
          </p:nvSpPr>
          <p:spPr>
            <a:xfrm>
              <a:off x="3844673" y="5454722"/>
              <a:ext cx="274320" cy="274320"/>
            </a:xfrm>
            <a:prstGeom prst="ellipse">
              <a:avLst/>
            </a:prstGeom>
            <a:solidFill>
              <a:srgbClr val="567C75"/>
            </a:solidFill>
            <a:ln>
              <a:solidFill>
                <a:srgbClr val="567C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9BC2E6F0-2FC5-671F-0258-94A5FD549A9A}"/>
                </a:ext>
              </a:extLst>
            </p:cNvPr>
            <p:cNvSpPr/>
            <p:nvPr/>
          </p:nvSpPr>
          <p:spPr>
            <a:xfrm>
              <a:off x="2295108" y="6641422"/>
              <a:ext cx="644691" cy="640080"/>
            </a:xfrm>
            <a:prstGeom prst="ellipse">
              <a:avLst/>
            </a:prstGeom>
            <a:solidFill>
              <a:srgbClr val="567C75"/>
            </a:solidFill>
            <a:ln>
              <a:solidFill>
                <a:srgbClr val="567C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ko-KR" altLang="en-US" sz="1800">
                  <a:latin typeface="Hanken Grotesk ExtraBold"/>
                  <a:ea typeface="IBM Plex Sans KR Medium"/>
                </a:rPr>
                <a:t>03</a:t>
              </a:r>
            </a:p>
          </p:txBody>
        </p:sp>
        <p:cxnSp>
          <p:nvCxnSpPr>
            <p:cNvPr id="39" name="직선 화살표 연결선 38">
              <a:extLst>
                <a:ext uri="{FF2B5EF4-FFF2-40B4-BE49-F238E27FC236}">
                  <a16:creationId xmlns:a16="http://schemas.microsoft.com/office/drawing/2014/main" id="{36CC5DD5-573B-CECC-5AF8-77A95FAEBCBF}"/>
                </a:ext>
              </a:extLst>
            </p:cNvPr>
            <p:cNvCxnSpPr>
              <a:cxnSpLocks/>
            </p:cNvCxnSpPr>
            <p:nvPr/>
          </p:nvCxnSpPr>
          <p:spPr>
            <a:xfrm>
              <a:off x="3969961" y="5592847"/>
              <a:ext cx="898694" cy="1760"/>
            </a:xfrm>
            <a:prstGeom prst="straightConnector1">
              <a:avLst/>
            </a:prstGeom>
            <a:ln w="57150">
              <a:solidFill>
                <a:srgbClr val="567C7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2D3982B5-100C-7269-13C2-17CB57234609}"/>
              </a:ext>
            </a:extLst>
          </p:cNvPr>
          <p:cNvGrpSpPr/>
          <p:nvPr/>
        </p:nvGrpSpPr>
        <p:grpSpPr>
          <a:xfrm>
            <a:off x="14178509" y="2166194"/>
            <a:ext cx="3537636" cy="3771629"/>
            <a:chOff x="1239050" y="4216613"/>
            <a:chExt cx="2879943" cy="3064889"/>
          </a:xfrm>
        </p:grpSpPr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B70EA8EA-0FF6-8651-78FC-B634B49A1CBA}"/>
                </a:ext>
              </a:extLst>
            </p:cNvPr>
            <p:cNvGrpSpPr/>
            <p:nvPr/>
          </p:nvGrpSpPr>
          <p:grpSpPr>
            <a:xfrm rot="5400000">
              <a:off x="1239050" y="4216613"/>
              <a:ext cx="2743200" cy="2743200"/>
              <a:chOff x="3688336" y="3246504"/>
              <a:chExt cx="2743200" cy="2743200"/>
            </a:xfrm>
          </p:grpSpPr>
          <p:sp>
            <p:nvSpPr>
              <p:cNvPr id="48" name="타원 1">
                <a:extLst>
                  <a:ext uri="{FF2B5EF4-FFF2-40B4-BE49-F238E27FC236}">
                    <a16:creationId xmlns:a16="http://schemas.microsoft.com/office/drawing/2014/main" id="{42684649-791D-8212-CA14-D85912645E60}"/>
                  </a:ext>
                </a:extLst>
              </p:cNvPr>
              <p:cNvSpPr/>
              <p:nvPr/>
            </p:nvSpPr>
            <p:spPr>
              <a:xfrm rot="-5400000">
                <a:off x="3688336" y="3246504"/>
                <a:ext cx="2743200" cy="2743200"/>
              </a:xfrm>
              <a:prstGeom prst="pie">
                <a:avLst/>
              </a:prstGeom>
              <a:noFill/>
              <a:ln>
                <a:solidFill>
                  <a:srgbClr val="567C7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" name="타원 48">
                <a:extLst>
                  <a:ext uri="{FF2B5EF4-FFF2-40B4-BE49-F238E27FC236}">
                    <a16:creationId xmlns:a16="http://schemas.microsoft.com/office/drawing/2014/main" id="{FAC8E3DD-F134-3788-A074-F58DB1EE0FC9}"/>
                  </a:ext>
                </a:extLst>
              </p:cNvPr>
              <p:cNvSpPr/>
              <p:nvPr/>
            </p:nvSpPr>
            <p:spPr>
              <a:xfrm>
                <a:off x="3688336" y="3246504"/>
                <a:ext cx="2743200" cy="2743200"/>
              </a:xfrm>
              <a:prstGeom prst="ellipse">
                <a:avLst/>
              </a:prstGeom>
              <a:noFill/>
              <a:ln>
                <a:solidFill>
                  <a:srgbClr val="567C75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" name="타원 1">
                <a:extLst>
                  <a:ext uri="{FF2B5EF4-FFF2-40B4-BE49-F238E27FC236}">
                    <a16:creationId xmlns:a16="http://schemas.microsoft.com/office/drawing/2014/main" id="{47B00248-443F-3610-881F-7FE3F1100C41}"/>
                  </a:ext>
                </a:extLst>
              </p:cNvPr>
              <p:cNvSpPr/>
              <p:nvPr/>
            </p:nvSpPr>
            <p:spPr>
              <a:xfrm rot="16200000">
                <a:off x="3708276" y="3263526"/>
                <a:ext cx="2706239" cy="270769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E2253C92-6AD3-7037-0693-356F373C1736}"/>
                </a:ext>
              </a:extLst>
            </p:cNvPr>
            <p:cNvSpPr/>
            <p:nvPr/>
          </p:nvSpPr>
          <p:spPr>
            <a:xfrm>
              <a:off x="3844673" y="5454722"/>
              <a:ext cx="274320" cy="274320"/>
            </a:xfrm>
            <a:prstGeom prst="ellipse">
              <a:avLst/>
            </a:prstGeom>
            <a:solidFill>
              <a:srgbClr val="567C75"/>
            </a:solidFill>
            <a:ln>
              <a:solidFill>
                <a:srgbClr val="567C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A4B8BE1C-A7F4-F6BA-1895-6D61E0396F83}"/>
                </a:ext>
              </a:extLst>
            </p:cNvPr>
            <p:cNvSpPr/>
            <p:nvPr/>
          </p:nvSpPr>
          <p:spPr>
            <a:xfrm>
              <a:off x="2295108" y="6641422"/>
              <a:ext cx="644691" cy="640080"/>
            </a:xfrm>
            <a:prstGeom prst="ellipse">
              <a:avLst/>
            </a:prstGeom>
            <a:solidFill>
              <a:srgbClr val="567C75"/>
            </a:solidFill>
            <a:ln>
              <a:solidFill>
                <a:srgbClr val="567C7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ko-KR" altLang="en-US" sz="1800">
                  <a:latin typeface="Hanken Grotesk ExtraBold"/>
                  <a:ea typeface="IBM Plex Sans KR Medium"/>
                </a:rPr>
                <a:t>04</a:t>
              </a:r>
            </a:p>
          </p:txBody>
        </p:sp>
      </p:grpSp>
      <p:pic>
        <p:nvPicPr>
          <p:cNvPr id="51" name="그림 50" descr="이미지 미리 보기">
            <a:extLst>
              <a:ext uri="{FF2B5EF4-FFF2-40B4-BE49-F238E27FC236}">
                <a16:creationId xmlns:a16="http://schemas.microsoft.com/office/drawing/2014/main" id="{29E8A175-ADB6-F9F2-7DD4-6F6447573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1293" y="2593200"/>
            <a:ext cx="2408227" cy="2448145"/>
          </a:xfrm>
          <a:prstGeom prst="rect">
            <a:avLst/>
          </a:prstGeom>
        </p:spPr>
      </p:pic>
      <p:pic>
        <p:nvPicPr>
          <p:cNvPr id="52" name="그림 51" descr="이미지 미리 보기">
            <a:extLst>
              <a:ext uri="{FF2B5EF4-FFF2-40B4-BE49-F238E27FC236}">
                <a16:creationId xmlns:a16="http://schemas.microsoft.com/office/drawing/2014/main" id="{004D9D4E-7816-C2E2-34DC-99180B7CCF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9612" y="2595200"/>
            <a:ext cx="2772359" cy="2513947"/>
          </a:xfrm>
          <a:prstGeom prst="rect">
            <a:avLst/>
          </a:prstGeom>
        </p:spPr>
      </p:pic>
      <p:pic>
        <p:nvPicPr>
          <p:cNvPr id="53" name="그림 52" descr="이미지 미리 보기">
            <a:extLst>
              <a:ext uri="{FF2B5EF4-FFF2-40B4-BE49-F238E27FC236}">
                <a16:creationId xmlns:a16="http://schemas.microsoft.com/office/drawing/2014/main" id="{BCE9D787-FB00-28BA-8E41-E3FCA94BC8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8131" y="2782356"/>
            <a:ext cx="2853939" cy="2157087"/>
          </a:xfrm>
          <a:prstGeom prst="rect">
            <a:avLst/>
          </a:prstGeom>
        </p:spPr>
      </p:pic>
      <p:sp>
        <p:nvSpPr>
          <p:cNvPr id="57" name="Google Shape;133;p15">
            <a:extLst>
              <a:ext uri="{FF2B5EF4-FFF2-40B4-BE49-F238E27FC236}">
                <a16:creationId xmlns:a16="http://schemas.microsoft.com/office/drawing/2014/main" id="{8536EE04-4A8A-2F78-CB75-B9F0E27D12BB}"/>
              </a:ext>
            </a:extLst>
          </p:cNvPr>
          <p:cNvSpPr txBox="1"/>
          <p:nvPr/>
        </p:nvSpPr>
        <p:spPr>
          <a:xfrm>
            <a:off x="1291328" y="6068008"/>
            <a:ext cx="278158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4450" rIns="0" bIns="0" anchor="t" anchorCtr="0">
            <a:noAutofit/>
          </a:bodyPr>
          <a:lstStyle/>
          <a:p>
            <a:pPr algn="ctr">
              <a:lnSpc>
                <a:spcPct val="97940"/>
              </a:lnSpc>
            </a:pPr>
            <a:r>
              <a:rPr lang="en-US" altLang="ko-KR" sz="3150" b="1">
                <a:solidFill>
                  <a:srgbClr val="567C75"/>
                </a:solidFill>
                <a:latin typeface="IBM Plex Sans KR"/>
                <a:ea typeface="IBM Plex Sans KR"/>
              </a:rPr>
              <a:t>행 </a:t>
            </a:r>
            <a:r>
              <a:rPr lang="en-US" altLang="ko-KR" sz="3150" b="1" err="1">
                <a:solidFill>
                  <a:srgbClr val="567C75"/>
                </a:solidFill>
                <a:latin typeface="IBM Plex Sans KR"/>
                <a:ea typeface="IBM Plex Sans KR"/>
              </a:rPr>
              <a:t>단위</a:t>
            </a:r>
            <a:r>
              <a:rPr lang="en-US" altLang="ko-KR" sz="3150" b="1">
                <a:solidFill>
                  <a:srgbClr val="567C75"/>
                </a:solidFill>
                <a:latin typeface="IBM Plex Sans KR"/>
                <a:ea typeface="IBM Plex Sans KR"/>
              </a:rPr>
              <a:t> </a:t>
            </a:r>
            <a:r>
              <a:rPr lang="en-US" altLang="ko-KR" sz="3150" b="1" err="1">
                <a:solidFill>
                  <a:srgbClr val="567C75"/>
                </a:solidFill>
                <a:latin typeface="IBM Plex Sans KR"/>
                <a:ea typeface="IBM Plex Sans KR"/>
              </a:rPr>
              <a:t>파생변수</a:t>
            </a:r>
          </a:p>
        </p:txBody>
      </p:sp>
      <p:sp>
        <p:nvSpPr>
          <p:cNvPr id="58" name="Google Shape;133;p15">
            <a:extLst>
              <a:ext uri="{FF2B5EF4-FFF2-40B4-BE49-F238E27FC236}">
                <a16:creationId xmlns:a16="http://schemas.microsoft.com/office/drawing/2014/main" id="{6D6F1E5C-B39A-2314-0A20-058A037C4055}"/>
              </a:ext>
            </a:extLst>
          </p:cNvPr>
          <p:cNvSpPr txBox="1"/>
          <p:nvPr/>
        </p:nvSpPr>
        <p:spPr>
          <a:xfrm>
            <a:off x="5648938" y="6050557"/>
            <a:ext cx="2720510" cy="5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4450" rIns="0" bIns="0" anchor="t" anchorCtr="0">
            <a:noAutofit/>
          </a:bodyPr>
          <a:lstStyle/>
          <a:p>
            <a:pPr algn="ctr">
              <a:lnSpc>
                <a:spcPct val="97940"/>
              </a:lnSpc>
            </a:pPr>
            <a:r>
              <a:rPr lang="en-US" altLang="ko-KR" sz="3150" b="1" err="1">
                <a:solidFill>
                  <a:srgbClr val="567C75"/>
                </a:solidFill>
                <a:latin typeface="IBM Plex Sans KR"/>
                <a:ea typeface="IBM Plex Sans KR"/>
              </a:rPr>
              <a:t>중요</a:t>
            </a:r>
            <a:r>
              <a:rPr lang="en-US" altLang="ko-KR" sz="3150" b="1">
                <a:solidFill>
                  <a:srgbClr val="567C75"/>
                </a:solidFill>
                <a:latin typeface="IBM Plex Sans KR"/>
                <a:ea typeface="IBM Plex Sans KR"/>
              </a:rPr>
              <a:t> </a:t>
            </a:r>
            <a:r>
              <a:rPr lang="en-US" altLang="ko-KR" sz="3150" b="1" err="1">
                <a:solidFill>
                  <a:srgbClr val="567C75"/>
                </a:solidFill>
                <a:latin typeface="IBM Plex Sans KR"/>
                <a:ea typeface="IBM Plex Sans KR"/>
              </a:rPr>
              <a:t>피처</a:t>
            </a:r>
            <a:r>
              <a:rPr lang="en-US" altLang="ko-KR" sz="3150" b="1">
                <a:solidFill>
                  <a:srgbClr val="567C75"/>
                </a:solidFill>
                <a:latin typeface="IBM Plex Sans KR"/>
                <a:ea typeface="IBM Plex Sans KR"/>
              </a:rPr>
              <a:t> </a:t>
            </a:r>
            <a:r>
              <a:rPr lang="en-US" altLang="ko-KR" sz="3150" b="1" err="1">
                <a:solidFill>
                  <a:srgbClr val="567C75"/>
                </a:solidFill>
                <a:latin typeface="IBM Plex Sans KR"/>
                <a:ea typeface="IBM Plex Sans KR"/>
              </a:rPr>
              <a:t>가중치</a:t>
            </a:r>
          </a:p>
        </p:txBody>
      </p:sp>
      <p:sp>
        <p:nvSpPr>
          <p:cNvPr id="59" name="Google Shape;133;p15">
            <a:extLst>
              <a:ext uri="{FF2B5EF4-FFF2-40B4-BE49-F238E27FC236}">
                <a16:creationId xmlns:a16="http://schemas.microsoft.com/office/drawing/2014/main" id="{FEFD374E-935F-C739-6F98-3435DBEA606F}"/>
              </a:ext>
            </a:extLst>
          </p:cNvPr>
          <p:cNvSpPr txBox="1"/>
          <p:nvPr/>
        </p:nvSpPr>
        <p:spPr>
          <a:xfrm>
            <a:off x="9134482" y="6024731"/>
            <a:ext cx="4540572" cy="545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4450" rIns="0" bIns="0" anchor="t" anchorCtr="0">
            <a:noAutofit/>
          </a:bodyPr>
          <a:lstStyle/>
          <a:p>
            <a:pPr algn="ctr">
              <a:lnSpc>
                <a:spcPct val="97940"/>
              </a:lnSpc>
            </a:pPr>
            <a:r>
              <a:rPr lang="ko-KR" altLang="en-US" sz="3150" b="1">
                <a:solidFill>
                  <a:srgbClr val="567C75"/>
                </a:solidFill>
                <a:latin typeface="IBM Plex Sans KR"/>
                <a:ea typeface="IBM Plex Sans KR"/>
              </a:rPr>
              <a:t>분</a:t>
            </a:r>
            <a:r>
              <a:rPr lang="en-US" altLang="ko-KR" sz="3150" b="1">
                <a:solidFill>
                  <a:srgbClr val="567C75"/>
                </a:solidFill>
                <a:latin typeface="IBM Plex Sans KR"/>
                <a:ea typeface="IBM Plex Sans KR"/>
              </a:rPr>
              <a:t>위수</a:t>
            </a:r>
            <a:r>
              <a:rPr lang="ko-KR" altLang="en-US" sz="3150" b="1">
                <a:solidFill>
                  <a:srgbClr val="567C75"/>
                </a:solidFill>
                <a:latin typeface="IBM Plex Sans KR"/>
                <a:ea typeface="IBM Plex Sans KR"/>
              </a:rPr>
              <a:t> 예측</a:t>
            </a:r>
            <a:endParaRPr lang="ko-KR" altLang="en-US"/>
          </a:p>
        </p:txBody>
      </p:sp>
      <p:sp>
        <p:nvSpPr>
          <p:cNvPr id="60" name="Google Shape;133;p15">
            <a:extLst>
              <a:ext uri="{FF2B5EF4-FFF2-40B4-BE49-F238E27FC236}">
                <a16:creationId xmlns:a16="http://schemas.microsoft.com/office/drawing/2014/main" id="{DA11C94B-4408-1207-55A4-E73E1D5D1B91}"/>
              </a:ext>
            </a:extLst>
          </p:cNvPr>
          <p:cNvSpPr txBox="1"/>
          <p:nvPr/>
        </p:nvSpPr>
        <p:spPr>
          <a:xfrm>
            <a:off x="14407783" y="6068008"/>
            <a:ext cx="294736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4450" rIns="0" bIns="0" anchor="t" anchorCtr="0">
            <a:noAutofit/>
          </a:bodyPr>
          <a:lstStyle/>
          <a:p>
            <a:pPr algn="ctr">
              <a:lnSpc>
                <a:spcPct val="97940"/>
              </a:lnSpc>
            </a:pPr>
            <a:r>
              <a:rPr lang="en-US" altLang="ko-KR" sz="3150" b="1">
                <a:solidFill>
                  <a:srgbClr val="567C75"/>
                </a:solidFill>
                <a:latin typeface="IBM Plex Sans KR"/>
                <a:ea typeface="IBM Plex Sans KR"/>
              </a:rPr>
              <a:t>Pair-</a:t>
            </a:r>
            <a:r>
              <a:rPr lang="en-US" altLang="ko-KR" sz="3150" b="1" err="1">
                <a:solidFill>
                  <a:srgbClr val="567C75"/>
                </a:solidFill>
                <a:latin typeface="IBM Plex Sans KR"/>
                <a:ea typeface="IBM Plex Sans KR"/>
              </a:rPr>
              <a:t>Neighbor</a:t>
            </a: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CCA38F80-ECEE-BD2C-7931-36F08050E9A2}"/>
              </a:ext>
            </a:extLst>
          </p:cNvPr>
          <p:cNvCxnSpPr/>
          <p:nvPr/>
        </p:nvCxnSpPr>
        <p:spPr>
          <a:xfrm>
            <a:off x="14424326" y="4077361"/>
            <a:ext cx="2902156" cy="1759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9B698C44-AE92-AD9B-FC85-9BD181CF4AA7}"/>
              </a:ext>
            </a:extLst>
          </p:cNvPr>
          <p:cNvCxnSpPr/>
          <p:nvPr/>
        </p:nvCxnSpPr>
        <p:spPr>
          <a:xfrm>
            <a:off x="15837014" y="2763507"/>
            <a:ext cx="10485" cy="1403168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타원 62">
            <a:extLst>
              <a:ext uri="{FF2B5EF4-FFF2-40B4-BE49-F238E27FC236}">
                <a16:creationId xmlns:a16="http://schemas.microsoft.com/office/drawing/2014/main" id="{E436BDD3-FAD8-E97D-C7B6-CFA3C55D80A5}"/>
              </a:ext>
            </a:extLst>
          </p:cNvPr>
          <p:cNvSpPr/>
          <p:nvPr/>
        </p:nvSpPr>
        <p:spPr>
          <a:xfrm>
            <a:off x="14374513" y="3699922"/>
            <a:ext cx="207818" cy="21066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타원 127">
            <a:extLst>
              <a:ext uri="{FF2B5EF4-FFF2-40B4-BE49-F238E27FC236}">
                <a16:creationId xmlns:a16="http://schemas.microsoft.com/office/drawing/2014/main" id="{B8DBBDF5-1C04-968D-7E80-AE10A74A948F}"/>
              </a:ext>
            </a:extLst>
          </p:cNvPr>
          <p:cNvSpPr/>
          <p:nvPr/>
        </p:nvSpPr>
        <p:spPr>
          <a:xfrm>
            <a:off x="14646739" y="3699922"/>
            <a:ext cx="207818" cy="210661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타원 128">
            <a:extLst>
              <a:ext uri="{FF2B5EF4-FFF2-40B4-BE49-F238E27FC236}">
                <a16:creationId xmlns:a16="http://schemas.microsoft.com/office/drawing/2014/main" id="{5CFF211E-F306-D948-9E52-97B49BBE8AF9}"/>
              </a:ext>
            </a:extLst>
          </p:cNvPr>
          <p:cNvSpPr/>
          <p:nvPr/>
        </p:nvSpPr>
        <p:spPr>
          <a:xfrm>
            <a:off x="14918965" y="3699922"/>
            <a:ext cx="207818" cy="210661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" name="타원 129">
            <a:extLst>
              <a:ext uri="{FF2B5EF4-FFF2-40B4-BE49-F238E27FC236}">
                <a16:creationId xmlns:a16="http://schemas.microsoft.com/office/drawing/2014/main" id="{B442D5FA-346C-5DC0-E475-C9BEB30F5106}"/>
              </a:ext>
            </a:extLst>
          </p:cNvPr>
          <p:cNvSpPr/>
          <p:nvPr/>
        </p:nvSpPr>
        <p:spPr>
          <a:xfrm>
            <a:off x="15191191" y="3699922"/>
            <a:ext cx="207818" cy="210661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1" name="타원 130">
            <a:extLst>
              <a:ext uri="{FF2B5EF4-FFF2-40B4-BE49-F238E27FC236}">
                <a16:creationId xmlns:a16="http://schemas.microsoft.com/office/drawing/2014/main" id="{44E3AE0F-DF13-0A46-CF0C-410ABEC9EBD2}"/>
              </a:ext>
            </a:extLst>
          </p:cNvPr>
          <p:cNvSpPr/>
          <p:nvPr/>
        </p:nvSpPr>
        <p:spPr>
          <a:xfrm>
            <a:off x="15463416" y="3699922"/>
            <a:ext cx="207818" cy="210661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2" name="타원 131">
            <a:extLst>
              <a:ext uri="{FF2B5EF4-FFF2-40B4-BE49-F238E27FC236}">
                <a16:creationId xmlns:a16="http://schemas.microsoft.com/office/drawing/2014/main" id="{D2DE28AA-D8FC-F240-077C-CC4CCAD68C25}"/>
              </a:ext>
            </a:extLst>
          </p:cNvPr>
          <p:cNvSpPr/>
          <p:nvPr/>
        </p:nvSpPr>
        <p:spPr>
          <a:xfrm>
            <a:off x="16025319" y="3699922"/>
            <a:ext cx="207818" cy="210661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3" name="타원 132">
            <a:extLst>
              <a:ext uri="{FF2B5EF4-FFF2-40B4-BE49-F238E27FC236}">
                <a16:creationId xmlns:a16="http://schemas.microsoft.com/office/drawing/2014/main" id="{5D6F6424-525D-DC01-3597-A906DE39CF50}"/>
              </a:ext>
            </a:extLst>
          </p:cNvPr>
          <p:cNvSpPr/>
          <p:nvPr/>
        </p:nvSpPr>
        <p:spPr>
          <a:xfrm>
            <a:off x="16297544" y="3699922"/>
            <a:ext cx="207818" cy="210661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4" name="타원 133">
            <a:extLst>
              <a:ext uri="{FF2B5EF4-FFF2-40B4-BE49-F238E27FC236}">
                <a16:creationId xmlns:a16="http://schemas.microsoft.com/office/drawing/2014/main" id="{FBD676A5-6831-710B-CC7A-648C12863BDF}"/>
              </a:ext>
            </a:extLst>
          </p:cNvPr>
          <p:cNvSpPr/>
          <p:nvPr/>
        </p:nvSpPr>
        <p:spPr>
          <a:xfrm>
            <a:off x="16569770" y="3699922"/>
            <a:ext cx="207818" cy="210661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5DAB81FB-4A92-86A0-42E8-36226D7433F9}"/>
              </a:ext>
            </a:extLst>
          </p:cNvPr>
          <p:cNvSpPr/>
          <p:nvPr/>
        </p:nvSpPr>
        <p:spPr>
          <a:xfrm>
            <a:off x="16841996" y="3699922"/>
            <a:ext cx="207818" cy="210661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C17F330C-3671-58C5-2F15-19B4FDE497EB}"/>
              </a:ext>
            </a:extLst>
          </p:cNvPr>
          <p:cNvSpPr/>
          <p:nvPr/>
        </p:nvSpPr>
        <p:spPr>
          <a:xfrm>
            <a:off x="17114222" y="3699922"/>
            <a:ext cx="207818" cy="21066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82E884D6-8B78-354C-F9D4-F9B0957E1373}"/>
              </a:ext>
            </a:extLst>
          </p:cNvPr>
          <p:cNvSpPr/>
          <p:nvPr/>
        </p:nvSpPr>
        <p:spPr>
          <a:xfrm>
            <a:off x="15735642" y="3695560"/>
            <a:ext cx="219525" cy="22078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DBD3E374-AC7E-B7CC-5C25-32F17A60AAF6}"/>
              </a:ext>
            </a:extLst>
          </p:cNvPr>
          <p:cNvSpPr txBox="1"/>
          <p:nvPr/>
        </p:nvSpPr>
        <p:spPr>
          <a:xfrm>
            <a:off x="14311538" y="4171710"/>
            <a:ext cx="980712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000">
                <a:latin typeface="Calibri"/>
                <a:ea typeface="IBM Plex Sans KR"/>
                <a:cs typeface="Calibri"/>
              </a:rPr>
              <a:t>낮은 예측값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A011FE82-F6A3-E7DE-A670-B81F950D7D8E}"/>
              </a:ext>
            </a:extLst>
          </p:cNvPr>
          <p:cNvSpPr txBox="1"/>
          <p:nvPr/>
        </p:nvSpPr>
        <p:spPr>
          <a:xfrm>
            <a:off x="16667340" y="4189160"/>
            <a:ext cx="797483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000">
                <a:latin typeface="Calibri"/>
                <a:ea typeface="IBM Plex Sans KR"/>
                <a:cs typeface="Calibri"/>
              </a:rPr>
              <a:t>높은 예측값</a:t>
            </a:r>
          </a:p>
        </p:txBody>
      </p:sp>
      <p:sp>
        <p:nvSpPr>
          <p:cNvPr id="140" name="Google Shape;133;p15">
            <a:extLst>
              <a:ext uri="{FF2B5EF4-FFF2-40B4-BE49-F238E27FC236}">
                <a16:creationId xmlns:a16="http://schemas.microsoft.com/office/drawing/2014/main" id="{8307DF3A-E177-010D-3C4C-524B9480B1E6}"/>
              </a:ext>
            </a:extLst>
          </p:cNvPr>
          <p:cNvSpPr txBox="1"/>
          <p:nvPr/>
        </p:nvSpPr>
        <p:spPr>
          <a:xfrm>
            <a:off x="15391349" y="2324900"/>
            <a:ext cx="975472" cy="530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4450" rIns="0" bIns="0" anchor="t" anchorCtr="0">
            <a:noAutofit/>
          </a:bodyPr>
          <a:lstStyle/>
          <a:p>
            <a:pPr algn="ctr">
              <a:lnSpc>
                <a:spcPct val="97940"/>
              </a:lnSpc>
            </a:pPr>
            <a:r>
              <a:rPr lang="en-US" altLang="ko-KR" sz="2400" b="1">
                <a:solidFill>
                  <a:srgbClr val="567C75"/>
                </a:solidFill>
                <a:ea typeface="IBM Plex Sans KR"/>
              </a:rPr>
              <a:t>54%</a:t>
            </a:r>
          </a:p>
        </p:txBody>
      </p:sp>
      <p:sp>
        <p:nvSpPr>
          <p:cNvPr id="147" name="Google Shape;201;p18">
            <a:extLst>
              <a:ext uri="{FF2B5EF4-FFF2-40B4-BE49-F238E27FC236}">
                <a16:creationId xmlns:a16="http://schemas.microsoft.com/office/drawing/2014/main" id="{6703223B-5BC9-44FA-B65D-53989926054F}"/>
              </a:ext>
            </a:extLst>
          </p:cNvPr>
          <p:cNvSpPr txBox="1"/>
          <p:nvPr/>
        </p:nvSpPr>
        <p:spPr>
          <a:xfrm>
            <a:off x="643267" y="6597932"/>
            <a:ext cx="3704278" cy="1013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700" rIns="0" bIns="0" anchor="t" anchorCtr="0">
            <a:noAutofit/>
          </a:bodyPr>
          <a:lstStyle/>
          <a:p>
            <a:pPr marL="457200" indent="-457200">
              <a:lnSpc>
                <a:spcPct val="150000"/>
              </a:lnSpc>
              <a:buFont typeface="Courier New"/>
              <a:buChar char="o"/>
            </a:pPr>
            <a:r>
              <a:rPr lang="ko-KR" altLang="en-US" sz="1500">
                <a:latin typeface="IBM Plex Sans KR Medium"/>
                <a:ea typeface="IBM Plex Sans KR Medium"/>
              </a:rPr>
              <a:t>BMI·맥압 등 파생 + gender 제거</a:t>
            </a:r>
          </a:p>
          <a:p>
            <a:pPr marL="457200" indent="-457200">
              <a:lnSpc>
                <a:spcPct val="150000"/>
              </a:lnSpc>
              <a:buFont typeface="Courier New"/>
              <a:buChar char="o"/>
            </a:pPr>
            <a:r>
              <a:rPr lang="ko-KR" altLang="en-US" sz="1500">
                <a:latin typeface="IBM Plex Sans KR Medium"/>
                <a:ea typeface="IBM Plex Sans KR Medium"/>
              </a:rPr>
              <a:t>4개 변수 이상치 Winsorize (Fold-local)</a:t>
            </a:r>
          </a:p>
        </p:txBody>
      </p:sp>
      <p:sp>
        <p:nvSpPr>
          <p:cNvPr id="160" name="Google Shape;201;p18">
            <a:extLst>
              <a:ext uri="{FF2B5EF4-FFF2-40B4-BE49-F238E27FC236}">
                <a16:creationId xmlns:a16="http://schemas.microsoft.com/office/drawing/2014/main" id="{BD148A0A-1BB0-EFCD-37D6-346090E363C4}"/>
              </a:ext>
            </a:extLst>
          </p:cNvPr>
          <p:cNvSpPr txBox="1"/>
          <p:nvPr/>
        </p:nvSpPr>
        <p:spPr>
          <a:xfrm>
            <a:off x="5306163" y="6630905"/>
            <a:ext cx="3806362" cy="1187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700" rIns="0" bIns="0" anchor="t" anchorCtr="0">
            <a:noAutofit/>
          </a:bodyPr>
          <a:lstStyle/>
          <a:p>
            <a:pPr marL="457200" indent="-457200">
              <a:lnSpc>
                <a:spcPct val="150000"/>
              </a:lnSpc>
              <a:buFont typeface="Courier New"/>
              <a:buChar char="o"/>
            </a:pPr>
            <a:r>
              <a:rPr lang="ko-KR" altLang="en-US" sz="1500">
                <a:latin typeface="IBM Plex Sans KR Medium"/>
                <a:ea typeface="IBM Plex Sans KR Medium"/>
              </a:rPr>
              <a:t>중요도가 높았던 피처를 각각 2번 복제</a:t>
            </a:r>
          </a:p>
          <a:p>
            <a:pPr marL="457200" indent="-457200">
              <a:lnSpc>
                <a:spcPct val="150000"/>
              </a:lnSpc>
              <a:buFont typeface="Courier New"/>
              <a:buChar char="o"/>
            </a:pPr>
            <a:r>
              <a:rPr lang="ko-KR" altLang="en-US" sz="1500">
                <a:latin typeface="IBM Plex Sans KR Medium"/>
                <a:ea typeface="IBM Plex Sans KR Medium"/>
              </a:rPr>
              <a:t>max_features=1  환경에서 중요 피처가 선택될 확률 증가</a:t>
            </a:r>
          </a:p>
        </p:txBody>
      </p:sp>
      <p:sp>
        <p:nvSpPr>
          <p:cNvPr id="164" name="Google Shape;201;p18">
            <a:extLst>
              <a:ext uri="{FF2B5EF4-FFF2-40B4-BE49-F238E27FC236}">
                <a16:creationId xmlns:a16="http://schemas.microsoft.com/office/drawing/2014/main" id="{BFBEFE12-C3BB-FD0F-4A0F-CD5185EFF4D3}"/>
              </a:ext>
            </a:extLst>
          </p:cNvPr>
          <p:cNvSpPr txBox="1"/>
          <p:nvPr/>
        </p:nvSpPr>
        <p:spPr>
          <a:xfrm>
            <a:off x="9719862" y="6597932"/>
            <a:ext cx="3326478" cy="943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700" rIns="0" bIns="0" anchor="t" anchorCtr="0">
            <a:noAutofit/>
          </a:bodyPr>
          <a:lstStyle/>
          <a:p>
            <a:pPr marL="457200" indent="-457200">
              <a:lnSpc>
                <a:spcPct val="150000"/>
              </a:lnSpc>
              <a:buFont typeface="Courier New"/>
              <a:buChar char="o"/>
            </a:pPr>
            <a:r>
              <a:rPr lang="ko-KR" altLang="en-US" sz="1500">
                <a:latin typeface="IBM Plex Sans KR Medium"/>
                <a:ea typeface="IBM Plex Sans KR Medium"/>
              </a:rPr>
              <a:t>서로 다른 1,200개의 결정트리 생성</a:t>
            </a:r>
            <a:endParaRPr lang="ko-KR" sz="1500"/>
          </a:p>
          <a:p>
            <a:pPr marL="457200" indent="-457200">
              <a:lnSpc>
                <a:spcPct val="150000"/>
              </a:lnSpc>
              <a:buFont typeface="Courier New"/>
              <a:buChar char="o"/>
            </a:pPr>
            <a:r>
              <a:rPr lang="ko-KR" altLang="en-US" sz="1500">
                <a:latin typeface="IBM Plex Sans KR Medium"/>
                <a:ea typeface="IBM Plex Sans KR Medium"/>
              </a:rPr>
              <a:t>트리 예측을 정렬해 54% 지점 값을 선택</a:t>
            </a:r>
          </a:p>
        </p:txBody>
      </p:sp>
      <p:sp>
        <p:nvSpPr>
          <p:cNvPr id="166" name="Google Shape;201;p18">
            <a:extLst>
              <a:ext uri="{FF2B5EF4-FFF2-40B4-BE49-F238E27FC236}">
                <a16:creationId xmlns:a16="http://schemas.microsoft.com/office/drawing/2014/main" id="{A8CC4146-2538-5FB8-6804-9021436A47F5}"/>
              </a:ext>
            </a:extLst>
          </p:cNvPr>
          <p:cNvSpPr txBox="1"/>
          <p:nvPr/>
        </p:nvSpPr>
        <p:spPr>
          <a:xfrm>
            <a:off x="14050809" y="6668083"/>
            <a:ext cx="3369665" cy="952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700" rIns="0" bIns="0" anchor="t" anchorCtr="0">
            <a:noAutofit/>
          </a:bodyPr>
          <a:lstStyle/>
          <a:p>
            <a:pPr marL="457200" indent="-457200">
              <a:lnSpc>
                <a:spcPct val="150000"/>
              </a:lnSpc>
              <a:buFont typeface="Courier New"/>
              <a:buChar char="o"/>
            </a:pPr>
            <a:r>
              <a:rPr lang="ko-KR" altLang="en-US" sz="1500">
                <a:latin typeface="IBM Plex Sans KR Medium"/>
                <a:ea typeface="IBM Plex Sans KR Medium"/>
              </a:rPr>
              <a:t>8개 피처 28개 조합 최근접 이웃</a:t>
            </a:r>
          </a:p>
          <a:p>
            <a:pPr marL="457200" indent="-457200">
              <a:lnSpc>
                <a:spcPct val="150000"/>
              </a:lnSpc>
              <a:buFont typeface="Courier New"/>
              <a:buChar char="o"/>
            </a:pPr>
            <a:r>
              <a:rPr lang="ko-KR" altLang="en-US" sz="1500">
                <a:latin typeface="IBM Plex Sans KR Medium"/>
                <a:ea typeface="IBM Plex Sans KR Medium"/>
              </a:rPr>
              <a:t>거리 0.2 미만은 최근접 타깃으로 대체</a:t>
            </a:r>
          </a:p>
        </p:txBody>
      </p:sp>
      <p:sp>
        <p:nvSpPr>
          <p:cNvPr id="168" name="사각형: 둥근 모서리 167">
            <a:extLst>
              <a:ext uri="{FF2B5EF4-FFF2-40B4-BE49-F238E27FC236}">
                <a16:creationId xmlns:a16="http://schemas.microsoft.com/office/drawing/2014/main" id="{CB55D92D-84D5-9C7C-36A5-EBD8B38C27BC}"/>
              </a:ext>
            </a:extLst>
          </p:cNvPr>
          <p:cNvSpPr/>
          <p:nvPr/>
        </p:nvSpPr>
        <p:spPr>
          <a:xfrm>
            <a:off x="453709" y="8230935"/>
            <a:ext cx="17387982" cy="1293673"/>
          </a:xfrm>
          <a:prstGeom prst="roundRect">
            <a:avLst/>
          </a:prstGeom>
          <a:solidFill>
            <a:srgbClr val="FDF8EE">
              <a:alpha val="62000"/>
            </a:srgbClr>
          </a:solidFill>
          <a:ln w="28575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3200">
                <a:solidFill>
                  <a:schemeClr val="tx1"/>
                </a:solidFill>
                <a:latin typeface="IBM Plex Sans KR Medium"/>
                <a:ea typeface="IBM Plex Sans KR Medium"/>
              </a:rPr>
              <a:t>두 모델을 76:24로 블렌드하고 근접중복은 Override</a:t>
            </a:r>
          </a:p>
        </p:txBody>
      </p:sp>
      <p:sp>
        <p:nvSpPr>
          <p:cNvPr id="169" name="타원 168">
            <a:extLst>
              <a:ext uri="{FF2B5EF4-FFF2-40B4-BE49-F238E27FC236}">
                <a16:creationId xmlns:a16="http://schemas.microsoft.com/office/drawing/2014/main" id="{7CCCA546-5DFF-F6B4-D9B4-FF860A772A17}"/>
              </a:ext>
            </a:extLst>
          </p:cNvPr>
          <p:cNvSpPr/>
          <p:nvPr/>
        </p:nvSpPr>
        <p:spPr>
          <a:xfrm>
            <a:off x="740109" y="8422411"/>
            <a:ext cx="913787" cy="91464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800" b="1">
              <a:ea typeface="맑은 고딕"/>
              <a:cs typeface="Arial"/>
            </a:endParaRPr>
          </a:p>
        </p:txBody>
      </p:sp>
      <p:grpSp>
        <p:nvGrpSpPr>
          <p:cNvPr id="172" name="그룹 171">
            <a:extLst>
              <a:ext uri="{FF2B5EF4-FFF2-40B4-BE49-F238E27FC236}">
                <a16:creationId xmlns:a16="http://schemas.microsoft.com/office/drawing/2014/main" id="{F2E8C00B-6F96-AD9B-D5D7-E49591B4DF10}"/>
              </a:ext>
            </a:extLst>
          </p:cNvPr>
          <p:cNvGrpSpPr/>
          <p:nvPr/>
        </p:nvGrpSpPr>
        <p:grpSpPr>
          <a:xfrm>
            <a:off x="879336" y="8633501"/>
            <a:ext cx="486233" cy="521368"/>
            <a:chOff x="905511" y="9209363"/>
            <a:chExt cx="486233" cy="521368"/>
          </a:xfrm>
        </p:grpSpPr>
        <p:sp>
          <p:nvSpPr>
            <p:cNvPr id="170" name="직사각형 169">
              <a:extLst>
                <a:ext uri="{FF2B5EF4-FFF2-40B4-BE49-F238E27FC236}">
                  <a16:creationId xmlns:a16="http://schemas.microsoft.com/office/drawing/2014/main" id="{997C8A39-15DE-04DA-03BA-4ED5523FA4EC}"/>
                </a:ext>
              </a:extLst>
            </p:cNvPr>
            <p:cNvSpPr/>
            <p:nvPr/>
          </p:nvSpPr>
          <p:spPr>
            <a:xfrm rot="18300000">
              <a:off x="1050625" y="9381816"/>
              <a:ext cx="91538" cy="381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" name="직사각형 170">
              <a:extLst>
                <a:ext uri="{FF2B5EF4-FFF2-40B4-BE49-F238E27FC236}">
                  <a16:creationId xmlns:a16="http://schemas.microsoft.com/office/drawing/2014/main" id="{493830D6-1CDB-C58D-EA78-7D600B0C9276}"/>
                </a:ext>
              </a:extLst>
            </p:cNvPr>
            <p:cNvSpPr/>
            <p:nvPr/>
          </p:nvSpPr>
          <p:spPr>
            <a:xfrm rot="1980000">
              <a:off x="1291481" y="9209363"/>
              <a:ext cx="100263" cy="5213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7" name="사각형: 둥근 모서리 176">
            <a:extLst>
              <a:ext uri="{FF2B5EF4-FFF2-40B4-BE49-F238E27FC236}">
                <a16:creationId xmlns:a16="http://schemas.microsoft.com/office/drawing/2014/main" id="{FC666CD4-D89F-3919-9703-B87B1AC3C9CD}"/>
              </a:ext>
            </a:extLst>
          </p:cNvPr>
          <p:cNvSpPr/>
          <p:nvPr/>
        </p:nvSpPr>
        <p:spPr>
          <a:xfrm>
            <a:off x="5626355" y="7035362"/>
            <a:ext cx="1653313" cy="349300"/>
          </a:xfrm>
          <a:prstGeom prst="roundRect">
            <a:avLst/>
          </a:prstGeom>
          <a:solidFill>
            <a:srgbClr val="567C75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Rounded Rectangle 3">
            <a:extLst>
              <a:ext uri="{FF2B5EF4-FFF2-40B4-BE49-F238E27FC236}">
                <a16:creationId xmlns:a16="http://schemas.microsoft.com/office/drawing/2014/main" id="{0A6E4EC5-B63D-3F6D-1EB7-371E89CD622A}"/>
              </a:ext>
            </a:extLst>
          </p:cNvPr>
          <p:cNvSpPr/>
          <p:nvPr/>
        </p:nvSpPr>
        <p:spPr>
          <a:xfrm>
            <a:off x="594360" y="1353311"/>
            <a:ext cx="13323498" cy="73152"/>
          </a:xfrm>
          <a:prstGeom prst="roundRect">
            <a:avLst/>
          </a:prstGeom>
          <a:solidFill>
            <a:srgbClr val="E8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IBM Plex Sans KR" panose="020B0503050203000203" pitchFamily="34" charset="-127"/>
              <a:ea typeface="IBM Plex Sans KR" panose="020B0503050203000203" pitchFamily="34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6940" y="1361371"/>
            <a:ext cx="6217920" cy="447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567C75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ExtraTrees 계열이 최선인지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77155" y="1448145"/>
            <a:ext cx="11000740" cy="383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162A27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Champion 교체가 아니라, 전혀 다른 계열의 독립 모델도 경쟁력이 있는지 확인했습니다.</a:t>
            </a:r>
          </a:p>
        </p:txBody>
      </p:sp>
      <p:sp>
        <p:nvSpPr>
          <p:cNvPr id="21" name="Google Shape;146;p16">
            <a:extLst>
              <a:ext uri="{FF2B5EF4-FFF2-40B4-BE49-F238E27FC236}">
                <a16:creationId xmlns:a16="http://schemas.microsoft.com/office/drawing/2014/main" id="{68723F36-CE91-7C2F-38D1-7815620F1730}"/>
              </a:ext>
            </a:extLst>
          </p:cNvPr>
          <p:cNvSpPr txBox="1"/>
          <p:nvPr/>
        </p:nvSpPr>
        <p:spPr>
          <a:xfrm>
            <a:off x="962025" y="571500"/>
            <a:ext cx="9715500" cy="7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9100" rIns="0" bIns="0" anchor="t" anchorCtr="0">
            <a:noAutofit/>
          </a:bodyPr>
          <a:lstStyle/>
          <a:p>
            <a:pPr>
              <a:lnSpc>
                <a:spcPct val="97940"/>
              </a:lnSpc>
            </a:pPr>
            <a:r>
              <a:rPr lang="en-US" altLang="ko-KR" sz="4200" b="1">
                <a:solidFill>
                  <a:srgbClr val="567C75"/>
                </a:solidFill>
                <a:latin typeface="IBM Plex Sans KR Medium"/>
                <a:ea typeface="IBM Plex Sans KR Medium"/>
              </a:rPr>
              <a:t>04  </a:t>
            </a:r>
            <a:r>
              <a:rPr lang="en-US" altLang="ko-KR" sz="4200" b="1" err="1">
                <a:solidFill>
                  <a:srgbClr val="567C75"/>
                </a:solidFill>
                <a:latin typeface="IBM Plex Sans KR Medium"/>
                <a:ea typeface="IBM Plex Sans KR Medium"/>
              </a:rPr>
              <a:t>성능</a:t>
            </a:r>
            <a:r>
              <a:rPr lang="en-US" altLang="ko-KR" sz="4200" b="1">
                <a:solidFill>
                  <a:srgbClr val="567C75"/>
                </a:solidFill>
                <a:latin typeface="IBM Plex Sans KR Medium"/>
                <a:ea typeface="IBM Plex Sans KR Medium"/>
              </a:rPr>
              <a:t> </a:t>
            </a:r>
            <a:r>
              <a:rPr lang="en-US" altLang="ko-KR" sz="4200" b="1" err="1">
                <a:solidFill>
                  <a:srgbClr val="567C75"/>
                </a:solidFill>
                <a:latin typeface="IBM Plex Sans KR Medium"/>
                <a:ea typeface="IBM Plex Sans KR Medium"/>
              </a:rPr>
              <a:t>개선</a:t>
            </a:r>
            <a:r>
              <a:rPr lang="en-US" altLang="ko-KR" sz="4200" b="1">
                <a:solidFill>
                  <a:srgbClr val="567C75"/>
                </a:solidFill>
                <a:latin typeface="IBM Plex Sans KR Medium"/>
                <a:ea typeface="IBM Plex Sans KR Medium"/>
              </a:rPr>
              <a:t> 과정</a:t>
            </a:r>
            <a:r>
              <a:rPr lang="ko-KR" altLang="en-US" sz="4200" b="1">
                <a:solidFill>
                  <a:srgbClr val="567C75"/>
                </a:solidFill>
                <a:latin typeface="IBM Plex Sans KR Medium"/>
                <a:ea typeface="IBM Plex Sans KR Medium"/>
              </a:rPr>
              <a:t> </a:t>
            </a:r>
            <a:r>
              <a:rPr lang="en-US" altLang="ko-KR" sz="3200" b="1">
                <a:solidFill>
                  <a:srgbClr val="567C75"/>
                </a:solidFill>
                <a:latin typeface="IBM Plex Sans KR Medium"/>
                <a:ea typeface="IBM Plex Sans KR Medium"/>
              </a:rPr>
              <a:t>–</a:t>
            </a:r>
            <a:r>
              <a:rPr lang="ko-KR" altLang="en-US" sz="3200" b="1">
                <a:solidFill>
                  <a:srgbClr val="567C75"/>
                </a:solidFill>
                <a:latin typeface="IBM Plex Sans KR Medium"/>
                <a:ea typeface="IBM Plex Sans KR Medium"/>
              </a:rPr>
              <a:t> 독립모델 탐색</a:t>
            </a:r>
            <a:endParaRPr lang="en-US" altLang="ko-KR" sz="4200" b="1" err="1">
              <a:solidFill>
                <a:srgbClr val="567C75"/>
              </a:solidFill>
              <a:latin typeface="IBM Plex Sans KR Medium"/>
              <a:ea typeface="IBM Plex Sans KR Medium"/>
            </a:endParaRPr>
          </a:p>
        </p:txBody>
      </p:sp>
      <p:sp>
        <p:nvSpPr>
          <p:cNvPr id="22" name="Rounded Rectangle 3">
            <a:extLst>
              <a:ext uri="{FF2B5EF4-FFF2-40B4-BE49-F238E27FC236}">
                <a16:creationId xmlns:a16="http://schemas.microsoft.com/office/drawing/2014/main" id="{1C447A3B-6130-5514-802E-DCD6A8233C79}"/>
              </a:ext>
            </a:extLst>
          </p:cNvPr>
          <p:cNvSpPr/>
          <p:nvPr/>
        </p:nvSpPr>
        <p:spPr>
          <a:xfrm>
            <a:off x="822960" y="1225667"/>
            <a:ext cx="13323498" cy="73152"/>
          </a:xfrm>
          <a:prstGeom prst="roundRect">
            <a:avLst/>
          </a:prstGeom>
          <a:solidFill>
            <a:srgbClr val="E8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IBM Plex Sans KR" panose="020B0503050203000203" pitchFamily="34" charset="-127"/>
              <a:ea typeface="IBM Plex Sans KR" panose="020B0503050203000203" pitchFamily="34" charset="-127"/>
            </a:endParaRPr>
          </a:p>
        </p:txBody>
      </p:sp>
      <p:graphicFrame>
        <p:nvGraphicFramePr>
          <p:cNvPr id="23" name="다이어그램 22">
            <a:extLst>
              <a:ext uri="{FF2B5EF4-FFF2-40B4-BE49-F238E27FC236}">
                <a16:creationId xmlns:a16="http://schemas.microsoft.com/office/drawing/2014/main" id="{B16A5D8B-529B-3A24-9F7B-5B2A52900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5617584"/>
              </p:ext>
            </p:extLst>
          </p:nvPr>
        </p:nvGraphicFramePr>
        <p:xfrm>
          <a:off x="608929" y="3416217"/>
          <a:ext cx="12827671" cy="49908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4" name="설명선 1[L] 23">
            <a:extLst>
              <a:ext uri="{FF2B5EF4-FFF2-40B4-BE49-F238E27FC236}">
                <a16:creationId xmlns:a16="http://schemas.microsoft.com/office/drawing/2014/main" id="{F6772F33-9248-D8C6-B8B7-879E773480F4}"/>
              </a:ext>
            </a:extLst>
          </p:cNvPr>
          <p:cNvSpPr/>
          <p:nvPr/>
        </p:nvSpPr>
        <p:spPr>
          <a:xfrm>
            <a:off x="661334" y="2309874"/>
            <a:ext cx="5612466" cy="1062062"/>
          </a:xfrm>
          <a:prstGeom prst="borderCallout1">
            <a:avLst>
              <a:gd name="adj1" fmla="val 96895"/>
              <a:gd name="adj2" fmla="val 26666"/>
              <a:gd name="adj3" fmla="val 183908"/>
              <a:gd name="adj4" fmla="val 26327"/>
            </a:avLst>
          </a:prstGeom>
          <a:solidFill>
            <a:srgbClr val="F1F4ED"/>
          </a:solidFill>
          <a:ln>
            <a:solidFill>
              <a:srgbClr val="567C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5000"/>
              </a:lnSpc>
            </a:pPr>
            <a:r>
              <a:rPr lang="ko-KR" altLang="en-US" sz="2000">
                <a:solidFill>
                  <a:srgbClr val="2F3F3B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수치형</a:t>
            </a:r>
            <a:r>
              <a:rPr lang="en-US" altLang="ko-KR" sz="2000">
                <a:solidFill>
                  <a:srgbClr val="2F3F3B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·</a:t>
            </a:r>
            <a:r>
              <a:rPr lang="ko-KR" altLang="en-US" sz="2000">
                <a:solidFill>
                  <a:srgbClr val="2F3F3B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범주형을 함께 비교하는 </a:t>
            </a:r>
            <a:r>
              <a:rPr lang="en" altLang="ko-KR" sz="2000">
                <a:solidFill>
                  <a:srgbClr val="2F3F3B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Gower </a:t>
            </a:r>
            <a:r>
              <a:rPr lang="ko-KR" altLang="en-US" sz="2000">
                <a:solidFill>
                  <a:srgbClr val="2F3F3B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거리에 </a:t>
            </a:r>
            <a:r>
              <a:rPr lang="en" altLang="ko-KR" sz="2000">
                <a:solidFill>
                  <a:srgbClr val="2F3F3B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Mutual Information </a:t>
            </a:r>
            <a:r>
              <a:rPr lang="ko-KR" altLang="en-US" sz="2000">
                <a:solidFill>
                  <a:srgbClr val="2F3F3B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가중</a:t>
            </a:r>
            <a:r>
              <a:rPr lang="en-US" altLang="ko-KR" sz="2000">
                <a:solidFill>
                  <a:srgbClr val="2F3F3B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(62.5%)</a:t>
            </a:r>
            <a:r>
              <a:rPr lang="ko-KR" altLang="en-US" sz="2000">
                <a:solidFill>
                  <a:srgbClr val="2F3F3B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을 결합했습니다</a:t>
            </a:r>
            <a:r>
              <a:rPr lang="en-US" altLang="ko-KR" sz="2000">
                <a:solidFill>
                  <a:srgbClr val="2F3F3B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.</a:t>
            </a:r>
          </a:p>
        </p:txBody>
      </p:sp>
      <p:sp>
        <p:nvSpPr>
          <p:cNvPr id="25" name="설명선 1[L] 24">
            <a:extLst>
              <a:ext uri="{FF2B5EF4-FFF2-40B4-BE49-F238E27FC236}">
                <a16:creationId xmlns:a16="http://schemas.microsoft.com/office/drawing/2014/main" id="{C7417665-57ED-A4FF-BD6A-FD6CE1CFCE30}"/>
              </a:ext>
            </a:extLst>
          </p:cNvPr>
          <p:cNvSpPr/>
          <p:nvPr/>
        </p:nvSpPr>
        <p:spPr>
          <a:xfrm>
            <a:off x="7484709" y="2190021"/>
            <a:ext cx="5951891" cy="1135214"/>
          </a:xfrm>
          <a:prstGeom prst="borderCallout1">
            <a:avLst>
              <a:gd name="adj1" fmla="val 96895"/>
              <a:gd name="adj2" fmla="val 15285"/>
              <a:gd name="adj3" fmla="val 195403"/>
              <a:gd name="adj4" fmla="val 14946"/>
            </a:avLst>
          </a:prstGeom>
          <a:solidFill>
            <a:srgbClr val="EEF4F2"/>
          </a:solidFill>
          <a:ln>
            <a:solidFill>
              <a:srgbClr val="567C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5000"/>
              </a:lnSpc>
            </a:pPr>
            <a:r>
              <a:rPr lang="en" altLang="ko-KR" sz="2000">
                <a:solidFill>
                  <a:srgbClr val="2F3F3B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Robust CV MAE 0.149096(</a:t>
            </a:r>
            <a:r>
              <a:rPr lang="ko-KR" altLang="en-US" sz="2000">
                <a:solidFill>
                  <a:srgbClr val="2F3F3B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표준편차 </a:t>
            </a:r>
            <a:r>
              <a:rPr lang="en-US" altLang="ko-KR" sz="2000">
                <a:solidFill>
                  <a:srgbClr val="2F3F3B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0.001215)</a:t>
            </a:r>
            <a:r>
              <a:rPr lang="ko-KR" altLang="en-US" sz="2000">
                <a:solidFill>
                  <a:srgbClr val="2F3F3B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로 안정적인 재현성을 확인했습니다</a:t>
            </a:r>
            <a:r>
              <a:rPr lang="en-US" altLang="ko-KR" sz="2000">
                <a:solidFill>
                  <a:srgbClr val="2F3F3B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.</a:t>
            </a:r>
          </a:p>
        </p:txBody>
      </p:sp>
      <p:sp>
        <p:nvSpPr>
          <p:cNvPr id="26" name="설명선 1[L] 25">
            <a:extLst>
              <a:ext uri="{FF2B5EF4-FFF2-40B4-BE49-F238E27FC236}">
                <a16:creationId xmlns:a16="http://schemas.microsoft.com/office/drawing/2014/main" id="{F2019D97-BBE7-60DC-1361-C23A047BAD1B}"/>
              </a:ext>
            </a:extLst>
          </p:cNvPr>
          <p:cNvSpPr/>
          <p:nvPr/>
        </p:nvSpPr>
        <p:spPr>
          <a:xfrm>
            <a:off x="916939" y="8407064"/>
            <a:ext cx="6729223" cy="1135214"/>
          </a:xfrm>
          <a:prstGeom prst="borderCallout1">
            <a:avLst>
              <a:gd name="adj1" fmla="val -618"/>
              <a:gd name="adj2" fmla="val 19413"/>
              <a:gd name="adj3" fmla="val -59732"/>
              <a:gd name="adj4" fmla="val 43963"/>
            </a:avLst>
          </a:prstGeom>
          <a:solidFill>
            <a:srgbClr val="FDF8EE"/>
          </a:solidFill>
          <a:ln>
            <a:solidFill>
              <a:srgbClr val="567C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5000"/>
              </a:lnSpc>
            </a:pPr>
            <a:r>
              <a:rPr lang="ko-KR" altLang="en-US" sz="2000">
                <a:solidFill>
                  <a:srgbClr val="2F3F3B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가장 가까운 </a:t>
            </a:r>
            <a:r>
              <a:rPr lang="en" altLang="ko-KR" sz="2000">
                <a:solidFill>
                  <a:srgbClr val="2F3F3B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Train 128</a:t>
            </a:r>
            <a:r>
              <a:rPr lang="ko-KR" altLang="en-US" sz="2000">
                <a:solidFill>
                  <a:srgbClr val="2F3F3B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개의 타깃을 거리 역수 제곱으로 가중해 중앙값을 예측했습니다</a:t>
            </a:r>
            <a:r>
              <a:rPr lang="en-US" altLang="ko-KR" sz="2000">
                <a:solidFill>
                  <a:srgbClr val="2F3F3B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.</a:t>
            </a:r>
          </a:p>
        </p:txBody>
      </p:sp>
      <p:sp>
        <p:nvSpPr>
          <p:cNvPr id="27" name="설명선 1[L] 26">
            <a:extLst>
              <a:ext uri="{FF2B5EF4-FFF2-40B4-BE49-F238E27FC236}">
                <a16:creationId xmlns:a16="http://schemas.microsoft.com/office/drawing/2014/main" id="{9C138855-96C3-85A1-6F36-57839727582A}"/>
              </a:ext>
            </a:extLst>
          </p:cNvPr>
          <p:cNvSpPr/>
          <p:nvPr/>
        </p:nvSpPr>
        <p:spPr>
          <a:xfrm>
            <a:off x="8577260" y="8039100"/>
            <a:ext cx="6154739" cy="1135214"/>
          </a:xfrm>
          <a:prstGeom prst="borderCallout1">
            <a:avLst>
              <a:gd name="adj1" fmla="val -619"/>
              <a:gd name="adj2" fmla="val 48160"/>
              <a:gd name="adj3" fmla="val -70479"/>
              <a:gd name="adj4" fmla="val 43779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567C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5000"/>
              </a:lnSpc>
            </a:pPr>
            <a:r>
              <a:rPr lang="en" altLang="ko-KR" sz="2000">
                <a:solidFill>
                  <a:srgbClr val="2F3F3B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Public MAE 0.130060</a:t>
            </a:r>
            <a:r>
              <a:rPr lang="ko-KR" altLang="en-US" sz="2000">
                <a:solidFill>
                  <a:srgbClr val="2F3F3B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으로 </a:t>
            </a:r>
            <a:r>
              <a:rPr lang="en" altLang="ko-KR" sz="2000">
                <a:solidFill>
                  <a:srgbClr val="2F3F3B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Champion</a:t>
            </a:r>
            <a:r>
              <a:rPr lang="ko-KR" altLang="en-US" sz="2000">
                <a:solidFill>
                  <a:srgbClr val="2F3F3B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보다 낮았지만</a:t>
            </a:r>
            <a:r>
              <a:rPr lang="en-US" altLang="ko-KR" sz="2000">
                <a:solidFill>
                  <a:srgbClr val="2F3F3B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, </a:t>
            </a:r>
            <a:r>
              <a:rPr lang="ko-KR" altLang="en-US" sz="2000">
                <a:solidFill>
                  <a:srgbClr val="2F3F3B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향후 </a:t>
            </a:r>
            <a:r>
              <a:rPr lang="en-US" altLang="ko-KR" sz="2000">
                <a:solidFill>
                  <a:srgbClr val="2F3F3B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1~10% </a:t>
            </a:r>
            <a:r>
              <a:rPr lang="ko-KR" altLang="en-US" sz="2000">
                <a:solidFill>
                  <a:srgbClr val="2F3F3B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저비중 혼합 후보로 보존합니다</a:t>
            </a:r>
            <a:r>
              <a:rPr lang="en-US" altLang="ko-KR" sz="2000">
                <a:solidFill>
                  <a:srgbClr val="2F3F3B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.</a:t>
            </a:r>
          </a:p>
        </p:txBody>
      </p:sp>
      <p:sp>
        <p:nvSpPr>
          <p:cNvPr id="28" name="Rounded Rectangle 26">
            <a:extLst>
              <a:ext uri="{FF2B5EF4-FFF2-40B4-BE49-F238E27FC236}">
                <a16:creationId xmlns:a16="http://schemas.microsoft.com/office/drawing/2014/main" id="{D0CF5B45-ADA6-D202-1199-AE3B75EA99CF}"/>
              </a:ext>
            </a:extLst>
          </p:cNvPr>
          <p:cNvSpPr/>
          <p:nvPr/>
        </p:nvSpPr>
        <p:spPr>
          <a:xfrm>
            <a:off x="14328270" y="4911641"/>
            <a:ext cx="3300000" cy="2000000"/>
          </a:xfrm>
          <a:custGeom>
            <a:avLst/>
            <a:gdLst>
              <a:gd name="csX0" fmla="*/ 0 w 3300000"/>
              <a:gd name="csY0" fmla="*/ 333340 h 2000000"/>
              <a:gd name="csX1" fmla="*/ 333340 w 3300000"/>
              <a:gd name="csY1" fmla="*/ 0 h 2000000"/>
              <a:gd name="csX2" fmla="*/ 886337 w 3300000"/>
              <a:gd name="csY2" fmla="*/ 0 h 2000000"/>
              <a:gd name="csX3" fmla="*/ 1334002 w 3300000"/>
              <a:gd name="csY3" fmla="*/ 0 h 2000000"/>
              <a:gd name="csX4" fmla="*/ 1860666 w 3300000"/>
              <a:gd name="csY4" fmla="*/ 0 h 2000000"/>
              <a:gd name="csX5" fmla="*/ 2334663 w 3300000"/>
              <a:gd name="csY5" fmla="*/ 0 h 2000000"/>
              <a:gd name="csX6" fmla="*/ 2966660 w 3300000"/>
              <a:gd name="csY6" fmla="*/ 0 h 2000000"/>
              <a:gd name="csX7" fmla="*/ 3300000 w 3300000"/>
              <a:gd name="csY7" fmla="*/ 333340 h 2000000"/>
              <a:gd name="csX8" fmla="*/ 3300000 w 3300000"/>
              <a:gd name="csY8" fmla="*/ 804446 h 2000000"/>
              <a:gd name="csX9" fmla="*/ 3300000 w 3300000"/>
              <a:gd name="csY9" fmla="*/ 1262220 h 2000000"/>
              <a:gd name="csX10" fmla="*/ 3300000 w 3300000"/>
              <a:gd name="csY10" fmla="*/ 1666660 h 2000000"/>
              <a:gd name="csX11" fmla="*/ 2966660 w 3300000"/>
              <a:gd name="csY11" fmla="*/ 2000000 h 2000000"/>
              <a:gd name="csX12" fmla="*/ 2387330 w 3300000"/>
              <a:gd name="csY12" fmla="*/ 2000000 h 2000000"/>
              <a:gd name="csX13" fmla="*/ 1913332 w 3300000"/>
              <a:gd name="csY13" fmla="*/ 2000000 h 2000000"/>
              <a:gd name="csX14" fmla="*/ 1465668 w 3300000"/>
              <a:gd name="csY14" fmla="*/ 2000000 h 2000000"/>
              <a:gd name="csX15" fmla="*/ 991670 w 3300000"/>
              <a:gd name="csY15" fmla="*/ 2000000 h 2000000"/>
              <a:gd name="csX16" fmla="*/ 333340 w 3300000"/>
              <a:gd name="csY16" fmla="*/ 2000000 h 2000000"/>
              <a:gd name="csX17" fmla="*/ 0 w 3300000"/>
              <a:gd name="csY17" fmla="*/ 1666660 h 2000000"/>
              <a:gd name="csX18" fmla="*/ 0 w 3300000"/>
              <a:gd name="csY18" fmla="*/ 1262220 h 2000000"/>
              <a:gd name="csX19" fmla="*/ 0 w 3300000"/>
              <a:gd name="csY19" fmla="*/ 817780 h 2000000"/>
              <a:gd name="csX20" fmla="*/ 0 w 3300000"/>
              <a:gd name="csY20" fmla="*/ 333340 h 200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3300000" h="2000000" fill="none" extrusionOk="0">
                <a:moveTo>
                  <a:pt x="0" y="333340"/>
                </a:moveTo>
                <a:cubicBezTo>
                  <a:pt x="15254" y="179444"/>
                  <a:pt x="134442" y="7804"/>
                  <a:pt x="333340" y="0"/>
                </a:cubicBezTo>
                <a:cubicBezTo>
                  <a:pt x="529411" y="-44381"/>
                  <a:pt x="705603" y="36810"/>
                  <a:pt x="886337" y="0"/>
                </a:cubicBezTo>
                <a:cubicBezTo>
                  <a:pt x="1067071" y="-36810"/>
                  <a:pt x="1235263" y="20598"/>
                  <a:pt x="1334002" y="0"/>
                </a:cubicBezTo>
                <a:cubicBezTo>
                  <a:pt x="1432742" y="-20598"/>
                  <a:pt x="1726894" y="16853"/>
                  <a:pt x="1860666" y="0"/>
                </a:cubicBezTo>
                <a:cubicBezTo>
                  <a:pt x="1994438" y="-16853"/>
                  <a:pt x="2097694" y="13671"/>
                  <a:pt x="2334663" y="0"/>
                </a:cubicBezTo>
                <a:cubicBezTo>
                  <a:pt x="2571632" y="-13671"/>
                  <a:pt x="2696686" y="71700"/>
                  <a:pt x="2966660" y="0"/>
                </a:cubicBezTo>
                <a:cubicBezTo>
                  <a:pt x="3181693" y="-6785"/>
                  <a:pt x="3340396" y="182522"/>
                  <a:pt x="3300000" y="333340"/>
                </a:cubicBezTo>
                <a:cubicBezTo>
                  <a:pt x="3341534" y="442351"/>
                  <a:pt x="3295177" y="706212"/>
                  <a:pt x="3300000" y="804446"/>
                </a:cubicBezTo>
                <a:cubicBezTo>
                  <a:pt x="3304823" y="902680"/>
                  <a:pt x="3299595" y="1142684"/>
                  <a:pt x="3300000" y="1262220"/>
                </a:cubicBezTo>
                <a:cubicBezTo>
                  <a:pt x="3300405" y="1381756"/>
                  <a:pt x="3260244" y="1584847"/>
                  <a:pt x="3300000" y="1666660"/>
                </a:cubicBezTo>
                <a:cubicBezTo>
                  <a:pt x="3291774" y="1855372"/>
                  <a:pt x="3164218" y="2036467"/>
                  <a:pt x="2966660" y="2000000"/>
                </a:cubicBezTo>
                <a:cubicBezTo>
                  <a:pt x="2702138" y="2055903"/>
                  <a:pt x="2581244" y="1960949"/>
                  <a:pt x="2387330" y="2000000"/>
                </a:cubicBezTo>
                <a:cubicBezTo>
                  <a:pt x="2193416" y="2039051"/>
                  <a:pt x="2033035" y="1963976"/>
                  <a:pt x="1913332" y="2000000"/>
                </a:cubicBezTo>
                <a:cubicBezTo>
                  <a:pt x="1793629" y="2036024"/>
                  <a:pt x="1601988" y="1963953"/>
                  <a:pt x="1465668" y="2000000"/>
                </a:cubicBezTo>
                <a:cubicBezTo>
                  <a:pt x="1329348" y="2036047"/>
                  <a:pt x="1162098" y="1968227"/>
                  <a:pt x="991670" y="2000000"/>
                </a:cubicBezTo>
                <a:cubicBezTo>
                  <a:pt x="821242" y="2031773"/>
                  <a:pt x="514409" y="1995332"/>
                  <a:pt x="333340" y="2000000"/>
                </a:cubicBezTo>
                <a:cubicBezTo>
                  <a:pt x="106913" y="2005075"/>
                  <a:pt x="4667" y="1855661"/>
                  <a:pt x="0" y="1666660"/>
                </a:cubicBezTo>
                <a:cubicBezTo>
                  <a:pt x="-39081" y="1515848"/>
                  <a:pt x="43236" y="1427962"/>
                  <a:pt x="0" y="1262220"/>
                </a:cubicBezTo>
                <a:cubicBezTo>
                  <a:pt x="-43236" y="1096478"/>
                  <a:pt x="14899" y="912158"/>
                  <a:pt x="0" y="817780"/>
                </a:cubicBezTo>
                <a:cubicBezTo>
                  <a:pt x="-14899" y="723402"/>
                  <a:pt x="19865" y="497334"/>
                  <a:pt x="0" y="333340"/>
                </a:cubicBezTo>
                <a:close/>
              </a:path>
              <a:path w="3300000" h="2000000" stroke="0" extrusionOk="0">
                <a:moveTo>
                  <a:pt x="0" y="333340"/>
                </a:moveTo>
                <a:cubicBezTo>
                  <a:pt x="-21527" y="135963"/>
                  <a:pt x="115288" y="12743"/>
                  <a:pt x="333340" y="0"/>
                </a:cubicBezTo>
                <a:cubicBezTo>
                  <a:pt x="565488" y="-27400"/>
                  <a:pt x="752054" y="39007"/>
                  <a:pt x="912670" y="0"/>
                </a:cubicBezTo>
                <a:cubicBezTo>
                  <a:pt x="1073286" y="-39007"/>
                  <a:pt x="1304771" y="11538"/>
                  <a:pt x="1413001" y="0"/>
                </a:cubicBezTo>
                <a:cubicBezTo>
                  <a:pt x="1521231" y="-11538"/>
                  <a:pt x="1674783" y="34192"/>
                  <a:pt x="1886999" y="0"/>
                </a:cubicBezTo>
                <a:cubicBezTo>
                  <a:pt x="2099215" y="-34192"/>
                  <a:pt x="2292293" y="27416"/>
                  <a:pt x="2439996" y="0"/>
                </a:cubicBezTo>
                <a:cubicBezTo>
                  <a:pt x="2587699" y="-27416"/>
                  <a:pt x="2830813" y="438"/>
                  <a:pt x="2966660" y="0"/>
                </a:cubicBezTo>
                <a:cubicBezTo>
                  <a:pt x="3164905" y="-23020"/>
                  <a:pt x="3296011" y="152747"/>
                  <a:pt x="3300000" y="333340"/>
                </a:cubicBezTo>
                <a:cubicBezTo>
                  <a:pt x="3314633" y="522918"/>
                  <a:pt x="3263877" y="675831"/>
                  <a:pt x="3300000" y="777780"/>
                </a:cubicBezTo>
                <a:cubicBezTo>
                  <a:pt x="3336123" y="879729"/>
                  <a:pt x="3255771" y="1046670"/>
                  <a:pt x="3300000" y="1182220"/>
                </a:cubicBezTo>
                <a:cubicBezTo>
                  <a:pt x="3344229" y="1317770"/>
                  <a:pt x="3257948" y="1425267"/>
                  <a:pt x="3300000" y="1666660"/>
                </a:cubicBezTo>
                <a:cubicBezTo>
                  <a:pt x="3305395" y="1858790"/>
                  <a:pt x="3154006" y="2033633"/>
                  <a:pt x="2966660" y="2000000"/>
                </a:cubicBezTo>
                <a:cubicBezTo>
                  <a:pt x="2747970" y="2025124"/>
                  <a:pt x="2740932" y="1968298"/>
                  <a:pt x="2518996" y="2000000"/>
                </a:cubicBezTo>
                <a:cubicBezTo>
                  <a:pt x="2297060" y="2031702"/>
                  <a:pt x="2168666" y="1940824"/>
                  <a:pt x="1939665" y="2000000"/>
                </a:cubicBezTo>
                <a:cubicBezTo>
                  <a:pt x="1710664" y="2059176"/>
                  <a:pt x="1588482" y="1983419"/>
                  <a:pt x="1465668" y="2000000"/>
                </a:cubicBezTo>
                <a:cubicBezTo>
                  <a:pt x="1342854" y="2016581"/>
                  <a:pt x="1148866" y="1941475"/>
                  <a:pt x="939004" y="2000000"/>
                </a:cubicBezTo>
                <a:cubicBezTo>
                  <a:pt x="729142" y="2058525"/>
                  <a:pt x="468188" y="1946275"/>
                  <a:pt x="333340" y="2000000"/>
                </a:cubicBezTo>
                <a:cubicBezTo>
                  <a:pt x="147374" y="1994384"/>
                  <a:pt x="16923" y="1847321"/>
                  <a:pt x="0" y="1666660"/>
                </a:cubicBezTo>
                <a:cubicBezTo>
                  <a:pt x="-39489" y="1529229"/>
                  <a:pt x="33665" y="1459408"/>
                  <a:pt x="0" y="1262220"/>
                </a:cubicBezTo>
                <a:cubicBezTo>
                  <a:pt x="-33665" y="1065032"/>
                  <a:pt x="32688" y="886032"/>
                  <a:pt x="0" y="791113"/>
                </a:cubicBezTo>
                <a:cubicBezTo>
                  <a:pt x="-32688" y="696194"/>
                  <a:pt x="727" y="509278"/>
                  <a:pt x="0" y="33334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57150">
            <a:solidFill>
              <a:schemeClr val="accent2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37160" bIns="137160" rtlCol="0" anchor="ctr"/>
          <a:lstStyle/>
          <a:p>
            <a:pPr algn="ctr"/>
            <a:r>
              <a:rPr lang="ko-KR" altLang="en-US" sz="3000" b="1">
                <a:solidFill>
                  <a:schemeClr val="tx1"/>
                </a:solidFill>
                <a:latin typeface="Hanken Grotesk ExtraBold"/>
              </a:rPr>
              <a:t>미채택</a:t>
            </a:r>
            <a:endParaRPr sz="3000" b="1">
              <a:solidFill>
                <a:schemeClr val="tx1"/>
              </a:solidFill>
              <a:latin typeface="Hanken Grotesk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4245018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659355F8-DD28-5C1E-E4E3-3588CC9932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447" b="38385"/>
          <a:stretch>
            <a:fillRect/>
          </a:stretch>
        </p:blipFill>
        <p:spPr>
          <a:xfrm>
            <a:off x="-14288" y="6951030"/>
            <a:ext cx="2911870" cy="335025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94360" y="1353311"/>
            <a:ext cx="13323498" cy="73152"/>
          </a:xfrm>
          <a:prstGeom prst="roundRect">
            <a:avLst/>
          </a:prstGeom>
          <a:solidFill>
            <a:srgbClr val="E8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IBM Plex Sans KR" panose="020B0503050203000203" pitchFamily="34" charset="-127"/>
              <a:ea typeface="IBM Plex Sans KR" panose="020B0503050203000203" pitchFamily="34" charset="-127"/>
            </a:endParaRPr>
          </a:p>
        </p:txBody>
      </p:sp>
      <p:sp>
        <p:nvSpPr>
          <p:cNvPr id="8" name="key1_label"/>
          <p:cNvSpPr txBox="1"/>
          <p:nvPr/>
        </p:nvSpPr>
        <p:spPr>
          <a:xfrm>
            <a:off x="14249113" y="3942271"/>
            <a:ext cx="2926080" cy="27432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sz="1500" b="0">
                <a:solidFill>
                  <a:srgbClr val="626262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최초 대비 개선</a:t>
            </a:r>
          </a:p>
        </p:txBody>
      </p:sp>
      <p:sp>
        <p:nvSpPr>
          <p:cNvPr id="9" name="key1_value"/>
          <p:cNvSpPr txBox="1"/>
          <p:nvPr/>
        </p:nvSpPr>
        <p:spPr>
          <a:xfrm>
            <a:off x="14249113" y="4326319"/>
            <a:ext cx="2926080" cy="50292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sz="3400" b="1">
                <a:solidFill>
                  <a:srgbClr val="567C75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25.01%</a:t>
            </a:r>
          </a:p>
        </p:txBody>
      </p:sp>
      <p:sp>
        <p:nvSpPr>
          <p:cNvPr id="10" name="key1_desc"/>
          <p:cNvSpPr txBox="1"/>
          <p:nvPr/>
        </p:nvSpPr>
        <p:spPr>
          <a:xfrm>
            <a:off x="14249113" y="4893247"/>
            <a:ext cx="306324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101010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0.1686789 → 0.1265
절대 MAE 0.042179 감소</a:t>
            </a:r>
          </a:p>
        </p:txBody>
      </p:sp>
      <p:sp>
        <p:nvSpPr>
          <p:cNvPr id="11" name="key2_label"/>
          <p:cNvSpPr txBox="1"/>
          <p:nvPr/>
        </p:nvSpPr>
        <p:spPr>
          <a:xfrm>
            <a:off x="14249113" y="5725351"/>
            <a:ext cx="2926080" cy="27432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sz="1500" b="0">
                <a:solidFill>
                  <a:srgbClr val="626262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V7 대비 개선</a:t>
            </a:r>
          </a:p>
        </p:txBody>
      </p:sp>
      <p:sp>
        <p:nvSpPr>
          <p:cNvPr id="12" name="key2_value"/>
          <p:cNvSpPr txBox="1"/>
          <p:nvPr/>
        </p:nvSpPr>
        <p:spPr>
          <a:xfrm>
            <a:off x="14249113" y="6118543"/>
            <a:ext cx="2926080" cy="50292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l"/>
            <a:r>
              <a:rPr sz="3000" b="1">
                <a:solidFill>
                  <a:srgbClr val="567C75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0.002274</a:t>
            </a:r>
          </a:p>
        </p:txBody>
      </p:sp>
      <p:sp>
        <p:nvSpPr>
          <p:cNvPr id="13" name="key2_desc"/>
          <p:cNvSpPr txBox="1"/>
          <p:nvPr/>
        </p:nvSpPr>
        <p:spPr>
          <a:xfrm>
            <a:off x="14249113" y="6712903"/>
            <a:ext cx="306324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101010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Public 차이는 작지만
V1(Fresh V6)은 내부 검증 기록 없음</a:t>
            </a:r>
          </a:p>
        </p:txBody>
      </p:sp>
      <p:sp>
        <p:nvSpPr>
          <p:cNvPr id="14" name="footer_note"/>
          <p:cNvSpPr txBox="1"/>
          <p:nvPr/>
        </p:nvSpPr>
        <p:spPr>
          <a:xfrm>
            <a:off x="4578038" y="9677112"/>
            <a:ext cx="8595360" cy="4114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l"/>
            <a:r>
              <a:rPr sz="1600" b="0">
                <a:solidFill>
                  <a:srgbClr val="101010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해석: 큰 도약은 중요 피처 가중 + 중앙값 계열 집계에서 발생했고, V1은 51% 분위수로 마지막 미세 개선을 만들었습니다.</a:t>
            </a:r>
          </a:p>
        </p:txBody>
      </p:sp>
      <p:sp>
        <p:nvSpPr>
          <p:cNvPr id="18" name="Google Shape;146;p16">
            <a:extLst>
              <a:ext uri="{FF2B5EF4-FFF2-40B4-BE49-F238E27FC236}">
                <a16:creationId xmlns:a16="http://schemas.microsoft.com/office/drawing/2014/main" id="{1572A9C7-33AA-0CEF-BFEA-D42F7A2FFA94}"/>
              </a:ext>
            </a:extLst>
          </p:cNvPr>
          <p:cNvSpPr txBox="1"/>
          <p:nvPr/>
        </p:nvSpPr>
        <p:spPr>
          <a:xfrm>
            <a:off x="962024" y="571500"/>
            <a:ext cx="12499975" cy="7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9100" rIns="0" bIns="0" anchor="t" anchorCtr="0">
            <a:noAutofit/>
          </a:bodyPr>
          <a:lstStyle/>
          <a:p>
            <a:pPr>
              <a:lnSpc>
                <a:spcPct val="97940"/>
              </a:lnSpc>
            </a:pPr>
            <a:r>
              <a:rPr lang="en-US" altLang="ko-KR" sz="4200" b="1">
                <a:solidFill>
                  <a:srgbClr val="567C75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04  </a:t>
            </a:r>
            <a:r>
              <a:rPr lang="en-US" altLang="ko-KR" sz="4200" b="1" err="1">
                <a:solidFill>
                  <a:srgbClr val="567C75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성능</a:t>
            </a:r>
            <a:r>
              <a:rPr lang="en-US" altLang="ko-KR" sz="4200" b="1">
                <a:solidFill>
                  <a:srgbClr val="567C75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 </a:t>
            </a:r>
            <a:r>
              <a:rPr lang="en-US" altLang="ko-KR" sz="4200" b="1" err="1">
                <a:solidFill>
                  <a:srgbClr val="567C75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개선</a:t>
            </a:r>
            <a:r>
              <a:rPr lang="en-US" altLang="ko-KR" sz="4200" b="1">
                <a:solidFill>
                  <a:srgbClr val="567C75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 </a:t>
            </a:r>
            <a:r>
              <a:rPr lang="en-US" altLang="ko-KR" sz="4200" b="1" err="1">
                <a:solidFill>
                  <a:srgbClr val="567C75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과정</a:t>
            </a:r>
            <a:r>
              <a:rPr lang="en-US" altLang="ko-KR" sz="4200" b="1">
                <a:solidFill>
                  <a:srgbClr val="567C75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 </a:t>
            </a:r>
            <a:r>
              <a:rPr lang="en-US" altLang="ko-KR" sz="2400" b="1">
                <a:solidFill>
                  <a:srgbClr val="567C75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- </a:t>
            </a:r>
            <a:r>
              <a:rPr lang="en-US" altLang="ko-KR" sz="2400" b="1" err="1">
                <a:solidFill>
                  <a:srgbClr val="567C75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제출별</a:t>
            </a:r>
            <a:r>
              <a:rPr lang="en-US" altLang="ko-KR" sz="2400" b="1">
                <a:solidFill>
                  <a:srgbClr val="567C75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 Public MAE 변화</a:t>
            </a:r>
            <a:r>
              <a:rPr lang="ko-KR" altLang="en-US" sz="2400" b="1">
                <a:solidFill>
                  <a:srgbClr val="567C75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 </a:t>
            </a:r>
            <a:r>
              <a:rPr lang="en-US" altLang="ko-KR" sz="2400" b="1">
                <a:solidFill>
                  <a:srgbClr val="567C75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(</a:t>
            </a:r>
            <a:r>
              <a:rPr lang="en-US" altLang="ko-KR" sz="2400" b="1" err="1">
                <a:solidFill>
                  <a:srgbClr val="567C75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ExtraTrees </a:t>
            </a:r>
            <a:r>
              <a:rPr lang="en-US" altLang="ko-KR" sz="2400" b="1">
                <a:solidFill>
                  <a:srgbClr val="567C75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단일</a:t>
            </a:r>
            <a:r>
              <a:rPr lang="ko-KR" altLang="en-US" sz="2400" b="1">
                <a:solidFill>
                  <a:srgbClr val="567C75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 </a:t>
            </a:r>
            <a:r>
              <a:rPr lang="en-US" altLang="ko-KR" sz="2400" b="1">
                <a:solidFill>
                  <a:srgbClr val="567C75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모델 </a:t>
            </a:r>
            <a:r>
              <a:rPr lang="en-US" altLang="ko-KR" sz="2400" b="1" err="1">
                <a:solidFill>
                  <a:srgbClr val="567C75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계열)</a:t>
            </a:r>
          </a:p>
        </p:txBody>
      </p:sp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C44C579B-4FA5-C217-E516-4F008AD2EF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0320969"/>
              </p:ext>
            </p:extLst>
          </p:nvPr>
        </p:nvGraphicFramePr>
        <p:xfrm>
          <a:off x="2811750" y="1801940"/>
          <a:ext cx="11437363" cy="7913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6" name="그림 15">
            <a:extLst>
              <a:ext uri="{FF2B5EF4-FFF2-40B4-BE49-F238E27FC236}">
                <a16:creationId xmlns:a16="http://schemas.microsoft.com/office/drawing/2014/main" id="{6D6705D1-22F0-36AC-8C11-D8263DB766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002" r="30273"/>
          <a:stretch>
            <a:fillRect/>
          </a:stretch>
        </p:blipFill>
        <p:spPr>
          <a:xfrm>
            <a:off x="14070043" y="-94329"/>
            <a:ext cx="4330252" cy="403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073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659355F8-DD28-5C1E-E4E3-3588CC9932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19" b="34800"/>
          <a:stretch>
            <a:fillRect/>
          </a:stretch>
        </p:blipFill>
        <p:spPr>
          <a:xfrm>
            <a:off x="-16042" y="7065255"/>
            <a:ext cx="3349219" cy="324083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94360" y="1353311"/>
            <a:ext cx="13323498" cy="73152"/>
          </a:xfrm>
          <a:prstGeom prst="roundRect">
            <a:avLst/>
          </a:prstGeom>
          <a:solidFill>
            <a:srgbClr val="E8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IBM Plex Sans KR" panose="020B0503050203000203" pitchFamily="34" charset="-127"/>
              <a:ea typeface="IBM Plex Sans KR" panose="020B0503050203000203" pitchFamily="34" charset="-127"/>
            </a:endParaRPr>
          </a:p>
        </p:txBody>
      </p:sp>
      <p:sp>
        <p:nvSpPr>
          <p:cNvPr id="8" name="key1_label"/>
          <p:cNvSpPr txBox="1"/>
          <p:nvPr/>
        </p:nvSpPr>
        <p:spPr>
          <a:xfrm>
            <a:off x="14249113" y="3942271"/>
            <a:ext cx="2926080" cy="27432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sz="1500" b="0">
                <a:solidFill>
                  <a:srgbClr val="626262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최종 채택</a:t>
            </a:r>
          </a:p>
        </p:txBody>
      </p:sp>
      <p:sp>
        <p:nvSpPr>
          <p:cNvPr id="9" name="key1_value"/>
          <p:cNvSpPr txBox="1"/>
          <p:nvPr/>
        </p:nvSpPr>
        <p:spPr>
          <a:xfrm>
            <a:off x="14249113" y="4326319"/>
            <a:ext cx="2926080" cy="50292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lang="en-US" sz="3400" b="1">
                <a:solidFill>
                  <a:srgbClr val="567C75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BS_8/6</a:t>
            </a:r>
            <a:endParaRPr sz="3400" b="1">
              <a:solidFill>
                <a:srgbClr val="567C75"/>
              </a:solidFill>
              <a:latin typeface="IBM Plex Sans KR" panose="020B0503050203000203" pitchFamily="34" charset="-127"/>
              <a:ea typeface="IBM Plex Sans KR" panose="020B0503050203000203" pitchFamily="34" charset="-127"/>
            </a:endParaRPr>
          </a:p>
        </p:txBody>
      </p:sp>
      <p:sp>
        <p:nvSpPr>
          <p:cNvPr id="10" name="key1_desc"/>
          <p:cNvSpPr txBox="1"/>
          <p:nvPr/>
        </p:nvSpPr>
        <p:spPr>
          <a:xfrm>
            <a:off x="14249113" y="4893247"/>
            <a:ext cx="306324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101010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Public 0.126687 · Private 0.1473
검증-실전 격차가 가장 작음</a:t>
            </a:r>
          </a:p>
        </p:txBody>
      </p:sp>
      <p:sp>
        <p:nvSpPr>
          <p:cNvPr id="11" name="key2_label"/>
          <p:cNvSpPr txBox="1"/>
          <p:nvPr/>
        </p:nvSpPr>
        <p:spPr>
          <a:xfrm>
            <a:off x="14249113" y="5725351"/>
            <a:ext cx="2926080" cy="27432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sz="1500" b="0">
                <a:solidFill>
                  <a:srgbClr val="626262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참고 (미채택)</a:t>
            </a:r>
          </a:p>
        </p:txBody>
      </p:sp>
      <p:sp>
        <p:nvSpPr>
          <p:cNvPr id="12" name="key2_value"/>
          <p:cNvSpPr txBox="1"/>
          <p:nvPr/>
        </p:nvSpPr>
        <p:spPr>
          <a:xfrm>
            <a:off x="14249113" y="6118543"/>
            <a:ext cx="2926080" cy="50292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l"/>
            <a:r>
              <a:rPr lang="en-US" sz="3000" b="1">
                <a:solidFill>
                  <a:srgbClr val="567C75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JH_</a:t>
            </a:r>
            <a:r>
              <a:rPr sz="3000" b="1">
                <a:solidFill>
                  <a:srgbClr val="567C75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V6</a:t>
            </a:r>
          </a:p>
        </p:txBody>
      </p:sp>
      <p:sp>
        <p:nvSpPr>
          <p:cNvPr id="13" name="key2_desc"/>
          <p:cNvSpPr txBox="1"/>
          <p:nvPr/>
        </p:nvSpPr>
        <p:spPr>
          <a:xfrm>
            <a:off x="14249113" y="6712903"/>
            <a:ext cx="306324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101010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Public 0.1265 (최저)이지만
내부·Private 검증 기록 없음</a:t>
            </a:r>
          </a:p>
        </p:txBody>
      </p:sp>
      <p:sp>
        <p:nvSpPr>
          <p:cNvPr id="14" name="footer_note"/>
          <p:cNvSpPr txBox="1"/>
          <p:nvPr/>
        </p:nvSpPr>
        <p:spPr>
          <a:xfrm>
            <a:off x="3937885" y="9715500"/>
            <a:ext cx="10412229" cy="4114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l"/>
            <a:r>
              <a:rPr sz="1600" b="0">
                <a:solidFill>
                  <a:srgbClr val="101010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해석: Fresh V6가 Public 점수는 가장 낮지만 내부·Private 검증 기록이 없어, 재현 가능하고 Private까지 확인된 8월6일 통합모델을 최종으로 채택했습니다.</a:t>
            </a:r>
          </a:p>
        </p:txBody>
      </p:sp>
      <p:sp>
        <p:nvSpPr>
          <p:cNvPr id="18" name="Google Shape;146;p16">
            <a:extLst>
              <a:ext uri="{FF2B5EF4-FFF2-40B4-BE49-F238E27FC236}">
                <a16:creationId xmlns:a16="http://schemas.microsoft.com/office/drawing/2014/main" id="{1572A9C7-33AA-0CEF-BFEA-D42F7A2FFA94}"/>
              </a:ext>
            </a:extLst>
          </p:cNvPr>
          <p:cNvSpPr txBox="1"/>
          <p:nvPr/>
        </p:nvSpPr>
        <p:spPr>
          <a:xfrm>
            <a:off x="962025" y="571500"/>
            <a:ext cx="9715500" cy="7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9100" rIns="0" bIns="0" anchor="t" anchorCtr="0">
            <a:noAutofit/>
          </a:bodyPr>
          <a:lstStyle/>
          <a:p>
            <a:pPr>
              <a:lnSpc>
                <a:spcPct val="97940"/>
              </a:lnSpc>
            </a:pPr>
            <a:r>
              <a:rPr lang="en-US" altLang="ko-KR" sz="4200" b="1">
                <a:solidFill>
                  <a:srgbClr val="567C75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04  </a:t>
            </a:r>
            <a:r>
              <a:rPr lang="en-US" altLang="ko-KR" sz="4200" b="1" err="1">
                <a:solidFill>
                  <a:srgbClr val="567C75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성능</a:t>
            </a:r>
            <a:r>
              <a:rPr lang="en-US" altLang="ko-KR" sz="4200" b="1">
                <a:solidFill>
                  <a:srgbClr val="567C75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 </a:t>
            </a:r>
            <a:r>
              <a:rPr lang="en-US" altLang="ko-KR" sz="4200" b="1" err="1">
                <a:solidFill>
                  <a:srgbClr val="567C75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개선</a:t>
            </a:r>
            <a:r>
              <a:rPr lang="en-US" altLang="ko-KR" sz="4200" b="1">
                <a:solidFill>
                  <a:srgbClr val="567C75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 </a:t>
            </a:r>
            <a:r>
              <a:rPr lang="en-US" altLang="ko-KR" sz="4200" b="1" err="1">
                <a:solidFill>
                  <a:srgbClr val="567C75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과정</a:t>
            </a:r>
            <a:r>
              <a:rPr lang="en-US" altLang="ko-KR" sz="4200" b="1">
                <a:solidFill>
                  <a:srgbClr val="567C75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 </a:t>
            </a:r>
            <a:r>
              <a:rPr lang="en-US" altLang="ko-KR" sz="2400" b="1">
                <a:solidFill>
                  <a:srgbClr val="567C75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- </a:t>
            </a:r>
            <a:r>
              <a:rPr lang="en-US" altLang="ko-KR" sz="2400" b="1" err="1">
                <a:solidFill>
                  <a:srgbClr val="567C75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핵심 모델</a:t>
            </a:r>
            <a:r>
              <a:rPr lang="en-US" altLang="ko-KR" sz="2400" b="1">
                <a:solidFill>
                  <a:srgbClr val="567C75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 </a:t>
            </a:r>
            <a:r>
              <a:rPr lang="en-US" altLang="ko-KR" sz="2400" b="1" err="1">
                <a:solidFill>
                  <a:srgbClr val="567C75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비교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6D6705D1-22F0-36AC-8C11-D8263DB766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002" r="30273"/>
          <a:stretch>
            <a:fillRect/>
          </a:stretch>
        </p:blipFill>
        <p:spPr>
          <a:xfrm>
            <a:off x="14990267" y="-94329"/>
            <a:ext cx="3410027" cy="3178779"/>
          </a:xfrm>
          <a:prstGeom prst="rect">
            <a:avLst/>
          </a:prstGeom>
        </p:spPr>
      </p:pic>
      <p:graphicFrame>
        <p:nvGraphicFramePr>
          <p:cNvPr id="2" name="차트 1">
            <a:extLst>
              <a:ext uri="{FF2B5EF4-FFF2-40B4-BE49-F238E27FC236}">
                <a16:creationId xmlns:a16="http://schemas.microsoft.com/office/drawing/2014/main" id="{EECF1871-F14F-A9C9-F557-A1E422432E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1601208"/>
              </p:ext>
            </p:extLst>
          </p:nvPr>
        </p:nvGraphicFramePr>
        <p:xfrm>
          <a:off x="2902226" y="1811449"/>
          <a:ext cx="11221500" cy="78278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89073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Shape 223">
          <a:extLst>
            <a:ext uri="{FF2B5EF4-FFF2-40B4-BE49-F238E27FC236}">
              <a16:creationId xmlns:a16="http://schemas.microsoft.com/office/drawing/2014/main" id="{DB61D11F-797B-8F89-B6C6-92CF380D1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CFD0D53-21E1-717F-835C-0BCBCC1431C3}"/>
              </a:ext>
            </a:extLst>
          </p:cNvPr>
          <p:cNvSpPr/>
          <p:nvPr/>
        </p:nvSpPr>
        <p:spPr>
          <a:xfrm>
            <a:off x="594360" y="1353311"/>
            <a:ext cx="13323498" cy="73152"/>
          </a:xfrm>
          <a:prstGeom prst="roundRect">
            <a:avLst/>
          </a:prstGeom>
          <a:solidFill>
            <a:srgbClr val="E8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IBM Plex Sans KR" panose="020B0503050203000203" pitchFamily="34" charset="-127"/>
              <a:ea typeface="IBM Plex Sans KR" panose="020B0503050203000203" pitchFamily="34" charset="-127"/>
            </a:endParaRPr>
          </a:p>
        </p:txBody>
      </p:sp>
      <p:sp>
        <p:nvSpPr>
          <p:cNvPr id="18" name="Google Shape;146;p16">
            <a:extLst>
              <a:ext uri="{FF2B5EF4-FFF2-40B4-BE49-F238E27FC236}">
                <a16:creationId xmlns:a16="http://schemas.microsoft.com/office/drawing/2014/main" id="{1985E1B5-D1B9-B76B-7B3E-64ADA0B2A296}"/>
              </a:ext>
            </a:extLst>
          </p:cNvPr>
          <p:cNvSpPr txBox="1"/>
          <p:nvPr/>
        </p:nvSpPr>
        <p:spPr>
          <a:xfrm>
            <a:off x="962025" y="571500"/>
            <a:ext cx="9715500" cy="7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9100" rIns="0" bIns="0" anchor="t" anchorCtr="0">
            <a:noAutofit/>
          </a:bodyPr>
          <a:lstStyle/>
          <a:p>
            <a:pPr>
              <a:lnSpc>
                <a:spcPct val="97940"/>
              </a:lnSpc>
            </a:pPr>
            <a:r>
              <a:rPr lang="en-US" altLang="ko-KR" sz="4200" b="1">
                <a:solidFill>
                  <a:srgbClr val="567C75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05  </a:t>
            </a:r>
            <a:r>
              <a:rPr lang="ko-KR" altLang="en-US" sz="4200" b="1">
                <a:solidFill>
                  <a:srgbClr val="567C75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최종 결과 및 결론 </a:t>
            </a:r>
            <a:r>
              <a:rPr lang="en-US" altLang="ko-KR" sz="2400" b="1">
                <a:solidFill>
                  <a:srgbClr val="567C75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– </a:t>
            </a:r>
            <a:r>
              <a:rPr lang="ko-KR" altLang="en-US" sz="2400" b="1">
                <a:solidFill>
                  <a:srgbClr val="567C75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최종 </a:t>
            </a:r>
            <a:r>
              <a:rPr lang="en-US" altLang="ko-KR" sz="2400" b="1">
                <a:solidFill>
                  <a:srgbClr val="567C75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Public MAE</a:t>
            </a:r>
            <a:endParaRPr lang="en-US" altLang="ko-KR" sz="2400" b="1" err="1">
              <a:solidFill>
                <a:srgbClr val="567C75"/>
              </a:solidFill>
              <a:latin typeface="IBM Plex Sans KR" panose="020B0503050203000203" pitchFamily="34" charset="-127"/>
              <a:ea typeface="IBM Plex Sans KR" panose="020B0503050203000203" pitchFamily="34" charset="-127"/>
            </a:endParaRPr>
          </a:p>
        </p:txBody>
      </p:sp>
      <p:sp>
        <p:nvSpPr>
          <p:cNvPr id="6" name="사각형: 둥근 모서리 21">
            <a:extLst>
              <a:ext uri="{FF2B5EF4-FFF2-40B4-BE49-F238E27FC236}">
                <a16:creationId xmlns:a16="http://schemas.microsoft.com/office/drawing/2014/main" id="{261882E3-2995-9DBF-14CC-D20C12EAD8D7}"/>
              </a:ext>
            </a:extLst>
          </p:cNvPr>
          <p:cNvSpPr/>
          <p:nvPr/>
        </p:nvSpPr>
        <p:spPr>
          <a:xfrm>
            <a:off x="962025" y="2436356"/>
            <a:ext cx="5010303" cy="6497333"/>
          </a:xfrm>
          <a:prstGeom prst="roundRect">
            <a:avLst/>
          </a:prstGeom>
          <a:solidFill>
            <a:srgbClr val="FDF9F3"/>
          </a:solidFill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5382CF2-0226-3699-94AA-0F2216DD0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0688" y="2699306"/>
            <a:ext cx="1824217" cy="1825936"/>
          </a:xfrm>
          <a:prstGeom prst="rect">
            <a:avLst/>
          </a:prstGeom>
        </p:spPr>
      </p:pic>
      <p:sp>
        <p:nvSpPr>
          <p:cNvPr id="15" name="타원 14">
            <a:extLst>
              <a:ext uri="{FF2B5EF4-FFF2-40B4-BE49-F238E27FC236}">
                <a16:creationId xmlns:a16="http://schemas.microsoft.com/office/drawing/2014/main" id="{4A81FA7A-4C9A-4807-943C-E03F7DFF4796}"/>
              </a:ext>
            </a:extLst>
          </p:cNvPr>
          <p:cNvSpPr/>
          <p:nvPr/>
        </p:nvSpPr>
        <p:spPr>
          <a:xfrm>
            <a:off x="2576470" y="2750870"/>
            <a:ext cx="1777079" cy="1751807"/>
          </a:xfrm>
          <a:prstGeom prst="ellipse">
            <a:avLst/>
          </a:prstGeom>
          <a:noFill/>
          <a:ln w="5715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Google Shape;133;p15">
            <a:extLst>
              <a:ext uri="{FF2B5EF4-FFF2-40B4-BE49-F238E27FC236}">
                <a16:creationId xmlns:a16="http://schemas.microsoft.com/office/drawing/2014/main" id="{E9BF8819-3FF5-781C-B963-35BC6153C75E}"/>
              </a:ext>
            </a:extLst>
          </p:cNvPr>
          <p:cNvSpPr txBox="1"/>
          <p:nvPr/>
        </p:nvSpPr>
        <p:spPr>
          <a:xfrm>
            <a:off x="2507458" y="4600384"/>
            <a:ext cx="1886234" cy="901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4450" rIns="0" bIns="0" anchor="ctr" anchorCtr="0">
            <a:noAutofit/>
          </a:bodyPr>
          <a:lstStyle/>
          <a:p>
            <a:pPr algn="ctr">
              <a:lnSpc>
                <a:spcPct val="97940"/>
              </a:lnSpc>
            </a:pPr>
            <a:r>
              <a:rPr lang="en-US" altLang="ko-KR" sz="3200" b="1" err="1">
                <a:latin typeface="Hanken Grotesk SemiBold"/>
                <a:ea typeface="IBM Plex Sans KR"/>
              </a:rPr>
              <a:t>최종</a:t>
            </a:r>
            <a:r>
              <a:rPr lang="en-US" altLang="ko-KR" sz="3200" b="1">
                <a:latin typeface="Hanken Grotesk SemiBold"/>
                <a:ea typeface="IBM Plex Sans KR"/>
              </a:rPr>
              <a:t> </a:t>
            </a:r>
            <a:r>
              <a:rPr lang="en-US" altLang="ko-KR" sz="3200" b="1" err="1">
                <a:latin typeface="Hanken Grotesk SemiBold"/>
                <a:ea typeface="IBM Plex Sans KR"/>
              </a:rPr>
              <a:t>모델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1980632E-E935-1586-0B87-2ECBF07B8DE4}"/>
              </a:ext>
            </a:extLst>
          </p:cNvPr>
          <p:cNvCxnSpPr/>
          <p:nvPr/>
        </p:nvCxnSpPr>
        <p:spPr>
          <a:xfrm>
            <a:off x="1315436" y="5512005"/>
            <a:ext cx="4292793" cy="5471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7D6B72A4-8A81-7A7F-3DB8-764868F9FE65}"/>
              </a:ext>
            </a:extLst>
          </p:cNvPr>
          <p:cNvCxnSpPr>
            <a:cxnSpLocks/>
          </p:cNvCxnSpPr>
          <p:nvPr/>
        </p:nvCxnSpPr>
        <p:spPr>
          <a:xfrm>
            <a:off x="1315436" y="6309948"/>
            <a:ext cx="4292793" cy="5471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oogle Shape;133;p15">
            <a:extLst>
              <a:ext uri="{FF2B5EF4-FFF2-40B4-BE49-F238E27FC236}">
                <a16:creationId xmlns:a16="http://schemas.microsoft.com/office/drawing/2014/main" id="{F1BC3B3D-F970-56F1-DE25-A3C173786998}"/>
              </a:ext>
            </a:extLst>
          </p:cNvPr>
          <p:cNvSpPr txBox="1"/>
          <p:nvPr/>
        </p:nvSpPr>
        <p:spPr>
          <a:xfrm>
            <a:off x="1321326" y="5484591"/>
            <a:ext cx="4323196" cy="880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4450" rIns="0" bIns="0" anchor="ctr" anchorCtr="0">
            <a:noAutofit/>
          </a:bodyPr>
          <a:lstStyle/>
          <a:p>
            <a:pPr algn="ctr">
              <a:lnSpc>
                <a:spcPct val="97940"/>
              </a:lnSpc>
            </a:pPr>
            <a:r>
              <a:rPr lang="en-US" altLang="ko-KR" sz="2400" b="1">
                <a:solidFill>
                  <a:srgbClr val="567C75"/>
                </a:solidFill>
                <a:latin typeface="Hanken Grotesk ExtraBold"/>
                <a:ea typeface="IBM Plex Sans KR"/>
              </a:rPr>
              <a:t>ExtraTrees + Pair-Neighbor</a:t>
            </a:r>
            <a:endParaRPr lang="ko-KR" altLang="en-US" sz="1100">
              <a:solidFill>
                <a:srgbClr val="567C75"/>
              </a:solidFill>
              <a:latin typeface="Hanken Grotesk ExtraBold"/>
            </a:endParaRPr>
          </a:p>
        </p:txBody>
      </p:sp>
      <p:sp>
        <p:nvSpPr>
          <p:cNvPr id="21" name="Google Shape;133;p15">
            <a:extLst>
              <a:ext uri="{FF2B5EF4-FFF2-40B4-BE49-F238E27FC236}">
                <a16:creationId xmlns:a16="http://schemas.microsoft.com/office/drawing/2014/main" id="{23C5DA5E-176B-7992-D52D-C2EE01E765A0}"/>
              </a:ext>
            </a:extLst>
          </p:cNvPr>
          <p:cNvSpPr txBox="1"/>
          <p:nvPr/>
        </p:nvSpPr>
        <p:spPr>
          <a:xfrm>
            <a:off x="2593722" y="6541326"/>
            <a:ext cx="1735272" cy="341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4450" rIns="0" bIns="0" anchor="ctr" anchorCtr="0">
            <a:noAutofit/>
          </a:bodyPr>
          <a:lstStyle/>
          <a:p>
            <a:pPr algn="ctr">
              <a:lnSpc>
                <a:spcPct val="97940"/>
              </a:lnSpc>
            </a:pPr>
            <a:r>
              <a:rPr lang="en-US" altLang="ko-KR" sz="2400" b="1">
                <a:solidFill>
                  <a:srgbClr val="567C75"/>
                </a:solidFill>
                <a:latin typeface="Hanken Grotesk ExtraBold"/>
                <a:ea typeface="IBM Plex Sans KR"/>
              </a:rPr>
              <a:t>Public MAE</a:t>
            </a:r>
          </a:p>
        </p:txBody>
      </p:sp>
      <p:sp>
        <p:nvSpPr>
          <p:cNvPr id="22" name="Google Shape;133;p15">
            <a:extLst>
              <a:ext uri="{FF2B5EF4-FFF2-40B4-BE49-F238E27FC236}">
                <a16:creationId xmlns:a16="http://schemas.microsoft.com/office/drawing/2014/main" id="{AC834E54-6018-1A45-6E9B-259752F884F4}"/>
              </a:ext>
            </a:extLst>
          </p:cNvPr>
          <p:cNvSpPr txBox="1"/>
          <p:nvPr/>
        </p:nvSpPr>
        <p:spPr>
          <a:xfrm>
            <a:off x="2033004" y="7080477"/>
            <a:ext cx="2856706" cy="1009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4450" rIns="0" bIns="0" anchor="ctr" anchorCtr="0">
            <a:noAutofit/>
          </a:bodyPr>
          <a:lstStyle/>
          <a:p>
            <a:pPr algn="ctr">
              <a:lnSpc>
                <a:spcPct val="97940"/>
              </a:lnSpc>
            </a:pPr>
            <a:r>
              <a:rPr lang="en-US" altLang="ko-KR" sz="6000">
                <a:solidFill>
                  <a:srgbClr val="567C75"/>
                </a:solidFill>
                <a:latin typeface="Hanken Grotesk ExtraBold"/>
                <a:ea typeface="IBM Plex Sans KR"/>
              </a:rPr>
              <a:t>0.1267</a:t>
            </a:r>
            <a:endParaRPr lang="ko-KR" sz="6000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16BDA62C-3C7C-CE0C-A282-639C1C0AF3A4}"/>
              </a:ext>
            </a:extLst>
          </p:cNvPr>
          <p:cNvCxnSpPr>
            <a:cxnSpLocks/>
          </p:cNvCxnSpPr>
          <p:nvPr/>
        </p:nvCxnSpPr>
        <p:spPr>
          <a:xfrm flipV="1">
            <a:off x="2048681" y="8105400"/>
            <a:ext cx="2869435" cy="16095"/>
          </a:xfrm>
          <a:prstGeom prst="straightConnector1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Google Shape;133;p15">
            <a:extLst>
              <a:ext uri="{FF2B5EF4-FFF2-40B4-BE49-F238E27FC236}">
                <a16:creationId xmlns:a16="http://schemas.microsoft.com/office/drawing/2014/main" id="{45E73A3E-3078-F186-A9D2-E2BE49884B96}"/>
              </a:ext>
            </a:extLst>
          </p:cNvPr>
          <p:cNvSpPr txBox="1"/>
          <p:nvPr/>
        </p:nvSpPr>
        <p:spPr>
          <a:xfrm>
            <a:off x="2313364" y="8288176"/>
            <a:ext cx="2317555" cy="405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4450" rIns="0" bIns="0" anchor="ctr" anchorCtr="0">
            <a:noAutofit/>
          </a:bodyPr>
          <a:lstStyle/>
          <a:p>
            <a:pPr algn="ctr">
              <a:lnSpc>
                <a:spcPct val="97940"/>
              </a:lnSpc>
            </a:pPr>
            <a:r>
              <a:rPr lang="en-US" altLang="ko-KR" b="1">
                <a:solidFill>
                  <a:srgbClr val="A5A5A5"/>
                </a:solidFill>
                <a:latin typeface="Hanken Grotesk ExtraBold"/>
                <a:ea typeface="IBM Plex Sans KR"/>
              </a:rPr>
              <a:t>❖ </a:t>
            </a:r>
            <a:r>
              <a:rPr lang="en-US" altLang="ko-KR" b="1" err="1">
                <a:solidFill>
                  <a:srgbClr val="A5A5A5"/>
                </a:solidFill>
                <a:latin typeface="Hanken Grotesk ExtraBold"/>
                <a:ea typeface="IBM Plex Sans KR"/>
              </a:rPr>
              <a:t>점수가</a:t>
            </a:r>
            <a:r>
              <a:rPr lang="en-US" altLang="ko-KR" b="1">
                <a:solidFill>
                  <a:srgbClr val="A5A5A5"/>
                </a:solidFill>
                <a:latin typeface="Hanken Grotesk ExtraBold"/>
                <a:ea typeface="IBM Plex Sans KR"/>
              </a:rPr>
              <a:t> </a:t>
            </a:r>
            <a:r>
              <a:rPr lang="en-US" altLang="ko-KR" b="1" err="1">
                <a:solidFill>
                  <a:srgbClr val="A5A5A5"/>
                </a:solidFill>
                <a:latin typeface="Hanken Grotesk ExtraBold"/>
                <a:ea typeface="IBM Plex Sans KR"/>
              </a:rPr>
              <a:t>낮을수록</a:t>
            </a:r>
            <a:r>
              <a:rPr lang="en-US" altLang="ko-KR" b="1">
                <a:solidFill>
                  <a:srgbClr val="A5A5A5"/>
                </a:solidFill>
                <a:latin typeface="Hanken Grotesk ExtraBold"/>
                <a:ea typeface="IBM Plex Sans KR"/>
              </a:rPr>
              <a:t> </a:t>
            </a:r>
            <a:r>
              <a:rPr lang="en-US" altLang="ko-KR" b="1" err="1">
                <a:solidFill>
                  <a:srgbClr val="A5A5A5"/>
                </a:solidFill>
                <a:latin typeface="Hanken Grotesk ExtraBold"/>
                <a:ea typeface="IBM Plex Sans KR"/>
              </a:rPr>
              <a:t>우수함</a:t>
            </a:r>
            <a:endParaRPr lang="en-US" altLang="ko-KR" b="1">
              <a:solidFill>
                <a:srgbClr val="A5A5A5"/>
              </a:solidFill>
              <a:latin typeface="Hanken Grotesk ExtraBold"/>
              <a:ea typeface="IBM Plex Sans KR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715278" y="2436356"/>
            <a:ext cx="3415376" cy="2238677"/>
          </a:xfrm>
          <a:prstGeom prst="roundRect">
            <a:avLst/>
          </a:prstGeom>
          <a:solidFill>
            <a:srgbClr val="FDF9F3"/>
          </a:solidFill>
          <a:ln w="15875">
            <a:solidFill>
              <a:srgbClr val="567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37160" bIns="137160" rtlCol="0" anchor="ctr"/>
          <a:lstStyle/>
          <a:p>
            <a:pPr algn="ctr"/>
            <a:r>
              <a:rPr sz="2000" b="1">
                <a:solidFill>
                  <a:srgbClr val="404040"/>
                </a:solidFill>
                <a:latin typeface="IBM Plex Sans KR"/>
              </a:rPr>
              <a:t>내부 검증 (CV)</a:t>
            </a:r>
          </a:p>
          <a:p>
            <a:pPr algn="ctr"/>
            <a:r>
              <a:rPr sz="4000" b="1">
                <a:solidFill>
                  <a:srgbClr val="567C75"/>
                </a:solidFill>
                <a:latin typeface="Hanken Grotesk ExtraBold"/>
              </a:rPr>
              <a:t>0.147300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315278" y="2436356"/>
            <a:ext cx="3415376" cy="2238677"/>
          </a:xfrm>
          <a:prstGeom prst="roundRect">
            <a:avLst/>
          </a:prstGeom>
          <a:solidFill>
            <a:srgbClr val="EBF1F1"/>
          </a:solidFill>
          <a:ln w="15875">
            <a:solidFill>
              <a:srgbClr val="567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37160" bIns="137160" rtlCol="0" anchor="ctr"/>
          <a:lstStyle/>
          <a:p>
            <a:pPr algn="ctr"/>
            <a:r>
              <a:rPr sz="2000" b="1">
                <a:solidFill>
                  <a:srgbClr val="404040"/>
                </a:solidFill>
                <a:latin typeface="IBM Plex Sans KR"/>
              </a:rPr>
              <a:t>Public</a:t>
            </a:r>
          </a:p>
          <a:p>
            <a:pPr algn="ctr"/>
            <a:r>
              <a:rPr sz="4000" b="1">
                <a:solidFill>
                  <a:srgbClr val="567C75"/>
                </a:solidFill>
                <a:latin typeface="Hanken Grotesk ExtraBold"/>
              </a:rPr>
              <a:t>0.126687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915278" y="2436356"/>
            <a:ext cx="3415376" cy="2238677"/>
          </a:xfrm>
          <a:prstGeom prst="roundRect">
            <a:avLst/>
          </a:prstGeom>
          <a:solidFill>
            <a:srgbClr val="F1F4ED"/>
          </a:solidFill>
          <a:ln w="15875">
            <a:solidFill>
              <a:srgbClr val="567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37160" bIns="137160" rtlCol="0" anchor="ctr"/>
          <a:lstStyle/>
          <a:p>
            <a:pPr algn="ctr"/>
            <a:r>
              <a:rPr sz="2000" b="1">
                <a:solidFill>
                  <a:srgbClr val="404040"/>
                </a:solidFill>
                <a:latin typeface="IBM Plex Sans KR"/>
              </a:rPr>
              <a:t>Private</a:t>
            </a:r>
          </a:p>
          <a:p>
            <a:pPr algn="ctr"/>
            <a:r>
              <a:rPr sz="4000" b="1">
                <a:solidFill>
                  <a:srgbClr val="567C75"/>
                </a:solidFill>
                <a:latin typeface="Hanken Grotesk ExtraBold"/>
              </a:rPr>
              <a:t>0.1473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15278" y="5127938"/>
            <a:ext cx="10651446" cy="380575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228600" rtlCol="0" anchor="ctr"/>
          <a:lstStyle/>
          <a:p>
            <a:pPr algn="ctr">
              <a:lnSpc>
                <a:spcPct val="200000"/>
              </a:lnSpc>
            </a:pPr>
            <a:r>
              <a:rPr sz="2800" b="1">
                <a:solidFill>
                  <a:srgbClr val="567C75"/>
                </a:solidFill>
                <a:latin typeface="IBM Plex Sans KR"/>
              </a:rPr>
              <a:t>이 결과를 만든 3가지</a:t>
            </a:r>
          </a:p>
          <a:p>
            <a:pPr>
              <a:lnSpc>
                <a:spcPct val="200000"/>
              </a:lnSpc>
              <a:spcBef>
                <a:spcPts val="1400"/>
              </a:spcBef>
            </a:pPr>
            <a:r>
              <a:rPr sz="1700">
                <a:solidFill>
                  <a:srgbClr val="404040"/>
                </a:solidFill>
                <a:latin typeface="IBM Plex Sans KR"/>
              </a:rPr>
              <a:t>•  </a:t>
            </a:r>
            <a:r>
              <a:rPr sz="2000">
                <a:solidFill>
                  <a:srgbClr val="404040"/>
                </a:solidFill>
                <a:latin typeface="IBM Plex Sans KR"/>
              </a:rPr>
              <a:t>gender 제거로 불안정한 신호 감소</a:t>
            </a:r>
          </a:p>
          <a:p>
            <a:pPr>
              <a:lnSpc>
                <a:spcPct val="200000"/>
              </a:lnSpc>
              <a:spcBef>
                <a:spcPts val="1400"/>
              </a:spcBef>
            </a:pPr>
            <a:r>
              <a:rPr sz="2000">
                <a:solidFill>
                  <a:srgbClr val="404040"/>
                </a:solidFill>
                <a:latin typeface="IBM Plex Sans KR"/>
              </a:rPr>
              <a:t>•  4개 변수 이상치 Winsorize로 완화</a:t>
            </a:r>
          </a:p>
          <a:p>
            <a:pPr>
              <a:lnSpc>
                <a:spcPct val="200000"/>
              </a:lnSpc>
              <a:spcBef>
                <a:spcPts val="1400"/>
              </a:spcBef>
            </a:pPr>
            <a:r>
              <a:rPr sz="2000">
                <a:solidFill>
                  <a:srgbClr val="404040"/>
                </a:solidFill>
                <a:latin typeface="IBM Plex Sans KR"/>
              </a:rPr>
              <a:t>•  Pair-Neighbor·근접중복 Override로 국소 구조 보완</a:t>
            </a:r>
          </a:p>
        </p:txBody>
      </p:sp>
    </p:spTree>
    <p:extLst>
      <p:ext uri="{BB962C8B-B14F-4D97-AF65-F5344CB8AC3E}">
        <p14:creationId xmlns:p14="http://schemas.microsoft.com/office/powerpoint/2010/main" val="35979644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62025" y="1509948"/>
            <a:ext cx="9715499" cy="383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162A27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좋은 점수는 하나의 모델보다, 데이터 표현과 검증 기준을 함께 잡은 결과였습니다.</a:t>
            </a:r>
          </a:p>
        </p:txBody>
      </p:sp>
      <p:sp>
        <p:nvSpPr>
          <p:cNvPr id="19" name="Google Shape;146;p16">
            <a:extLst>
              <a:ext uri="{FF2B5EF4-FFF2-40B4-BE49-F238E27FC236}">
                <a16:creationId xmlns:a16="http://schemas.microsoft.com/office/drawing/2014/main" id="{4E06636C-6891-055D-7752-BCA2F29B316A}"/>
              </a:ext>
            </a:extLst>
          </p:cNvPr>
          <p:cNvSpPr txBox="1"/>
          <p:nvPr/>
        </p:nvSpPr>
        <p:spPr>
          <a:xfrm>
            <a:off x="962025" y="571500"/>
            <a:ext cx="9715500" cy="7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9100" rIns="0" bIns="0" anchor="t" anchorCtr="0">
            <a:noAutofit/>
          </a:bodyPr>
          <a:lstStyle/>
          <a:p>
            <a:pPr>
              <a:lnSpc>
                <a:spcPct val="97940"/>
              </a:lnSpc>
            </a:pPr>
            <a:r>
              <a:rPr lang="en-US" altLang="ko-KR" sz="4200" b="1">
                <a:solidFill>
                  <a:srgbClr val="567C75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05  </a:t>
            </a:r>
            <a:r>
              <a:rPr lang="ko-KR" altLang="en-US" sz="4200" b="1">
                <a:solidFill>
                  <a:srgbClr val="567C75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최종 결과 및 결론 </a:t>
            </a:r>
            <a:r>
              <a:rPr lang="en-US" altLang="ko-KR" sz="2400" b="1">
                <a:solidFill>
                  <a:srgbClr val="567C75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– </a:t>
            </a:r>
            <a:r>
              <a:rPr lang="ko-KR" altLang="en-US" sz="2400" b="1">
                <a:solidFill>
                  <a:srgbClr val="567C75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성능을 만든 </a:t>
            </a:r>
            <a:r>
              <a:rPr lang="en-US" altLang="ko-KR" sz="2400" b="1">
                <a:solidFill>
                  <a:srgbClr val="567C75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4</a:t>
            </a:r>
            <a:r>
              <a:rPr lang="ko-KR" altLang="en-US" sz="2400" b="1">
                <a:solidFill>
                  <a:srgbClr val="567C75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가지 선택</a:t>
            </a:r>
            <a:endParaRPr lang="en-US" altLang="ko-KR" sz="2400" b="1" err="1">
              <a:solidFill>
                <a:srgbClr val="567C75"/>
              </a:solidFill>
              <a:latin typeface="IBM Plex Sans KR" panose="020B0503050203000203" pitchFamily="34" charset="-127"/>
              <a:ea typeface="IBM Plex Sans KR" panose="020B0503050203000203" pitchFamily="34" charset="-127"/>
            </a:endParaRPr>
          </a:p>
        </p:txBody>
      </p:sp>
      <p:sp>
        <p:nvSpPr>
          <p:cNvPr id="20" name="Rounded Rectangle 24">
            <a:extLst>
              <a:ext uri="{FF2B5EF4-FFF2-40B4-BE49-F238E27FC236}">
                <a16:creationId xmlns:a16="http://schemas.microsoft.com/office/drawing/2014/main" id="{5956DD0C-1FFD-BB31-4633-4747183C0377}"/>
              </a:ext>
            </a:extLst>
          </p:cNvPr>
          <p:cNvSpPr/>
          <p:nvPr/>
        </p:nvSpPr>
        <p:spPr>
          <a:xfrm>
            <a:off x="822960" y="2909705"/>
            <a:ext cx="7692200" cy="3091899"/>
          </a:xfrm>
          <a:prstGeom prst="roundRect">
            <a:avLst/>
          </a:prstGeom>
          <a:solidFill>
            <a:srgbClr val="FDF9F3"/>
          </a:solidFill>
          <a:ln w="15875">
            <a:solidFill>
              <a:srgbClr val="567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37160" bIns="13716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3600" b="1">
                <a:solidFill>
                  <a:srgbClr val="567C75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🩺 건강 데이터 표현</a:t>
            </a:r>
            <a:endParaRPr lang="en-US" altLang="ko-KR" sz="3600" b="1">
              <a:solidFill>
                <a:srgbClr val="567C75"/>
              </a:solidFill>
              <a:latin typeface="IBM Plex Sans KR" panose="020B0503050203000203" pitchFamily="34" charset="-127"/>
              <a:ea typeface="IBM Plex Sans KR" panose="020B0503050203000203" pitchFamily="34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800">
                <a:solidFill>
                  <a:schemeClr val="tx1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BMI</a:t>
            </a:r>
          </a:p>
          <a:p>
            <a:pPr algn="ctr">
              <a:lnSpc>
                <a:spcPct val="150000"/>
              </a:lnSpc>
            </a:pPr>
            <a:r>
              <a:rPr lang="ko-KR" altLang="en-US" sz="2800">
                <a:solidFill>
                  <a:schemeClr val="tx1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혈압관계</a:t>
            </a:r>
            <a:endParaRPr lang="en-US" altLang="ko-KR" sz="2800">
              <a:solidFill>
                <a:schemeClr val="tx1"/>
              </a:solidFill>
              <a:latin typeface="IBM Plex Sans KR" panose="020B0503050203000203" pitchFamily="34" charset="-127"/>
              <a:ea typeface="IBM Plex Sans KR" panose="020B0503050203000203" pitchFamily="34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800">
                <a:solidFill>
                  <a:schemeClr val="tx1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대사비율</a:t>
            </a:r>
            <a:r>
              <a:rPr lang="ko-KR" altLang="en-US" sz="3000">
                <a:solidFill>
                  <a:srgbClr val="567C75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 </a:t>
            </a:r>
            <a:endParaRPr sz="3000">
              <a:solidFill>
                <a:srgbClr val="567C75"/>
              </a:solidFill>
              <a:latin typeface="IBM Plex Sans KR" panose="020B0503050203000203" pitchFamily="34" charset="-127"/>
              <a:ea typeface="IBM Plex Sans KR" panose="020B0503050203000203" pitchFamily="34" charset="-127"/>
            </a:endParaRPr>
          </a:p>
        </p:txBody>
      </p:sp>
      <p:sp>
        <p:nvSpPr>
          <p:cNvPr id="21" name="Rounded Rectangle 25">
            <a:extLst>
              <a:ext uri="{FF2B5EF4-FFF2-40B4-BE49-F238E27FC236}">
                <a16:creationId xmlns:a16="http://schemas.microsoft.com/office/drawing/2014/main" id="{A59AA470-CF14-D075-3D18-C92BDC45DE7C}"/>
              </a:ext>
            </a:extLst>
          </p:cNvPr>
          <p:cNvSpPr/>
          <p:nvPr/>
        </p:nvSpPr>
        <p:spPr>
          <a:xfrm>
            <a:off x="9772840" y="2909705"/>
            <a:ext cx="7692200" cy="3091899"/>
          </a:xfrm>
          <a:prstGeom prst="roundRect">
            <a:avLst/>
          </a:prstGeom>
          <a:solidFill>
            <a:srgbClr val="EBF1F1"/>
          </a:solidFill>
          <a:ln w="15875">
            <a:solidFill>
              <a:srgbClr val="567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37160" bIns="13716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3600" b="1">
                <a:solidFill>
                  <a:srgbClr val="567C75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🌳 </a:t>
            </a:r>
            <a:r>
              <a:rPr lang="en-US" sz="3600" b="1">
                <a:solidFill>
                  <a:srgbClr val="567C75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Feature Weight</a:t>
            </a:r>
          </a:p>
          <a:p>
            <a:pPr algn="ctr">
              <a:lnSpc>
                <a:spcPct val="150000"/>
              </a:lnSpc>
            </a:pPr>
            <a:r>
              <a:rPr lang="ko-KR" altLang="en-US" sz="2800">
                <a:solidFill>
                  <a:schemeClr val="tx1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중요 피처</a:t>
            </a:r>
            <a:endParaRPr lang="en-US" altLang="ko-KR" sz="2800">
              <a:solidFill>
                <a:schemeClr val="tx1"/>
              </a:solidFill>
              <a:latin typeface="IBM Plex Sans KR" panose="020B0503050203000203" pitchFamily="34" charset="-127"/>
              <a:ea typeface="IBM Plex Sans KR" panose="020B0503050203000203" pitchFamily="34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800">
                <a:solidFill>
                  <a:schemeClr val="tx1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선택 확률 증가</a:t>
            </a:r>
            <a:endParaRPr sz="2800">
              <a:solidFill>
                <a:srgbClr val="567C75"/>
              </a:solidFill>
              <a:latin typeface="IBM Plex Sans KR" panose="020B0503050203000203" pitchFamily="34" charset="-127"/>
              <a:ea typeface="IBM Plex Sans KR" panose="020B0503050203000203" pitchFamily="34" charset="-127"/>
            </a:endParaRPr>
          </a:p>
        </p:txBody>
      </p:sp>
      <p:sp>
        <p:nvSpPr>
          <p:cNvPr id="22" name="Rounded Rectangle 26">
            <a:extLst>
              <a:ext uri="{FF2B5EF4-FFF2-40B4-BE49-F238E27FC236}">
                <a16:creationId xmlns:a16="http://schemas.microsoft.com/office/drawing/2014/main" id="{6F370846-A57A-C3ED-C485-C62192E0E088}"/>
              </a:ext>
            </a:extLst>
          </p:cNvPr>
          <p:cNvSpPr/>
          <p:nvPr/>
        </p:nvSpPr>
        <p:spPr>
          <a:xfrm>
            <a:off x="822960" y="6623603"/>
            <a:ext cx="7692200" cy="3091897"/>
          </a:xfrm>
          <a:prstGeom prst="roundRect">
            <a:avLst/>
          </a:prstGeom>
          <a:solidFill>
            <a:srgbClr val="F1F4ED"/>
          </a:solidFill>
          <a:ln w="15875">
            <a:solidFill>
              <a:srgbClr val="567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37160" bIns="13716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3600" b="1">
                <a:solidFill>
                  <a:srgbClr val="567C75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📊 </a:t>
            </a:r>
            <a:r>
              <a:rPr lang="en-US" sz="3600" b="1">
                <a:solidFill>
                  <a:srgbClr val="567C75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Quantile Aggregation</a:t>
            </a:r>
          </a:p>
          <a:p>
            <a:pPr algn="ctr">
              <a:lnSpc>
                <a:spcPct val="150000"/>
              </a:lnSpc>
            </a:pPr>
            <a:r>
              <a:rPr lang="en-US" altLang="ko-KR" sz="2800">
                <a:solidFill>
                  <a:schemeClr val="tx1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54%</a:t>
            </a:r>
          </a:p>
          <a:p>
            <a:pPr algn="ctr">
              <a:lnSpc>
                <a:spcPct val="150000"/>
              </a:lnSpc>
            </a:pPr>
            <a:r>
              <a:rPr lang="en-US" altLang="ko-KR" sz="2800">
                <a:solidFill>
                  <a:schemeClr val="tx1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48%</a:t>
            </a:r>
            <a:endParaRPr sz="2800" b="1">
              <a:solidFill>
                <a:srgbClr val="567C75"/>
              </a:solidFill>
              <a:latin typeface="IBM Plex Sans KR" panose="020B0503050203000203" pitchFamily="34" charset="-127"/>
              <a:ea typeface="IBM Plex Sans KR" panose="020B0503050203000203" pitchFamily="34" charset="-127"/>
            </a:endParaRPr>
          </a:p>
        </p:txBody>
      </p:sp>
      <p:sp>
        <p:nvSpPr>
          <p:cNvPr id="23" name="Rounded Rectangle 26">
            <a:extLst>
              <a:ext uri="{FF2B5EF4-FFF2-40B4-BE49-F238E27FC236}">
                <a16:creationId xmlns:a16="http://schemas.microsoft.com/office/drawing/2014/main" id="{27E26BEC-39D1-3AFF-C0E2-AED0562CEDCC}"/>
              </a:ext>
            </a:extLst>
          </p:cNvPr>
          <p:cNvSpPr/>
          <p:nvPr/>
        </p:nvSpPr>
        <p:spPr>
          <a:xfrm>
            <a:off x="9772840" y="6623604"/>
            <a:ext cx="7692200" cy="309189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5875">
            <a:solidFill>
              <a:srgbClr val="567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37160" bIns="13716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3600" b="1">
                <a:solidFill>
                  <a:srgbClr val="567C75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🤝 </a:t>
            </a:r>
            <a:r>
              <a:rPr lang="en-US" sz="3600" b="1">
                <a:solidFill>
                  <a:srgbClr val="567C75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Pair Neighbor</a:t>
            </a:r>
          </a:p>
          <a:p>
            <a:pPr algn="ctr">
              <a:lnSpc>
                <a:spcPct val="150000"/>
              </a:lnSpc>
            </a:pPr>
            <a:r>
              <a:rPr lang="ko-KR" altLang="en-US" sz="2800">
                <a:solidFill>
                  <a:schemeClr val="tx1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유사패턴</a:t>
            </a:r>
            <a:endParaRPr lang="en-US" altLang="ko-KR" sz="2800">
              <a:solidFill>
                <a:schemeClr val="tx1"/>
              </a:solidFill>
              <a:latin typeface="IBM Plex Sans KR" panose="020B0503050203000203" pitchFamily="34" charset="-127"/>
              <a:ea typeface="IBM Plex Sans KR" panose="020B0503050203000203" pitchFamily="34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800">
                <a:solidFill>
                  <a:schemeClr val="tx1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보완</a:t>
            </a:r>
            <a:endParaRPr sz="2800">
              <a:solidFill>
                <a:srgbClr val="567C75"/>
              </a:solidFill>
              <a:latin typeface="IBM Plex Sans KR" panose="020B0503050203000203" pitchFamily="34" charset="-127"/>
              <a:ea typeface="IBM Plex Sans KR" panose="020B0503050203000203" pitchFamily="34" charset="-127"/>
            </a:endParaRPr>
          </a:p>
        </p:txBody>
      </p:sp>
      <p:sp>
        <p:nvSpPr>
          <p:cNvPr id="24" name="Rounded Rectangle 3">
            <a:extLst>
              <a:ext uri="{FF2B5EF4-FFF2-40B4-BE49-F238E27FC236}">
                <a16:creationId xmlns:a16="http://schemas.microsoft.com/office/drawing/2014/main" id="{C14A83AD-7556-F7B8-038E-C7AAACBA0970}"/>
              </a:ext>
            </a:extLst>
          </p:cNvPr>
          <p:cNvSpPr/>
          <p:nvPr/>
        </p:nvSpPr>
        <p:spPr>
          <a:xfrm>
            <a:off x="594360" y="1353311"/>
            <a:ext cx="13323498" cy="73152"/>
          </a:xfrm>
          <a:prstGeom prst="roundRect">
            <a:avLst/>
          </a:prstGeom>
          <a:solidFill>
            <a:srgbClr val="E8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IBM Plex Sans KR" panose="020B0503050203000203" pitchFamily="34" charset="-127"/>
              <a:ea typeface="IBM Plex Sans KR" panose="020B0503050203000203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450188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07226" y="683766"/>
            <a:ext cx="3302186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4200" b="1">
                <a:solidFill>
                  <a:srgbClr val="567C75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Q &amp; A</a:t>
            </a:r>
            <a:endParaRPr sz="4200" b="1">
              <a:solidFill>
                <a:srgbClr val="567C75"/>
              </a:solidFill>
              <a:latin typeface="IBM Plex Sans KR" panose="020B0503050203000203" pitchFamily="34" charset="-127"/>
              <a:ea typeface="IBM Plex Sans KR" panose="020B0503050203000203" pitchFamily="34" charset="-127"/>
            </a:endParaRPr>
          </a:p>
        </p:txBody>
      </p:sp>
      <p:sp>
        <p:nvSpPr>
          <p:cNvPr id="6" name="Rectangle 5"/>
          <p:cNvSpPr/>
          <p:nvPr/>
        </p:nvSpPr>
        <p:spPr>
          <a:xfrm flipV="1">
            <a:off x="707226" y="1419459"/>
            <a:ext cx="3302186" cy="45719"/>
          </a:xfrm>
          <a:prstGeom prst="rect">
            <a:avLst/>
          </a:prstGeom>
          <a:solidFill>
            <a:srgbClr val="D3A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IBM Plex Sans KR" panose="020B0503050203000203" pitchFamily="34" charset="-127"/>
              <a:ea typeface="IBM Plex Sans KR" panose="020B0503050203000203" pitchFamily="34" charset="-127"/>
            </a:endParaRPr>
          </a:p>
        </p:txBody>
      </p:sp>
      <p:sp>
        <p:nvSpPr>
          <p:cNvPr id="7" name="Oval 6"/>
          <p:cNvSpPr/>
          <p:nvPr/>
        </p:nvSpPr>
        <p:spPr>
          <a:xfrm>
            <a:off x="707226" y="2490475"/>
            <a:ext cx="792000" cy="792000"/>
          </a:xfrm>
          <a:prstGeom prst="ellipse">
            <a:avLst/>
          </a:prstGeom>
          <a:solidFill>
            <a:srgbClr val="D3A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200">
              <a:latin typeface="IBM Plex Sans KR" panose="020B0503050203000203" pitchFamily="34" charset="-127"/>
              <a:ea typeface="IBM Plex Sans KR" panose="020B0503050203000203" pitchFamily="34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0692" y="2547921"/>
            <a:ext cx="185068" cy="6771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2506" y="2666147"/>
            <a:ext cx="39767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23E32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Private Score도 1등일까요?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02506" y="2949612"/>
            <a:ext cx="731587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565F5C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확정할 수 없지만, Public 0.126687·Private 0.1473로 격차가 크지 않아 순위 급변 가능성은 낮다고 봅니다.</a:t>
            </a:r>
          </a:p>
        </p:txBody>
      </p:sp>
      <p:sp>
        <p:nvSpPr>
          <p:cNvPr id="11" name="Oval 10"/>
          <p:cNvSpPr/>
          <p:nvPr/>
        </p:nvSpPr>
        <p:spPr>
          <a:xfrm>
            <a:off x="707226" y="3998892"/>
            <a:ext cx="792000" cy="792000"/>
          </a:xfrm>
          <a:prstGeom prst="ellipse">
            <a:avLst/>
          </a:prstGeom>
          <a:solidFill>
            <a:srgbClr val="527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200">
              <a:latin typeface="IBM Plex Sans KR" panose="020B0503050203000203" pitchFamily="34" charset="-127"/>
              <a:ea typeface="IBM Plex Sans KR" panose="020B0503050203000203" pitchFamily="34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10692" y="4056338"/>
            <a:ext cx="185068" cy="6771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02506" y="4117700"/>
            <a:ext cx="3478137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23E32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왜 ExtraTrees를 썼나요?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02507" y="4401165"/>
            <a:ext cx="73944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565F5C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비선형 관계와 변수 상호작용을 강한 무작위성으로 잘 포착했습니다.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707226" y="5420097"/>
            <a:ext cx="792000" cy="792000"/>
          </a:xfrm>
          <a:prstGeom prst="ellipse">
            <a:avLst/>
          </a:prstGeom>
          <a:solidFill>
            <a:srgbClr val="527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200">
              <a:latin typeface="IBM Plex Sans KR" panose="020B0503050203000203" pitchFamily="34" charset="-127"/>
              <a:ea typeface="IBM Plex Sans KR" panose="020B0503050203000203" pitchFamily="34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11426" y="5477543"/>
            <a:ext cx="183600" cy="6771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02507" y="5566979"/>
            <a:ext cx="500114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23E32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왜 단일 모델이 아니라 블렌딩인가요?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02507" y="5850443"/>
            <a:ext cx="868476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565F5C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ExtraTrees는 전역 패턴을, Pair-Neighbor는 국소 유사 프로필을 잘 잡아 76:24로 섞었을 때 가장 낮았습니다.</a:t>
            </a:r>
          </a:p>
        </p:txBody>
      </p:sp>
      <p:sp>
        <p:nvSpPr>
          <p:cNvPr id="19" name="Oval 18"/>
          <p:cNvSpPr/>
          <p:nvPr/>
        </p:nvSpPr>
        <p:spPr>
          <a:xfrm>
            <a:off x="707226" y="6934115"/>
            <a:ext cx="792000" cy="792000"/>
          </a:xfrm>
          <a:prstGeom prst="ellipse">
            <a:avLst/>
          </a:prstGeom>
          <a:solidFill>
            <a:srgbClr val="527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600">
              <a:latin typeface="IBM Plex Sans KR" panose="020B0503050203000203" pitchFamily="34" charset="-127"/>
              <a:ea typeface="IBM Plex Sans KR" panose="020B0503050203000203" pitchFamily="34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10692" y="7022339"/>
            <a:ext cx="185068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02507" y="7010912"/>
            <a:ext cx="420942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23E32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데이터 누수는 어떻게 막았나요?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02508" y="7294377"/>
            <a:ext cx="911990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565F5C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결측치 처리와 인코딩 기준은 Train에서만 학습하고 Test에는 변환만 적용했습니다.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986106" y="2666147"/>
            <a:ext cx="5290468" cy="6662314"/>
          </a:xfrm>
          <a:custGeom>
            <a:avLst/>
            <a:gdLst>
              <a:gd name="csX0" fmla="*/ 0 w 5290468"/>
              <a:gd name="csY0" fmla="*/ 881762 h 6662314"/>
              <a:gd name="csX1" fmla="*/ 881762 w 5290468"/>
              <a:gd name="csY1" fmla="*/ 0 h 6662314"/>
              <a:gd name="csX2" fmla="*/ 1434317 w 5290468"/>
              <a:gd name="csY2" fmla="*/ 0 h 6662314"/>
              <a:gd name="csX3" fmla="*/ 2022141 w 5290468"/>
              <a:gd name="csY3" fmla="*/ 0 h 6662314"/>
              <a:gd name="csX4" fmla="*/ 2645234 w 5290468"/>
              <a:gd name="csY4" fmla="*/ 0 h 6662314"/>
              <a:gd name="csX5" fmla="*/ 3303597 w 5290468"/>
              <a:gd name="csY5" fmla="*/ 0 h 6662314"/>
              <a:gd name="csX6" fmla="*/ 3856151 w 5290468"/>
              <a:gd name="csY6" fmla="*/ 0 h 6662314"/>
              <a:gd name="csX7" fmla="*/ 4408706 w 5290468"/>
              <a:gd name="csY7" fmla="*/ 0 h 6662314"/>
              <a:gd name="csX8" fmla="*/ 5290468 w 5290468"/>
              <a:gd name="csY8" fmla="*/ 881762 h 6662314"/>
              <a:gd name="csX9" fmla="*/ 5290468 w 5290468"/>
              <a:gd name="csY9" fmla="*/ 1434625 h 6662314"/>
              <a:gd name="csX10" fmla="*/ 5290468 w 5290468"/>
              <a:gd name="csY10" fmla="*/ 2183440 h 6662314"/>
              <a:gd name="csX11" fmla="*/ 5290468 w 5290468"/>
              <a:gd name="csY11" fmla="*/ 2981243 h 6662314"/>
              <a:gd name="csX12" fmla="*/ 5290468 w 5290468"/>
              <a:gd name="csY12" fmla="*/ 3583095 h 6662314"/>
              <a:gd name="csX13" fmla="*/ 5290468 w 5290468"/>
              <a:gd name="csY13" fmla="*/ 4233934 h 6662314"/>
              <a:gd name="csX14" fmla="*/ 5290468 w 5290468"/>
              <a:gd name="csY14" fmla="*/ 4982749 h 6662314"/>
              <a:gd name="csX15" fmla="*/ 5290468 w 5290468"/>
              <a:gd name="csY15" fmla="*/ 5780552 h 6662314"/>
              <a:gd name="csX16" fmla="*/ 4408706 w 5290468"/>
              <a:gd name="csY16" fmla="*/ 6662314 h 6662314"/>
              <a:gd name="csX17" fmla="*/ 3926690 w 5290468"/>
              <a:gd name="csY17" fmla="*/ 6662314 h 6662314"/>
              <a:gd name="csX18" fmla="*/ 3268327 w 5290468"/>
              <a:gd name="csY18" fmla="*/ 6662314 h 6662314"/>
              <a:gd name="csX19" fmla="*/ 2680503 w 5290468"/>
              <a:gd name="csY19" fmla="*/ 6662314 h 6662314"/>
              <a:gd name="csX20" fmla="*/ 2092679 w 5290468"/>
              <a:gd name="csY20" fmla="*/ 6662314 h 6662314"/>
              <a:gd name="csX21" fmla="*/ 1540125 w 5290468"/>
              <a:gd name="csY21" fmla="*/ 6662314 h 6662314"/>
              <a:gd name="csX22" fmla="*/ 881762 w 5290468"/>
              <a:gd name="csY22" fmla="*/ 6662314 h 6662314"/>
              <a:gd name="csX23" fmla="*/ 0 w 5290468"/>
              <a:gd name="csY23" fmla="*/ 5780552 h 6662314"/>
              <a:gd name="csX24" fmla="*/ 0 w 5290468"/>
              <a:gd name="csY24" fmla="*/ 5129713 h 6662314"/>
              <a:gd name="csX25" fmla="*/ 0 w 5290468"/>
              <a:gd name="csY25" fmla="*/ 4576849 h 6662314"/>
              <a:gd name="csX26" fmla="*/ 0 w 5290468"/>
              <a:gd name="csY26" fmla="*/ 3877022 h 6662314"/>
              <a:gd name="csX27" fmla="*/ 0 w 5290468"/>
              <a:gd name="csY27" fmla="*/ 3324159 h 6662314"/>
              <a:gd name="csX28" fmla="*/ 0 w 5290468"/>
              <a:gd name="csY28" fmla="*/ 2526356 h 6662314"/>
              <a:gd name="csX29" fmla="*/ 0 w 5290468"/>
              <a:gd name="csY29" fmla="*/ 1826529 h 6662314"/>
              <a:gd name="csX30" fmla="*/ 0 w 5290468"/>
              <a:gd name="csY30" fmla="*/ 881762 h 66623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5290468" h="6662314" fill="none" extrusionOk="0">
                <a:moveTo>
                  <a:pt x="0" y="881762"/>
                </a:moveTo>
                <a:cubicBezTo>
                  <a:pt x="19484" y="395751"/>
                  <a:pt x="343838" y="-64192"/>
                  <a:pt x="881762" y="0"/>
                </a:cubicBezTo>
                <a:cubicBezTo>
                  <a:pt x="1096181" y="-2377"/>
                  <a:pt x="1169836" y="-22029"/>
                  <a:pt x="1434317" y="0"/>
                </a:cubicBezTo>
                <a:cubicBezTo>
                  <a:pt x="1698799" y="22029"/>
                  <a:pt x="1827362" y="10785"/>
                  <a:pt x="2022141" y="0"/>
                </a:cubicBezTo>
                <a:cubicBezTo>
                  <a:pt x="2216920" y="-10785"/>
                  <a:pt x="2372561" y="-13905"/>
                  <a:pt x="2645234" y="0"/>
                </a:cubicBezTo>
                <a:cubicBezTo>
                  <a:pt x="2917907" y="13905"/>
                  <a:pt x="3115952" y="10887"/>
                  <a:pt x="3303597" y="0"/>
                </a:cubicBezTo>
                <a:cubicBezTo>
                  <a:pt x="3491242" y="-10887"/>
                  <a:pt x="3680368" y="-9135"/>
                  <a:pt x="3856151" y="0"/>
                </a:cubicBezTo>
                <a:cubicBezTo>
                  <a:pt x="4031934" y="9135"/>
                  <a:pt x="4151692" y="-13063"/>
                  <a:pt x="4408706" y="0"/>
                </a:cubicBezTo>
                <a:cubicBezTo>
                  <a:pt x="4862327" y="-24093"/>
                  <a:pt x="5245477" y="444938"/>
                  <a:pt x="5290468" y="881762"/>
                </a:cubicBezTo>
                <a:cubicBezTo>
                  <a:pt x="5269151" y="1052529"/>
                  <a:pt x="5301883" y="1198081"/>
                  <a:pt x="5290468" y="1434625"/>
                </a:cubicBezTo>
                <a:cubicBezTo>
                  <a:pt x="5279053" y="1671169"/>
                  <a:pt x="5297185" y="1888536"/>
                  <a:pt x="5290468" y="2183440"/>
                </a:cubicBezTo>
                <a:cubicBezTo>
                  <a:pt x="5283751" y="2478344"/>
                  <a:pt x="5251992" y="2615781"/>
                  <a:pt x="5290468" y="2981243"/>
                </a:cubicBezTo>
                <a:cubicBezTo>
                  <a:pt x="5328944" y="3346705"/>
                  <a:pt x="5261124" y="3391722"/>
                  <a:pt x="5290468" y="3583095"/>
                </a:cubicBezTo>
                <a:cubicBezTo>
                  <a:pt x="5319812" y="3774468"/>
                  <a:pt x="5268342" y="4093467"/>
                  <a:pt x="5290468" y="4233934"/>
                </a:cubicBezTo>
                <a:cubicBezTo>
                  <a:pt x="5312594" y="4374401"/>
                  <a:pt x="5283172" y="4819223"/>
                  <a:pt x="5290468" y="4982749"/>
                </a:cubicBezTo>
                <a:cubicBezTo>
                  <a:pt x="5297764" y="5146275"/>
                  <a:pt x="5274521" y="5575452"/>
                  <a:pt x="5290468" y="5780552"/>
                </a:cubicBezTo>
                <a:cubicBezTo>
                  <a:pt x="5254672" y="6210030"/>
                  <a:pt x="4822897" y="6579889"/>
                  <a:pt x="4408706" y="6662314"/>
                </a:cubicBezTo>
                <a:cubicBezTo>
                  <a:pt x="4223565" y="6649267"/>
                  <a:pt x="4096624" y="6660838"/>
                  <a:pt x="3926690" y="6662314"/>
                </a:cubicBezTo>
                <a:cubicBezTo>
                  <a:pt x="3756756" y="6663790"/>
                  <a:pt x="3531755" y="6665183"/>
                  <a:pt x="3268327" y="6662314"/>
                </a:cubicBezTo>
                <a:cubicBezTo>
                  <a:pt x="3004899" y="6659445"/>
                  <a:pt x="2827951" y="6687468"/>
                  <a:pt x="2680503" y="6662314"/>
                </a:cubicBezTo>
                <a:cubicBezTo>
                  <a:pt x="2533055" y="6637160"/>
                  <a:pt x="2327138" y="6652213"/>
                  <a:pt x="2092679" y="6662314"/>
                </a:cubicBezTo>
                <a:cubicBezTo>
                  <a:pt x="1858220" y="6672415"/>
                  <a:pt x="1757964" y="6641025"/>
                  <a:pt x="1540125" y="6662314"/>
                </a:cubicBezTo>
                <a:cubicBezTo>
                  <a:pt x="1322286" y="6683603"/>
                  <a:pt x="1072336" y="6632524"/>
                  <a:pt x="881762" y="6662314"/>
                </a:cubicBezTo>
                <a:cubicBezTo>
                  <a:pt x="343759" y="6604590"/>
                  <a:pt x="-90502" y="6287596"/>
                  <a:pt x="0" y="5780552"/>
                </a:cubicBezTo>
                <a:cubicBezTo>
                  <a:pt x="1118" y="5535542"/>
                  <a:pt x="3977" y="5263072"/>
                  <a:pt x="0" y="5129713"/>
                </a:cubicBezTo>
                <a:cubicBezTo>
                  <a:pt x="-3977" y="4996354"/>
                  <a:pt x="7897" y="4792685"/>
                  <a:pt x="0" y="4576849"/>
                </a:cubicBezTo>
                <a:cubicBezTo>
                  <a:pt x="-7897" y="4361013"/>
                  <a:pt x="-16854" y="4075482"/>
                  <a:pt x="0" y="3877022"/>
                </a:cubicBezTo>
                <a:cubicBezTo>
                  <a:pt x="16854" y="3678562"/>
                  <a:pt x="4479" y="3546591"/>
                  <a:pt x="0" y="3324159"/>
                </a:cubicBezTo>
                <a:cubicBezTo>
                  <a:pt x="-4479" y="3101727"/>
                  <a:pt x="-12479" y="2688903"/>
                  <a:pt x="0" y="2526356"/>
                </a:cubicBezTo>
                <a:cubicBezTo>
                  <a:pt x="12479" y="2363809"/>
                  <a:pt x="-567" y="2047527"/>
                  <a:pt x="0" y="1826529"/>
                </a:cubicBezTo>
                <a:cubicBezTo>
                  <a:pt x="567" y="1605531"/>
                  <a:pt x="36571" y="1222844"/>
                  <a:pt x="0" y="881762"/>
                </a:cubicBezTo>
                <a:close/>
              </a:path>
              <a:path w="5290468" h="6662314" stroke="0" extrusionOk="0">
                <a:moveTo>
                  <a:pt x="0" y="881762"/>
                </a:moveTo>
                <a:cubicBezTo>
                  <a:pt x="-73124" y="303561"/>
                  <a:pt x="446852" y="-29561"/>
                  <a:pt x="881762" y="0"/>
                </a:cubicBezTo>
                <a:cubicBezTo>
                  <a:pt x="1058766" y="-4488"/>
                  <a:pt x="1161105" y="8895"/>
                  <a:pt x="1363778" y="0"/>
                </a:cubicBezTo>
                <a:cubicBezTo>
                  <a:pt x="1566451" y="-8895"/>
                  <a:pt x="1732634" y="21181"/>
                  <a:pt x="1845793" y="0"/>
                </a:cubicBezTo>
                <a:cubicBezTo>
                  <a:pt x="1958952" y="-21181"/>
                  <a:pt x="2207070" y="15198"/>
                  <a:pt x="2363078" y="0"/>
                </a:cubicBezTo>
                <a:cubicBezTo>
                  <a:pt x="2519086" y="-15198"/>
                  <a:pt x="2686432" y="-9620"/>
                  <a:pt x="2915633" y="0"/>
                </a:cubicBezTo>
                <a:cubicBezTo>
                  <a:pt x="3144834" y="9620"/>
                  <a:pt x="3353927" y="15265"/>
                  <a:pt x="3503457" y="0"/>
                </a:cubicBezTo>
                <a:cubicBezTo>
                  <a:pt x="3652987" y="-15265"/>
                  <a:pt x="4059787" y="17733"/>
                  <a:pt x="4408706" y="0"/>
                </a:cubicBezTo>
                <a:cubicBezTo>
                  <a:pt x="4857339" y="51032"/>
                  <a:pt x="5332950" y="287033"/>
                  <a:pt x="5290468" y="881762"/>
                </a:cubicBezTo>
                <a:cubicBezTo>
                  <a:pt x="5268358" y="1214809"/>
                  <a:pt x="5316854" y="1416287"/>
                  <a:pt x="5290468" y="1581589"/>
                </a:cubicBezTo>
                <a:cubicBezTo>
                  <a:pt x="5264082" y="1746891"/>
                  <a:pt x="5305708" y="2005493"/>
                  <a:pt x="5290468" y="2183440"/>
                </a:cubicBezTo>
                <a:cubicBezTo>
                  <a:pt x="5275228" y="2361387"/>
                  <a:pt x="5270812" y="2613042"/>
                  <a:pt x="5290468" y="2785292"/>
                </a:cubicBezTo>
                <a:cubicBezTo>
                  <a:pt x="5310124" y="2957542"/>
                  <a:pt x="5268547" y="3241495"/>
                  <a:pt x="5290468" y="3583095"/>
                </a:cubicBezTo>
                <a:cubicBezTo>
                  <a:pt x="5312389" y="3924695"/>
                  <a:pt x="5302773" y="4160985"/>
                  <a:pt x="5290468" y="4380898"/>
                </a:cubicBezTo>
                <a:cubicBezTo>
                  <a:pt x="5278163" y="4600811"/>
                  <a:pt x="5288356" y="4708981"/>
                  <a:pt x="5290468" y="4982749"/>
                </a:cubicBezTo>
                <a:cubicBezTo>
                  <a:pt x="5292580" y="5256517"/>
                  <a:pt x="5277254" y="5502767"/>
                  <a:pt x="5290468" y="5780552"/>
                </a:cubicBezTo>
                <a:cubicBezTo>
                  <a:pt x="5315638" y="6344720"/>
                  <a:pt x="4843973" y="6627135"/>
                  <a:pt x="4408706" y="6662314"/>
                </a:cubicBezTo>
                <a:cubicBezTo>
                  <a:pt x="4187741" y="6660781"/>
                  <a:pt x="3923688" y="6651480"/>
                  <a:pt x="3785613" y="6662314"/>
                </a:cubicBezTo>
                <a:cubicBezTo>
                  <a:pt x="3647538" y="6673148"/>
                  <a:pt x="3293006" y="6684235"/>
                  <a:pt x="3127250" y="6662314"/>
                </a:cubicBezTo>
                <a:cubicBezTo>
                  <a:pt x="2961494" y="6640393"/>
                  <a:pt x="2749368" y="6638574"/>
                  <a:pt x="2609965" y="6662314"/>
                </a:cubicBezTo>
                <a:cubicBezTo>
                  <a:pt x="2470563" y="6686054"/>
                  <a:pt x="2324395" y="6678045"/>
                  <a:pt x="2057410" y="6662314"/>
                </a:cubicBezTo>
                <a:cubicBezTo>
                  <a:pt x="1790426" y="6646583"/>
                  <a:pt x="1658922" y="6668192"/>
                  <a:pt x="1504855" y="6662314"/>
                </a:cubicBezTo>
                <a:cubicBezTo>
                  <a:pt x="1350788" y="6656436"/>
                  <a:pt x="1159526" y="6657184"/>
                  <a:pt x="881762" y="6662314"/>
                </a:cubicBezTo>
                <a:cubicBezTo>
                  <a:pt x="360481" y="6617999"/>
                  <a:pt x="99019" y="6297160"/>
                  <a:pt x="0" y="5780552"/>
                </a:cubicBezTo>
                <a:cubicBezTo>
                  <a:pt x="-5102" y="5531058"/>
                  <a:pt x="-5894" y="5356438"/>
                  <a:pt x="0" y="5178701"/>
                </a:cubicBezTo>
                <a:cubicBezTo>
                  <a:pt x="5894" y="5000964"/>
                  <a:pt x="-26061" y="4722851"/>
                  <a:pt x="0" y="4429886"/>
                </a:cubicBezTo>
                <a:cubicBezTo>
                  <a:pt x="26061" y="4136922"/>
                  <a:pt x="4169" y="3958411"/>
                  <a:pt x="0" y="3730058"/>
                </a:cubicBezTo>
                <a:cubicBezTo>
                  <a:pt x="-4169" y="3501705"/>
                  <a:pt x="32422" y="3359428"/>
                  <a:pt x="0" y="3030231"/>
                </a:cubicBezTo>
                <a:cubicBezTo>
                  <a:pt x="-32422" y="2701034"/>
                  <a:pt x="8505" y="2660091"/>
                  <a:pt x="0" y="2428380"/>
                </a:cubicBezTo>
                <a:cubicBezTo>
                  <a:pt x="-8505" y="2196669"/>
                  <a:pt x="18611" y="2075795"/>
                  <a:pt x="0" y="1777541"/>
                </a:cubicBezTo>
                <a:cubicBezTo>
                  <a:pt x="-18611" y="1479287"/>
                  <a:pt x="31071" y="1250130"/>
                  <a:pt x="0" y="881762"/>
                </a:cubicBezTo>
                <a:close/>
              </a:path>
            </a:pathLst>
          </a:custGeom>
          <a:solidFill>
            <a:srgbClr val="E5F1E8"/>
          </a:solidFill>
          <a:ln w="38100">
            <a:solidFill>
              <a:srgbClr val="97B8A1"/>
            </a:solidFill>
            <a:extLst>
              <a:ext uri="{C807C97D-BFC1-408E-A445-0C87EB9F89A2}">
                <ask:lineSketchStyleProps xmlns:ask="http://schemas.microsoft.com/office/drawing/2018/sketchyshapes" sd="2362110430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</a:pPr>
            <a:r>
              <a:rPr lang="ko-KR" altLang="en-US" sz="3600" b="1">
                <a:solidFill>
                  <a:srgbClr val="567C75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핵심 답변</a:t>
            </a:r>
            <a:endParaRPr lang="en-US" altLang="ko-KR" sz="3600" b="1">
              <a:solidFill>
                <a:srgbClr val="567C75"/>
              </a:solidFill>
              <a:latin typeface="IBM Plex Sans KR" panose="020B0503050203000203" pitchFamily="34" charset="-127"/>
              <a:ea typeface="IBM Plex Sans KR" panose="020B0503050203000203" pitchFamily="34" charset="-127"/>
            </a:endParaRPr>
          </a:p>
          <a:p>
            <a:pPr algn="ctr">
              <a:lnSpc>
                <a:spcPct val="200000"/>
              </a:lnSpc>
            </a:pPr>
            <a:r>
              <a:rPr lang="ko-KR" altLang="en-US" sz="2800" b="1">
                <a:solidFill>
                  <a:schemeClr val="tx1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좋은 점수보다 재현 가능한 </a:t>
            </a:r>
            <a:endParaRPr lang="en-US" altLang="ko-KR" sz="2800" b="1">
              <a:solidFill>
                <a:schemeClr val="tx1"/>
              </a:solidFill>
              <a:latin typeface="IBM Plex Sans KR" panose="020B0503050203000203" pitchFamily="34" charset="-127"/>
              <a:ea typeface="IBM Plex Sans KR" panose="020B0503050203000203" pitchFamily="34" charset="-127"/>
            </a:endParaRPr>
          </a:p>
          <a:p>
            <a:pPr algn="ctr">
              <a:lnSpc>
                <a:spcPct val="200000"/>
              </a:lnSpc>
            </a:pPr>
            <a:r>
              <a:rPr lang="ko-KR" altLang="en-US" sz="2800" b="1">
                <a:solidFill>
                  <a:schemeClr val="tx1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개선 과정이 중요합니다 </a:t>
            </a:r>
            <a:endParaRPr lang="en-US" altLang="ko-KR" sz="2800" b="1">
              <a:solidFill>
                <a:schemeClr val="tx1"/>
              </a:solidFill>
              <a:latin typeface="IBM Plex Sans KR" panose="020B0503050203000203" pitchFamily="34" charset="-127"/>
              <a:ea typeface="IBM Plex Sans KR" panose="020B0503050203000203" pitchFamily="34" charset="-127"/>
            </a:endParaRPr>
          </a:p>
          <a:p>
            <a:pPr algn="ctr">
              <a:lnSpc>
                <a:spcPct val="200000"/>
              </a:lnSpc>
            </a:pPr>
            <a:r>
              <a:rPr lang="ko-KR" altLang="en-US" sz="2800" b="1">
                <a:solidFill>
                  <a:schemeClr val="tx1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⇓</a:t>
            </a:r>
            <a:endParaRPr lang="en-US" altLang="ko-KR" sz="2800" b="1">
              <a:solidFill>
                <a:schemeClr val="tx1"/>
              </a:solidFill>
              <a:latin typeface="IBM Plex Sans KR" panose="020B0503050203000203" pitchFamily="34" charset="-127"/>
              <a:ea typeface="IBM Plex Sans KR" panose="020B0503050203000203" pitchFamily="34" charset="-127"/>
            </a:endParaRPr>
          </a:p>
          <a:p>
            <a:pPr algn="ctr">
              <a:lnSpc>
                <a:spcPct val="200000"/>
              </a:lnSpc>
            </a:pPr>
            <a:r>
              <a:rPr lang="ko-KR" altLang="en-US" sz="2800" b="1">
                <a:solidFill>
                  <a:schemeClr val="tx1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검증 기록이 남은 모델을 </a:t>
            </a:r>
            <a:endParaRPr lang="en-US" altLang="ko-KR" sz="2800" b="1">
              <a:solidFill>
                <a:schemeClr val="tx1"/>
              </a:solidFill>
              <a:latin typeface="IBM Plex Sans KR" panose="020B0503050203000203" pitchFamily="34" charset="-127"/>
              <a:ea typeface="IBM Plex Sans KR" panose="020B0503050203000203" pitchFamily="34" charset="-127"/>
            </a:endParaRPr>
          </a:p>
          <a:p>
            <a:pPr algn="ctr">
              <a:lnSpc>
                <a:spcPct val="200000"/>
              </a:lnSpc>
            </a:pPr>
            <a:r>
              <a:rPr lang="ko-KR" altLang="en-US" sz="2800" b="1">
                <a:solidFill>
                  <a:schemeClr val="tx1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최종으로 선택했습니다</a:t>
            </a:r>
            <a:endParaRPr sz="2800" b="1">
              <a:solidFill>
                <a:schemeClr val="tx1"/>
              </a:solidFill>
              <a:latin typeface="IBM Plex Sans KR" panose="020B0503050203000203" pitchFamily="34" charset="-127"/>
              <a:ea typeface="IBM Plex Sans KR" panose="020B0503050203000203" pitchFamily="34" charset="-127"/>
            </a:endParaRPr>
          </a:p>
        </p:txBody>
      </p:sp>
      <p:sp>
        <p:nvSpPr>
          <p:cNvPr id="2" name="Oval 18">
            <a:extLst>
              <a:ext uri="{FF2B5EF4-FFF2-40B4-BE49-F238E27FC236}">
                <a16:creationId xmlns:a16="http://schemas.microsoft.com/office/drawing/2014/main" id="{CC2A2F60-A772-0924-6F1E-9A87D2ED76C2}"/>
              </a:ext>
            </a:extLst>
          </p:cNvPr>
          <p:cNvSpPr/>
          <p:nvPr/>
        </p:nvSpPr>
        <p:spPr>
          <a:xfrm>
            <a:off x="707225" y="8353737"/>
            <a:ext cx="792000" cy="792000"/>
          </a:xfrm>
          <a:prstGeom prst="ellipse">
            <a:avLst/>
          </a:prstGeom>
          <a:solidFill>
            <a:srgbClr val="527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600">
              <a:latin typeface="IBM Plex Sans KR" panose="020B0503050203000203" pitchFamily="34" charset="-127"/>
              <a:ea typeface="IBM Plex Sans KR" panose="020B0503050203000203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9401EE-7F6C-8A24-EE18-CAEC95E16586}"/>
              </a:ext>
            </a:extLst>
          </p:cNvPr>
          <p:cNvSpPr txBox="1"/>
          <p:nvPr/>
        </p:nvSpPr>
        <p:spPr>
          <a:xfrm>
            <a:off x="1010691" y="8441961"/>
            <a:ext cx="185068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sz="4000" b="1">
                <a:solidFill>
                  <a:srgbClr val="FFFFFF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5</a:t>
            </a:r>
            <a:endParaRPr sz="4000" b="1">
              <a:solidFill>
                <a:srgbClr val="FFFFFF"/>
              </a:solidFill>
              <a:latin typeface="IBM Plex Sans KR" panose="020B0503050203000203" pitchFamily="34" charset="-127"/>
              <a:ea typeface="IBM Plex Sans KR" panose="020B0503050203000203" pitchFamily="34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D72835F-478C-D9BA-9F2E-9BA3F118EE77}"/>
              </a:ext>
            </a:extLst>
          </p:cNvPr>
          <p:cNvSpPr txBox="1"/>
          <p:nvPr/>
        </p:nvSpPr>
        <p:spPr>
          <a:xfrm>
            <a:off x="2002506" y="8430534"/>
            <a:ext cx="5703006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123E32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왜 </a:t>
            </a:r>
            <a:r>
              <a:rPr lang="en-US" altLang="ko-KR" sz="2000" b="1">
                <a:solidFill>
                  <a:srgbClr val="123E32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RandomForest</a:t>
            </a:r>
            <a:r>
              <a:rPr lang="ko-KR" altLang="en-US" sz="2000" b="1">
                <a:solidFill>
                  <a:srgbClr val="123E32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가 아니라 </a:t>
            </a:r>
            <a:r>
              <a:rPr lang="en-US" altLang="ko-KR" sz="2000" b="1">
                <a:solidFill>
                  <a:srgbClr val="123E32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ExtraTrees</a:t>
            </a:r>
            <a:r>
              <a:rPr lang="ko-KR" altLang="en-US" sz="2000" b="1">
                <a:solidFill>
                  <a:srgbClr val="123E32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였나요</a:t>
            </a:r>
            <a:r>
              <a:rPr lang="en-US" altLang="ko-KR" sz="2000" b="1">
                <a:solidFill>
                  <a:srgbClr val="123E32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?</a:t>
            </a:r>
            <a:endParaRPr sz="2000" b="1">
              <a:solidFill>
                <a:srgbClr val="123E32"/>
              </a:solidFill>
              <a:latin typeface="IBM Plex Sans KR" panose="020B0503050203000203" pitchFamily="34" charset="-127"/>
              <a:ea typeface="IBM Plex Sans KR" panose="020B0503050203000203" pitchFamily="34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E261E8C-1BD5-0876-AB89-EA3AD9A50C40}"/>
              </a:ext>
            </a:extLst>
          </p:cNvPr>
          <p:cNvSpPr txBox="1"/>
          <p:nvPr/>
        </p:nvSpPr>
        <p:spPr>
          <a:xfrm>
            <a:off x="2002507" y="8713999"/>
            <a:ext cx="911990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800" b="0">
                <a:solidFill>
                  <a:srgbClr val="565F5C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분할 기준의 무작위성으로 과적합을 줄여</a:t>
            </a:r>
            <a:r>
              <a:rPr lang="en-US" altLang="ko-KR" sz="1800" b="0">
                <a:solidFill>
                  <a:srgbClr val="565F5C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,</a:t>
            </a:r>
            <a:r>
              <a:rPr lang="ko-KR" altLang="en-US" sz="1800" b="0">
                <a:solidFill>
                  <a:srgbClr val="565F5C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 이번 데이터에서 더</a:t>
            </a:r>
            <a:r>
              <a:rPr lang="ko-KR" altLang="en-US" sz="1800">
                <a:solidFill>
                  <a:srgbClr val="565F5C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 안정적인</a:t>
            </a:r>
            <a:r>
              <a:rPr lang="ko-KR" altLang="en-US" sz="1800" b="0">
                <a:solidFill>
                  <a:srgbClr val="565F5C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 일반화 성능을 보였습니다</a:t>
            </a:r>
            <a:r>
              <a:rPr lang="en-US" altLang="ko-KR" sz="1800" b="0">
                <a:solidFill>
                  <a:srgbClr val="565F5C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.</a:t>
            </a:r>
            <a:endParaRPr sz="1800" b="0">
              <a:solidFill>
                <a:srgbClr val="565F5C"/>
              </a:solidFill>
              <a:latin typeface="IBM Plex Sans KR" panose="020B0503050203000203" pitchFamily="34" charset="-127"/>
              <a:ea typeface="IBM Plex Sans KR" panose="020B0503050203000203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471913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Shape 163">
          <a:extLst>
            <a:ext uri="{FF2B5EF4-FFF2-40B4-BE49-F238E27FC236}">
              <a16:creationId xmlns:a16="http://schemas.microsoft.com/office/drawing/2014/main" id="{BFDA47D2-FB80-E72B-9EEF-5114622B9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46;p16">
            <a:extLst>
              <a:ext uri="{FF2B5EF4-FFF2-40B4-BE49-F238E27FC236}">
                <a16:creationId xmlns:a16="http://schemas.microsoft.com/office/drawing/2014/main" id="{9340A7D0-5CA3-0C1E-8818-860915189970}"/>
              </a:ext>
            </a:extLst>
          </p:cNvPr>
          <p:cNvSpPr txBox="1"/>
          <p:nvPr/>
        </p:nvSpPr>
        <p:spPr>
          <a:xfrm>
            <a:off x="962025" y="571500"/>
            <a:ext cx="9715500" cy="7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9100" rIns="0" bIns="0" anchor="t" anchorCtr="0">
            <a:noAutofit/>
          </a:bodyPr>
          <a:lstStyle/>
          <a:p>
            <a:pPr>
              <a:lnSpc>
                <a:spcPct val="97940"/>
              </a:lnSpc>
            </a:pPr>
            <a:r>
              <a:rPr lang="ko-KR" altLang="en-US" sz="4200" b="1">
                <a:solidFill>
                  <a:srgbClr val="567C75"/>
                </a:solidFill>
                <a:latin typeface="IBM Plex Sans KR Medium"/>
                <a:ea typeface="IBM Plex Sans KR Medium"/>
              </a:rPr>
              <a:t>소감</a:t>
            </a:r>
            <a:endParaRPr lang="en-US" altLang="ko-KR" sz="4200" b="1" err="1">
              <a:solidFill>
                <a:srgbClr val="567C75"/>
              </a:solidFill>
              <a:latin typeface="IBM Plex Sans KR Medium"/>
              <a:ea typeface="IBM Plex Sans KR Medium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852FDC6-FC92-5A06-4F5D-D8DEA646ABCE}"/>
              </a:ext>
            </a:extLst>
          </p:cNvPr>
          <p:cNvSpPr/>
          <p:nvPr/>
        </p:nvSpPr>
        <p:spPr>
          <a:xfrm>
            <a:off x="962025" y="2266136"/>
            <a:ext cx="5072658" cy="7118496"/>
          </a:xfrm>
          <a:prstGeom prst="roundRect">
            <a:avLst/>
          </a:prstGeom>
          <a:solidFill>
            <a:srgbClr val="F1F4ED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F4828E3-3866-6311-639C-E1C7A5CCDDCD}"/>
              </a:ext>
            </a:extLst>
          </p:cNvPr>
          <p:cNvSpPr/>
          <p:nvPr/>
        </p:nvSpPr>
        <p:spPr>
          <a:xfrm>
            <a:off x="6531471" y="2266136"/>
            <a:ext cx="5072658" cy="7118496"/>
          </a:xfrm>
          <a:prstGeom prst="roundRect">
            <a:avLst/>
          </a:prstGeom>
          <a:solidFill>
            <a:srgbClr val="EBF1F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F4A4B61-21DC-F211-5FAD-0F02966428CC}"/>
              </a:ext>
            </a:extLst>
          </p:cNvPr>
          <p:cNvSpPr/>
          <p:nvPr/>
        </p:nvSpPr>
        <p:spPr>
          <a:xfrm>
            <a:off x="12100917" y="2266136"/>
            <a:ext cx="5072658" cy="7118496"/>
          </a:xfrm>
          <a:prstGeom prst="roundRect">
            <a:avLst/>
          </a:prstGeom>
          <a:solidFill>
            <a:srgbClr val="FDF6EC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E7DACA9-F63B-3EA0-72CE-AE4CDE722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2322" y="2435898"/>
            <a:ext cx="1170193" cy="1191758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F0B5CEA8-11ED-42B6-255F-F9B8035316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1931" y="2435898"/>
            <a:ext cx="1184137" cy="1189981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23B8B804-2EE8-F870-B667-1D1DEB2972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2947" y="2312139"/>
            <a:ext cx="1192731" cy="1189981"/>
          </a:xfrm>
          <a:prstGeom prst="rect">
            <a:avLst/>
          </a:prstGeom>
        </p:spPr>
      </p:pic>
      <p:sp>
        <p:nvSpPr>
          <p:cNvPr id="33" name="타원 32">
            <a:extLst>
              <a:ext uri="{FF2B5EF4-FFF2-40B4-BE49-F238E27FC236}">
                <a16:creationId xmlns:a16="http://schemas.microsoft.com/office/drawing/2014/main" id="{E7ECDA57-553F-8AF2-435F-C4A5F22EFD74}"/>
              </a:ext>
            </a:extLst>
          </p:cNvPr>
          <p:cNvSpPr/>
          <p:nvPr/>
        </p:nvSpPr>
        <p:spPr>
          <a:xfrm>
            <a:off x="2960503" y="2465594"/>
            <a:ext cx="1117061" cy="1117570"/>
          </a:xfrm>
          <a:prstGeom prst="ellipse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F9BF4580-9DAB-4BFC-84ED-23F8D9B10587}"/>
              </a:ext>
            </a:extLst>
          </p:cNvPr>
          <p:cNvSpPr/>
          <p:nvPr/>
        </p:nvSpPr>
        <p:spPr>
          <a:xfrm>
            <a:off x="8589138" y="2485050"/>
            <a:ext cx="1117061" cy="1117570"/>
          </a:xfrm>
          <a:prstGeom prst="ellipse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64E3E9E9-A7A0-4397-E8DF-B3B94B7D4B94}"/>
              </a:ext>
            </a:extLst>
          </p:cNvPr>
          <p:cNvSpPr/>
          <p:nvPr/>
        </p:nvSpPr>
        <p:spPr>
          <a:xfrm>
            <a:off x="14213018" y="2355561"/>
            <a:ext cx="1117061" cy="1117570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Google Shape;133;p15">
            <a:extLst>
              <a:ext uri="{FF2B5EF4-FFF2-40B4-BE49-F238E27FC236}">
                <a16:creationId xmlns:a16="http://schemas.microsoft.com/office/drawing/2014/main" id="{7BDB5ED4-E432-C5C8-6B1C-4BA458DD5181}"/>
              </a:ext>
            </a:extLst>
          </p:cNvPr>
          <p:cNvSpPr txBox="1"/>
          <p:nvPr/>
        </p:nvSpPr>
        <p:spPr>
          <a:xfrm>
            <a:off x="3157367" y="3673356"/>
            <a:ext cx="700102" cy="362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4450" rIns="0" bIns="0" anchor="ctr" anchorCtr="0">
            <a:noAutofit/>
          </a:bodyPr>
          <a:lstStyle/>
          <a:p>
            <a:pPr algn="ctr">
              <a:lnSpc>
                <a:spcPct val="97940"/>
              </a:lnSpc>
            </a:pPr>
            <a:r>
              <a:rPr lang="en-US" altLang="ko-KR" sz="2000" err="1">
                <a:latin typeface="Hanken Grotesk SemiBold"/>
                <a:ea typeface="IBM Plex Sans KR"/>
              </a:rPr>
              <a:t>김지현</a:t>
            </a:r>
          </a:p>
        </p:txBody>
      </p:sp>
      <p:sp>
        <p:nvSpPr>
          <p:cNvPr id="80" name="Google Shape;133;p15">
            <a:extLst>
              <a:ext uri="{FF2B5EF4-FFF2-40B4-BE49-F238E27FC236}">
                <a16:creationId xmlns:a16="http://schemas.microsoft.com/office/drawing/2014/main" id="{FFC44B7D-ADA8-B274-ABD5-5B55B4C5AA36}"/>
              </a:ext>
            </a:extLst>
          </p:cNvPr>
          <p:cNvSpPr txBox="1"/>
          <p:nvPr/>
        </p:nvSpPr>
        <p:spPr>
          <a:xfrm>
            <a:off x="8783165" y="3502120"/>
            <a:ext cx="721668" cy="55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4450" rIns="0" bIns="0" anchor="ctr" anchorCtr="0">
            <a:noAutofit/>
          </a:bodyPr>
          <a:lstStyle/>
          <a:p>
            <a:pPr algn="ctr">
              <a:lnSpc>
                <a:spcPct val="97940"/>
              </a:lnSpc>
            </a:pPr>
            <a:r>
              <a:rPr lang="en-US" altLang="ko-KR" sz="2000" err="1">
                <a:latin typeface="Hanken Grotesk SemiBold"/>
                <a:ea typeface="IBM Plex Sans KR"/>
              </a:rPr>
              <a:t>박빛샘</a:t>
            </a:r>
          </a:p>
        </p:txBody>
      </p:sp>
      <p:sp>
        <p:nvSpPr>
          <p:cNvPr id="81" name="Google Shape;133;p15">
            <a:extLst>
              <a:ext uri="{FF2B5EF4-FFF2-40B4-BE49-F238E27FC236}">
                <a16:creationId xmlns:a16="http://schemas.microsoft.com/office/drawing/2014/main" id="{967A4169-61CF-C0AF-9666-564E9E3E94B9}"/>
              </a:ext>
            </a:extLst>
          </p:cNvPr>
          <p:cNvSpPr txBox="1"/>
          <p:nvPr/>
        </p:nvSpPr>
        <p:spPr>
          <a:xfrm>
            <a:off x="14365346" y="3404603"/>
            <a:ext cx="807932" cy="55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4450" rIns="0" bIns="0" anchor="ctr" anchorCtr="0">
            <a:noAutofit/>
          </a:bodyPr>
          <a:lstStyle/>
          <a:p>
            <a:pPr algn="ctr">
              <a:lnSpc>
                <a:spcPct val="97940"/>
              </a:lnSpc>
            </a:pPr>
            <a:r>
              <a:rPr lang="en-US" altLang="ko-KR" sz="2000" err="1">
                <a:latin typeface="Hanken Grotesk SemiBold"/>
                <a:ea typeface="IBM Plex Sans KR"/>
              </a:rPr>
              <a:t>안상균</a:t>
            </a: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27330D74-7B21-783B-78BD-B80E8D75444C}"/>
              </a:ext>
            </a:extLst>
          </p:cNvPr>
          <p:cNvSpPr/>
          <p:nvPr/>
        </p:nvSpPr>
        <p:spPr>
          <a:xfrm>
            <a:off x="594360" y="1353311"/>
            <a:ext cx="13323498" cy="73152"/>
          </a:xfrm>
          <a:prstGeom prst="roundRect">
            <a:avLst/>
          </a:prstGeom>
          <a:solidFill>
            <a:srgbClr val="E8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IBM Plex Sans KR" panose="020B0503050203000203" pitchFamily="34" charset="-127"/>
              <a:ea typeface="IBM Plex Sans KR" panose="020B0503050203000203" pitchFamily="34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51DE53A-D1AC-BA27-0915-8AA0CAFC8D88}"/>
              </a:ext>
            </a:extLst>
          </p:cNvPr>
          <p:cNvSpPr txBox="1"/>
          <p:nvPr/>
        </p:nvSpPr>
        <p:spPr>
          <a:xfrm>
            <a:off x="6644768" y="4058833"/>
            <a:ext cx="4998462" cy="5132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>
                <a:latin typeface="IBM Plex Sans KR" panose="020B0503050203000203" pitchFamily="34" charset="-127"/>
                <a:ea typeface="IBM Plex Sans KR" panose="020B0503050203000203" pitchFamily="34" charset="-127"/>
              </a:rPr>
              <a:t> </a:t>
            </a:r>
            <a:r>
              <a:rPr lang="ko-KR" altLang="ko-KR" sz="2000">
                <a:latin typeface="IBM Plex Sans KR" panose="020B0503050203000203" pitchFamily="34" charset="-127"/>
                <a:ea typeface="IBM Plex Sans KR" panose="020B0503050203000203" pitchFamily="34" charset="-127"/>
              </a:rPr>
              <a:t>이번 해커톤을 통해 데이터 전처리와 모델 성능 개선 과정을 직접 경험하며 많은 것을 배울 수 있었습니다.</a:t>
            </a:r>
            <a:br>
              <a:rPr lang="ko-KR" altLang="ko-KR" sz="2000">
                <a:latin typeface="IBM Plex Sans KR" panose="020B0503050203000203" pitchFamily="34" charset="-127"/>
                <a:ea typeface="IBM Plex Sans KR" panose="020B0503050203000203" pitchFamily="34" charset="-127"/>
              </a:rPr>
            </a:br>
            <a:r>
              <a:rPr lang="ko-KR" altLang="en-US" sz="2000">
                <a:latin typeface="IBM Plex Sans KR" panose="020B0503050203000203" pitchFamily="34" charset="-127"/>
                <a:ea typeface="IBM Plex Sans KR" panose="020B0503050203000203" pitchFamily="34" charset="-127"/>
              </a:rPr>
              <a:t> </a:t>
            </a:r>
            <a:r>
              <a:rPr lang="ko-KR" altLang="ko-KR" sz="2000">
                <a:latin typeface="IBM Plex Sans KR" panose="020B0503050203000203" pitchFamily="34" charset="-127"/>
                <a:ea typeface="IBM Plex Sans KR" panose="020B0503050203000203" pitchFamily="34" charset="-127"/>
              </a:rPr>
              <a:t>팀원들과 다양한 아이디어를 실험하고 토론하며 협업의 중요성을 다시 한번 느꼈습니다.</a:t>
            </a:r>
            <a:br>
              <a:rPr lang="ko-KR" altLang="ko-KR" sz="2000">
                <a:latin typeface="IBM Plex Sans KR" panose="020B0503050203000203" pitchFamily="34" charset="-127"/>
                <a:ea typeface="IBM Plex Sans KR" panose="020B0503050203000203" pitchFamily="34" charset="-127"/>
              </a:rPr>
            </a:br>
            <a:r>
              <a:rPr lang="ko-KR" altLang="en-US" sz="2000">
                <a:latin typeface="IBM Plex Sans KR" panose="020B0503050203000203" pitchFamily="34" charset="-127"/>
                <a:ea typeface="IBM Plex Sans KR" panose="020B0503050203000203" pitchFamily="34" charset="-127"/>
              </a:rPr>
              <a:t> 결과적으로는 </a:t>
            </a:r>
            <a:r>
              <a:rPr lang="ko-KR" altLang="ko-KR" sz="2000">
                <a:latin typeface="IBM Plex Sans KR" panose="020B0503050203000203" pitchFamily="34" charset="-127"/>
                <a:ea typeface="IBM Plex Sans KR" panose="020B0503050203000203" pitchFamily="34" charset="-127"/>
              </a:rPr>
              <a:t>아쉬</a:t>
            </a:r>
            <a:r>
              <a:rPr lang="ko-KR" altLang="en-US" sz="2000">
                <a:latin typeface="IBM Plex Sans KR" panose="020B0503050203000203" pitchFamily="34" charset="-127"/>
                <a:ea typeface="IBM Plex Sans KR" panose="020B0503050203000203" pitchFamily="34" charset="-127"/>
              </a:rPr>
              <a:t>움이 많이</a:t>
            </a:r>
            <a:r>
              <a:rPr lang="ko-KR" altLang="ko-KR" sz="2000">
                <a:latin typeface="IBM Plex Sans KR" panose="020B0503050203000203" pitchFamily="34" charset="-127"/>
                <a:ea typeface="IBM Plex Sans KR" panose="020B0503050203000203" pitchFamily="34" charset="-127"/>
              </a:rPr>
              <a:t> 남지만, 이번 경험을 바탕으로 </a:t>
            </a:r>
            <a:r>
              <a:rPr lang="ko-KR" altLang="en-US" sz="2000">
                <a:latin typeface="IBM Plex Sans KR" panose="020B0503050203000203" pitchFamily="34" charset="-127"/>
                <a:ea typeface="IBM Plex Sans KR" panose="020B0503050203000203" pitchFamily="34" charset="-127"/>
              </a:rPr>
              <a:t>중간에 포기하지 않고 다양한 방법을 적용해보면서 끝까지 시도해보는 개발자가 되어야겠다고 다짐하게 되었습니다</a:t>
            </a:r>
            <a:r>
              <a:rPr lang="en-US" altLang="ko-KR" sz="2000">
                <a:latin typeface="IBM Plex Sans KR" panose="020B0503050203000203" pitchFamily="34" charset="-127"/>
                <a:ea typeface="IBM Plex Sans KR" panose="020B0503050203000203" pitchFamily="34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>
                <a:latin typeface="IBM Plex Sans KR" panose="020B0503050203000203" pitchFamily="34" charset="-127"/>
                <a:ea typeface="IBM Plex Sans KR" panose="020B0503050203000203" pitchFamily="34" charset="-127"/>
              </a:rPr>
              <a:t> 팀원분들 고생 많으셨습니다</a:t>
            </a:r>
            <a:r>
              <a:rPr lang="en-US" altLang="ko-KR" sz="2000">
                <a:latin typeface="IBM Plex Sans KR" panose="020B0503050203000203" pitchFamily="34" charset="-127"/>
                <a:ea typeface="IBM Plex Sans KR" panose="020B0503050203000203" pitchFamily="34" charset="-127"/>
              </a:rPr>
              <a:t>~</a:t>
            </a:r>
            <a:r>
              <a:rPr lang="ko-KR" altLang="en-US" sz="2000">
                <a:latin typeface="IBM Plex Sans KR" panose="020B0503050203000203" pitchFamily="34" charset="-127"/>
                <a:ea typeface="IBM Plex Sans KR" panose="020B0503050203000203" pitchFamily="34" charset="-127"/>
              </a:rPr>
              <a:t>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4F80484-2996-193F-14B4-99D04D552ADA}"/>
              </a:ext>
            </a:extLst>
          </p:cNvPr>
          <p:cNvSpPr txBox="1"/>
          <p:nvPr/>
        </p:nvSpPr>
        <p:spPr>
          <a:xfrm>
            <a:off x="1087762" y="4273684"/>
            <a:ext cx="4862542" cy="3747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0" i="0">
                <a:solidFill>
                  <a:srgbClr val="27262E"/>
                </a:solidFill>
                <a:effectLst/>
                <a:latin typeface="IBM Plex Sans KR" panose="020B0503050203000203" pitchFamily="34" charset="-127"/>
                <a:ea typeface="IBM Plex Sans KR" panose="020B0503050203000203" pitchFamily="34" charset="-127"/>
              </a:rPr>
              <a:t> </a:t>
            </a:r>
            <a:r>
              <a:rPr lang="ko-KR" altLang="ko-KR" sz="2000" b="0" i="0">
                <a:solidFill>
                  <a:srgbClr val="27262E"/>
                </a:solidFill>
                <a:effectLst/>
                <a:latin typeface="IBM Plex Sans KR" panose="020B0503050203000203" pitchFamily="34" charset="-127"/>
                <a:ea typeface="IBM Plex Sans KR" panose="020B0503050203000203" pitchFamily="34" charset="-127"/>
              </a:rPr>
              <a:t>데이터한테 힌트 뜯어내려고 온갖 지표를 조합할 때는 거의 탐정이 된 심정이었습니다. </a:t>
            </a:r>
            <a:endParaRPr lang="en-US" altLang="ko-KR" sz="2000" b="0" i="0">
              <a:solidFill>
                <a:srgbClr val="27262E"/>
              </a:solidFill>
              <a:effectLst/>
              <a:latin typeface="IBM Plex Sans KR" panose="020B0503050203000203" pitchFamily="34" charset="-127"/>
              <a:ea typeface="IBM Plex Sans KR" panose="020B0503050203000203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b="0" i="0">
                <a:solidFill>
                  <a:srgbClr val="27262E"/>
                </a:solidFill>
                <a:effectLst/>
                <a:latin typeface="IBM Plex Sans KR" panose="020B0503050203000203" pitchFamily="34" charset="-127"/>
                <a:ea typeface="IBM Plex Sans KR" panose="020B0503050203000203" pitchFamily="34" charset="-127"/>
              </a:rPr>
              <a:t> </a:t>
            </a:r>
            <a:r>
              <a:rPr lang="ko-KR" altLang="ko-KR" sz="2000" b="0" i="0">
                <a:solidFill>
                  <a:srgbClr val="27262E"/>
                </a:solidFill>
                <a:effectLst/>
                <a:latin typeface="IBM Plex Sans KR" panose="020B0503050203000203" pitchFamily="34" charset="-127"/>
                <a:ea typeface="IBM Plex Sans KR" panose="020B0503050203000203" pitchFamily="34" charset="-127"/>
              </a:rPr>
              <a:t>버그 때문에 점수 이상하게 나올 땐 식은땀도 좀 흘렸지만, 결국 데이터 특성을 잘 파악하는 게 정답이라는 기본을 크게 깨달았습니다. </a:t>
            </a:r>
            <a:endParaRPr lang="en-US" altLang="ko-KR" sz="2000" b="0" i="0">
              <a:solidFill>
                <a:srgbClr val="27262E"/>
              </a:solidFill>
              <a:effectLst/>
              <a:latin typeface="IBM Plex Sans KR" panose="020B0503050203000203" pitchFamily="34" charset="-127"/>
              <a:ea typeface="IBM Plex Sans KR" panose="020B0503050203000203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b="0" i="0">
                <a:solidFill>
                  <a:srgbClr val="27262E"/>
                </a:solidFill>
                <a:effectLst/>
                <a:latin typeface="IBM Plex Sans KR" panose="020B0503050203000203" pitchFamily="34" charset="-127"/>
                <a:ea typeface="IBM Plex Sans KR" panose="020B0503050203000203" pitchFamily="34" charset="-127"/>
              </a:rPr>
              <a:t> </a:t>
            </a:r>
            <a:r>
              <a:rPr lang="ko-KR" altLang="ko-KR" sz="2000" b="0" i="0">
                <a:solidFill>
                  <a:srgbClr val="27262E"/>
                </a:solidFill>
                <a:effectLst/>
                <a:latin typeface="IBM Plex Sans KR" panose="020B0503050203000203" pitchFamily="34" charset="-127"/>
                <a:ea typeface="IBM Plex Sans KR" panose="020B0503050203000203" pitchFamily="34" charset="-127"/>
              </a:rPr>
              <a:t>점수 0.001점 줄어들 때마다 실시간으로 쾌감이 밀려오는 아주 중독성 있는 경험이었습니다.</a:t>
            </a:r>
            <a:endParaRPr lang="ko-KR" altLang="en-US" sz="2400">
              <a:latin typeface="IBM Plex Sans KR" panose="020B0503050203000203" pitchFamily="34" charset="-127"/>
              <a:ea typeface="IBM Plex Sans KR" panose="020B0503050203000203" pitchFamily="34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72E919F-7B76-BF41-9EC5-59CDE777EC1A}"/>
              </a:ext>
            </a:extLst>
          </p:cNvPr>
          <p:cNvSpPr txBox="1"/>
          <p:nvPr/>
        </p:nvSpPr>
        <p:spPr>
          <a:xfrm>
            <a:off x="12332994" y="3750661"/>
            <a:ext cx="4872635" cy="5459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b="0" i="0">
                <a:solidFill>
                  <a:srgbClr val="27262E"/>
                </a:solidFill>
                <a:effectLst/>
                <a:latin typeface="IBM Plex Sans KR" panose="020B0503050203000203" pitchFamily="34" charset="-127"/>
                <a:ea typeface="IBM Plex Sans KR" panose="020B0503050203000203" pitchFamily="34" charset="-127"/>
              </a:rPr>
              <a:t> </a:t>
            </a:r>
            <a:r>
              <a:rPr lang="ko-KR" altLang="ko-KR" sz="1800" b="0" i="0">
                <a:solidFill>
                  <a:srgbClr val="27262E"/>
                </a:solidFill>
                <a:effectLst/>
                <a:latin typeface="IBM Plex Sans KR" panose="020B0503050203000203" pitchFamily="34" charset="-127"/>
                <a:ea typeface="IBM Plex Sans KR" panose="020B0503050203000203" pitchFamily="34" charset="-127"/>
              </a:rPr>
              <a:t>처음 시작할 때는 이렇게까지 깊게 연구하게 될 줄은 몰랐습니다. 점수가 좋아지면 같이 기뻐하고, 실험이 잘 안 되면 다시 방법을 찾아보면서 함께 고민했던 시간이 정말 기억에 남습니다.</a:t>
            </a:r>
            <a:endParaRPr lang="en-US" altLang="ko-KR" sz="1800" b="0" i="0">
              <a:solidFill>
                <a:srgbClr val="27262E"/>
              </a:solidFill>
              <a:effectLst/>
              <a:latin typeface="IBM Plex Sans KR" panose="020B0503050203000203" pitchFamily="34" charset="-127"/>
              <a:ea typeface="IBM Plex Sans KR" panose="020B0503050203000203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ko-KR" sz="1800" b="0" i="0">
                <a:solidFill>
                  <a:srgbClr val="27262E"/>
                </a:solidFill>
                <a:effectLst/>
                <a:latin typeface="IBM Plex Sans KR" panose="020B0503050203000203" pitchFamily="34" charset="-127"/>
                <a:ea typeface="IBM Plex Sans KR" panose="020B0503050203000203" pitchFamily="34" charset="-127"/>
              </a:rPr>
              <a:t> 이번 프로젝트를 통해 좋은 결과도 중요하지만, 서로 다른 생각과 강점을 모아 함께 만들어가는 과정이 더 중요하다는 걸 많이 느꼈습니다. </a:t>
            </a:r>
            <a:r>
              <a:rPr lang="ko-KR" altLang="en-US" sz="1800" b="0" i="0">
                <a:solidFill>
                  <a:srgbClr val="27262E"/>
                </a:solidFill>
                <a:effectLst/>
                <a:latin typeface="IBM Plex Sans KR" panose="020B0503050203000203" pitchFamily="34" charset="-127"/>
                <a:ea typeface="IBM Plex Sans KR" panose="020B0503050203000203" pitchFamily="34" charset="-127"/>
              </a:rPr>
              <a:t>  </a:t>
            </a:r>
            <a:endParaRPr lang="en-US" altLang="ko-KR" sz="1800" b="0" i="0">
              <a:solidFill>
                <a:srgbClr val="27262E"/>
              </a:solidFill>
              <a:effectLst/>
              <a:latin typeface="IBM Plex Sans KR" panose="020B0503050203000203" pitchFamily="34" charset="-127"/>
              <a:ea typeface="IBM Plex Sans KR" panose="020B0503050203000203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800">
                <a:solidFill>
                  <a:srgbClr val="27262E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 </a:t>
            </a:r>
            <a:r>
              <a:rPr lang="ko-KR" altLang="ko-KR" sz="1800" b="0" i="0">
                <a:solidFill>
                  <a:srgbClr val="27262E"/>
                </a:solidFill>
                <a:effectLst/>
                <a:latin typeface="IBM Plex Sans KR" panose="020B0503050203000203" pitchFamily="34" charset="-127"/>
                <a:ea typeface="IBM Plex Sans KR" panose="020B0503050203000203" pitchFamily="34" charset="-127"/>
              </a:rPr>
              <a:t>특히 실패한 실험도 결국 다음 판단에 도움이 된다는 점을 배울 수 있어서 의미 있었습니다. </a:t>
            </a:r>
            <a:endParaRPr lang="en-US" altLang="ko-KR" sz="1800" b="0" i="0">
              <a:solidFill>
                <a:srgbClr val="27262E"/>
              </a:solidFill>
              <a:effectLst/>
              <a:latin typeface="IBM Plex Sans KR" panose="020B0503050203000203" pitchFamily="34" charset="-127"/>
              <a:ea typeface="IBM Plex Sans KR" panose="020B0503050203000203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800">
                <a:solidFill>
                  <a:srgbClr val="27262E"/>
                </a:solidFill>
                <a:latin typeface="IBM Plex Sans KR" panose="020B0503050203000203" pitchFamily="34" charset="-127"/>
                <a:ea typeface="IBM Plex Sans KR" panose="020B0503050203000203" pitchFamily="34" charset="-127"/>
              </a:rPr>
              <a:t> </a:t>
            </a:r>
            <a:r>
              <a:rPr lang="ko-KR" altLang="ko-KR" sz="1800" b="0" i="0">
                <a:solidFill>
                  <a:srgbClr val="27262E"/>
                </a:solidFill>
                <a:effectLst/>
                <a:latin typeface="IBM Plex Sans KR" panose="020B0503050203000203" pitchFamily="34" charset="-127"/>
                <a:ea typeface="IBM Plex Sans KR" panose="020B0503050203000203" pitchFamily="34" charset="-127"/>
              </a:rPr>
              <a:t>무엇보다 끝까지 함께해 준 팀원분들께 정말 고맙습니다. 같이 고민하고 고생했던 덕분에 더 기억에 남는 프로젝트가 된 것 같습니다. 다들 정말 고생몬하셨어요~^^</a:t>
            </a:r>
            <a:endParaRPr lang="ko-KR" altLang="en-US" sz="2000">
              <a:latin typeface="IBM Plex Sans KR" panose="020B0503050203000203" pitchFamily="34" charset="-127"/>
              <a:ea typeface="IBM Plex Sans KR" panose="020B0503050203000203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66473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3EFFFADB-CD33-F3F7-E483-B01A0CBB0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>
            <a:extLst>
              <a:ext uri="{FF2B5EF4-FFF2-40B4-BE49-F238E27FC236}">
                <a16:creationId xmlns:a16="http://schemas.microsoft.com/office/drawing/2014/main" id="{71DD4C21-5728-CDAA-ED2E-9E32CCD0871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4299" y="-224589"/>
            <a:ext cx="18502312" cy="1062588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>
            <a:extLst>
              <a:ext uri="{FF2B5EF4-FFF2-40B4-BE49-F238E27FC236}">
                <a16:creationId xmlns:a16="http://schemas.microsoft.com/office/drawing/2014/main" id="{CC3FEC77-8CD6-D518-8F5E-E294E69C48C4}"/>
              </a:ext>
            </a:extLst>
          </p:cNvPr>
          <p:cNvSpPr txBox="1"/>
          <p:nvPr/>
        </p:nvSpPr>
        <p:spPr>
          <a:xfrm>
            <a:off x="7180095" y="3582152"/>
            <a:ext cx="5371599" cy="3012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2500" rIns="0" bIns="0" anchor="ctr" anchorCtr="0">
            <a:noAutofit/>
          </a:bodyPr>
          <a:lstStyle/>
          <a:p>
            <a:pPr algn="ctr">
              <a:lnSpc>
                <a:spcPct val="97940"/>
              </a:lnSpc>
            </a:pPr>
            <a:r>
              <a:rPr lang="ko-KR" altLang="en-US" sz="8300" b="1">
                <a:solidFill>
                  <a:srgbClr val="EBF1F1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감사합니다</a:t>
            </a:r>
            <a:endParaRPr sz="8300" b="1">
              <a:solidFill>
                <a:srgbClr val="EBF1F1"/>
              </a:solidFill>
              <a:latin typeface="IBM Plex Sans KR"/>
              <a:ea typeface="IBM Plex Sans KR"/>
              <a:cs typeface="IBM Plex Sans KR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D1B6BEA-1794-15C4-EB89-3FCEC68EE2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8298" r="34818"/>
          <a:stretch>
            <a:fillRect/>
          </a:stretch>
        </p:blipFill>
        <p:spPr>
          <a:xfrm>
            <a:off x="9865895" y="-224589"/>
            <a:ext cx="8522118" cy="8067174"/>
          </a:xfrm>
          <a:prstGeom prst="rect">
            <a:avLst/>
          </a:prstGeom>
        </p:spPr>
      </p:pic>
      <p:pic>
        <p:nvPicPr>
          <p:cNvPr id="4" name="Google Shape;275;p22">
            <a:extLst>
              <a:ext uri="{FF2B5EF4-FFF2-40B4-BE49-F238E27FC236}">
                <a16:creationId xmlns:a16="http://schemas.microsoft.com/office/drawing/2014/main" id="{9C226122-AF78-B17E-7606-2091C5EEBF6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13867" t="2490" b="37281"/>
          <a:stretch>
            <a:fillRect/>
          </a:stretch>
        </p:blipFill>
        <p:spPr>
          <a:xfrm rot="19139033">
            <a:off x="-688004" y="5999158"/>
            <a:ext cx="7778408" cy="76791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8868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711</TotalTime>
  <Words>1546</Words>
  <Application>Microsoft Macintosh PowerPoint</Application>
  <PresentationFormat>사용자 지정</PresentationFormat>
  <Paragraphs>237</Paragraphs>
  <Slides>16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5" baseType="lpstr">
      <vt:lpstr>Hanken Grotesk ExtraBold</vt:lpstr>
      <vt:lpstr>Calibri</vt:lpstr>
      <vt:lpstr>IBM Plex Sans KR</vt:lpstr>
      <vt:lpstr>Arial</vt:lpstr>
      <vt:lpstr>Courier New</vt:lpstr>
      <vt:lpstr>맑은 고딕</vt:lpstr>
      <vt:lpstr>Hanken Grotesk SemiBold</vt:lpstr>
      <vt:lpstr>IBM Plex Sans KR Medium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빛샘 박</cp:lastModifiedBy>
  <cp:revision>616</cp:revision>
  <cp:lastPrinted>2026-08-06T14:52:12Z</cp:lastPrinted>
  <dcterms:modified xsi:type="dcterms:W3CDTF">2026-08-07T01:26:14Z</dcterms:modified>
</cp:coreProperties>
</file>